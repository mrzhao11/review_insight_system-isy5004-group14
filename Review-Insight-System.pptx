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>
      <p:cViewPr varScale="1">
        <p:scale>
          <a:sx n="74" d="100"/>
          <a:sy n="74" d="100"/>
        </p:scale>
        <p:origin x="6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left-field">
            <a:extLst>
              <a:ext uri="{FF2B5EF4-FFF2-40B4-BE49-F238E27FC236}">
                <a16:creationId xmlns:a16="http://schemas.microsoft.com/office/drawing/2014/main" id="{A0D621FC-E9AD-4E04-8008-241E960BB5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3143250" cy="10287000"/>
          </a:xfrm>
          <a:prstGeom prst="rect">
            <a:avLst/>
          </a:prstGeom>
          <a:solidFill>
            <a:srgbClr val="D9EAF1"/>
          </a:solidFill>
          <a:ln w="0">
            <a:solidFill>
              <a:srgbClr val="D9EA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cover-left-accent">
            <a:extLst>
              <a:ext uri="{FF2B5EF4-FFF2-40B4-BE49-F238E27FC236}">
                <a16:creationId xmlns:a16="http://schemas.microsoft.com/office/drawing/2014/main" id="{9B8C1836-950C-4F5C-875E-A2DD7DECEB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85750" cy="10287000"/>
          </a:xfrm>
          <a:prstGeom prst="rect">
            <a:avLst/>
          </a:prstGeom>
          <a:solidFill>
            <a:srgbClr val="1E5B7A"/>
          </a:solidFill>
          <a:ln w="0">
            <a:solidFill>
              <a:srgbClr val="1E5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cover-eyebrow">
            <a:extLst>
              <a:ext uri="{FF2B5EF4-FFF2-40B4-BE49-F238E27FC236}">
                <a16:creationId xmlns:a16="http://schemas.microsoft.com/office/drawing/2014/main" id="{EEEA1DB8-CA08-4B8F-B91D-08F131BD4180}"/>
              </a:ext>
            </a:extLst>
          </p:cNvPr>
          <p:cNvSpPr>
            <a:spLocks noGrp="1"/>
          </p:cNvSpPr>
          <p:nvPr/>
        </p:nvSpPr>
        <p:spPr>
          <a:xfrm>
            <a:off x="1028700" y="3886200"/>
            <a:ext cx="36957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78C80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78C80"/>
                </a:solidFill>
                <a:latin typeface="Verdana"/>
                <a:ea typeface="Verdana"/>
                <a:cs typeface="Verdana"/>
              </a:rPr>
              <a:t>Practical Language Processing Project</a:t>
            </a:r>
          </a:p>
        </p:txBody>
      </p:sp>
      <p:sp>
        <p:nvSpPr>
          <p:cNvPr id="5" name="cover-title">
            <a:extLst>
              <a:ext uri="{FF2B5EF4-FFF2-40B4-BE49-F238E27FC236}">
                <a16:creationId xmlns:a16="http://schemas.microsoft.com/office/drawing/2014/main" id="{E7E2E03E-4475-46D9-8245-84BA84A3E4B8}"/>
              </a:ext>
            </a:extLst>
          </p:cNvPr>
          <p:cNvSpPr>
            <a:spLocks noGrp="1"/>
          </p:cNvSpPr>
          <p:nvPr/>
        </p:nvSpPr>
        <p:spPr>
          <a:xfrm>
            <a:off x="1028700" y="4267200"/>
            <a:ext cx="927735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0000"/>
              </a:lnSpc>
              <a:buNone/>
              <a:defRPr sz="630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630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Review Insight System</a:t>
            </a: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A932AE0F-AFEE-4BE8-B7BE-9CAA3FA1AEAF}"/>
              </a:ext>
            </a:extLst>
          </p:cNvPr>
          <p:cNvSpPr>
            <a:spLocks noGrp="1"/>
          </p:cNvSpPr>
          <p:nvPr/>
        </p:nvSpPr>
        <p:spPr>
          <a:xfrm>
            <a:off x="1028700" y="5200650"/>
            <a:ext cx="843915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21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21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Business-oriented language processing for e-commerce review analytics</a:t>
            </a:r>
          </a:p>
        </p:txBody>
      </p:sp>
      <p:sp>
        <p:nvSpPr>
          <p:cNvPr id="7" name="accent-rule">
            <a:extLst>
              <a:ext uri="{FF2B5EF4-FFF2-40B4-BE49-F238E27FC236}">
                <a16:creationId xmlns:a16="http://schemas.microsoft.com/office/drawing/2014/main" id="{259449BA-038B-477D-B97D-1087FBDB3B89}"/>
              </a:ext>
            </a:extLst>
          </p:cNvPr>
          <p:cNvSpPr>
            <a:spLocks noGrp="1"/>
          </p:cNvSpPr>
          <p:nvPr/>
        </p:nvSpPr>
        <p:spPr>
          <a:xfrm>
            <a:off x="1028700" y="6019800"/>
            <a:ext cx="1809750" cy="47625"/>
          </a:xfrm>
          <a:prstGeom prst="rect">
            <a:avLst/>
          </a:prstGeom>
          <a:solidFill>
            <a:srgbClr val="B98A2E"/>
          </a:solidFill>
          <a:ln w="0">
            <a:solidFill>
              <a:srgbClr val="B98A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cover-source">
            <a:extLst>
              <a:ext uri="{FF2B5EF4-FFF2-40B4-BE49-F238E27FC236}">
                <a16:creationId xmlns:a16="http://schemas.microsoft.com/office/drawing/2014/main" id="{DE34F2FA-2AAD-427B-A504-0B2FABB1D6BF}"/>
              </a:ext>
            </a:extLst>
          </p:cNvPr>
          <p:cNvSpPr>
            <a:spLocks noGrp="1"/>
          </p:cNvSpPr>
          <p:nvPr/>
        </p:nvSpPr>
        <p:spPr>
          <a:xfrm>
            <a:off x="1028700" y="9124950"/>
            <a:ext cx="24384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endParaRPr sz="1200" dirty="0">
              <a:solidFill>
                <a:srgbClr val="52616B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8" name="cover-project">
            <a:extLst>
              <a:ext uri="{FF2B5EF4-FFF2-40B4-BE49-F238E27FC236}">
                <a16:creationId xmlns:a16="http://schemas.microsoft.com/office/drawing/2014/main" id="{A62C3EB9-8A8B-47FF-9187-5DCFFE9F9B76}"/>
              </a:ext>
            </a:extLst>
          </p:cNvPr>
          <p:cNvSpPr>
            <a:spLocks noGrp="1"/>
          </p:cNvSpPr>
          <p:nvPr/>
        </p:nvSpPr>
        <p:spPr>
          <a:xfrm>
            <a:off x="15506700" y="9124950"/>
            <a:ext cx="17526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Review Insight System</a:t>
            </a:r>
          </a:p>
        </p:txBody>
      </p:sp>
    </p:spTree>
    <p:extLst>
      <p:ext uri="{BB962C8B-B14F-4D97-AF65-F5344CB8AC3E}">
        <p14:creationId xmlns:p14="http://schemas.microsoft.com/office/powerpoint/2010/main" val="94910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background">
            <a:extLst>
              <a:ext uri="{FF2B5EF4-FFF2-40B4-BE49-F238E27FC236}">
                <a16:creationId xmlns:a16="http://schemas.microsoft.com/office/drawing/2014/main" id="{1A783862-D6A7-45C8-8BFD-EA8858B838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B40144A6-3C97-4BE7-8EFE-46C4CDC45D62}"/>
              </a:ext>
            </a:extLst>
          </p:cNvPr>
          <p:cNvSpPr>
            <a:spLocks noGrp="1"/>
          </p:cNvSpPr>
          <p:nvPr/>
        </p:nvSpPr>
        <p:spPr>
          <a:xfrm>
            <a:off x="990600" y="704850"/>
            <a:ext cx="1714500" cy="34290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Business Problem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E8CA9A42-9CAB-42BC-B9B8-8FA2684BCDF8}"/>
              </a:ext>
            </a:extLst>
          </p:cNvPr>
          <p:cNvSpPr>
            <a:spLocks noGrp="1"/>
          </p:cNvSpPr>
          <p:nvPr/>
        </p:nvSpPr>
        <p:spPr>
          <a:xfrm>
            <a:off x="990600" y="1200150"/>
            <a:ext cx="9563100" cy="1028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Review overload blocks merchant decision-making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10E71B57-4A5F-4DC5-BDE2-735DD08828F4}"/>
              </a:ext>
            </a:extLst>
          </p:cNvPr>
          <p:cNvSpPr>
            <a:spLocks noGrp="1"/>
          </p:cNvSpPr>
          <p:nvPr/>
        </p:nvSpPr>
        <p:spPr>
          <a:xfrm>
            <a:off x="990600" y="2362200"/>
            <a:ext cx="124777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Raw reviews contain direct evidence of quality, delivery, satisfaction, usability, and recurring complaints, but they are unstructured and too numerous to inspect manually.</a:t>
            </a:r>
          </a:p>
        </p:txBody>
      </p:sp>
      <p:sp>
        <p:nvSpPr>
          <p:cNvPr id="5" name="business-main-claim">
            <a:extLst>
              <a:ext uri="{FF2B5EF4-FFF2-40B4-BE49-F238E27FC236}">
                <a16:creationId xmlns:a16="http://schemas.microsoft.com/office/drawing/2014/main" id="{B397AEE5-59F5-4080-979C-190708C7272D}"/>
              </a:ext>
            </a:extLst>
          </p:cNvPr>
          <p:cNvSpPr>
            <a:spLocks noGrp="1"/>
          </p:cNvSpPr>
          <p:nvPr/>
        </p:nvSpPr>
        <p:spPr>
          <a:xfrm>
            <a:off x="990600" y="4572000"/>
            <a:ext cx="5581650" cy="2019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345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45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The project turns unstructured review text into structured decision-support information.</a:t>
            </a:r>
          </a:p>
        </p:txBody>
      </p:sp>
      <p:sp>
        <p:nvSpPr>
          <p:cNvPr id="6" name="business-proof">
            <a:extLst>
              <a:ext uri="{FF2B5EF4-FFF2-40B4-BE49-F238E27FC236}">
                <a16:creationId xmlns:a16="http://schemas.microsoft.com/office/drawing/2014/main" id="{90E06F39-6CC2-4B29-A392-11AD65E02C90}"/>
              </a:ext>
            </a:extLst>
          </p:cNvPr>
          <p:cNvSpPr>
            <a:spLocks noGrp="1"/>
          </p:cNvSpPr>
          <p:nvPr/>
        </p:nvSpPr>
        <p:spPr>
          <a:xfrm>
            <a:off x="990600" y="6762750"/>
            <a:ext cx="6286500" cy="819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The final deliverable is a Python pipeline and Streamlit dashboard for business-facing review analysis.</a:t>
            </a:r>
          </a:p>
        </p:txBody>
      </p:sp>
      <p:sp>
        <p:nvSpPr>
          <p:cNvPr id="7" name="bullet-mark-Prioritise">
            <a:extLst>
              <a:ext uri="{FF2B5EF4-FFF2-40B4-BE49-F238E27FC236}">
                <a16:creationId xmlns:a16="http://schemas.microsoft.com/office/drawing/2014/main" id="{533193A5-3EB1-4475-85F8-195FC1FC4A05}"/>
              </a:ext>
            </a:extLst>
          </p:cNvPr>
          <p:cNvSpPr>
            <a:spLocks noGrp="1"/>
          </p:cNvSpPr>
          <p:nvPr/>
        </p:nvSpPr>
        <p:spPr>
          <a:xfrm>
            <a:off x="8191500" y="3314700"/>
            <a:ext cx="85725" cy="304800"/>
          </a:xfrm>
          <a:prstGeom prst="rect">
            <a:avLst/>
          </a:prstGeom>
          <a:solidFill>
            <a:srgbClr val="1E5B7A"/>
          </a:solidFill>
          <a:ln w="0">
            <a:solidFill>
              <a:srgbClr val="1E5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bullet-label-Prioritise">
            <a:extLst>
              <a:ext uri="{FF2B5EF4-FFF2-40B4-BE49-F238E27FC236}">
                <a16:creationId xmlns:a16="http://schemas.microsoft.com/office/drawing/2014/main" id="{CAFEC594-FB52-4DEB-B461-76D54CC85087}"/>
              </a:ext>
            </a:extLst>
          </p:cNvPr>
          <p:cNvSpPr>
            <a:spLocks noGrp="1"/>
          </p:cNvSpPr>
          <p:nvPr/>
        </p:nvSpPr>
        <p:spPr>
          <a:xfrm>
            <a:off x="8439150" y="3333750"/>
            <a:ext cx="7810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Prioritise</a:t>
            </a:r>
          </a:p>
        </p:txBody>
      </p:sp>
      <p:sp>
        <p:nvSpPr>
          <p:cNvPr id="9" name="bullet-body-Prioritise">
            <a:extLst>
              <a:ext uri="{FF2B5EF4-FFF2-40B4-BE49-F238E27FC236}">
                <a16:creationId xmlns:a16="http://schemas.microsoft.com/office/drawing/2014/main" id="{EAFE28E3-E1A5-4877-8DC3-D3B4D76E1DD4}"/>
              </a:ext>
            </a:extLst>
          </p:cNvPr>
          <p:cNvSpPr>
            <a:spLocks noGrp="1"/>
          </p:cNvSpPr>
          <p:nvPr/>
        </p:nvSpPr>
        <p:spPr>
          <a:xfrm>
            <a:off x="8439150" y="3676650"/>
            <a:ext cx="70675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Identify reviews likely to contain useful business information.</a:t>
            </a:r>
          </a:p>
        </p:txBody>
      </p:sp>
      <p:sp>
        <p:nvSpPr>
          <p:cNvPr id="10" name="bullet-mark-Detect">
            <a:extLst>
              <a:ext uri="{FF2B5EF4-FFF2-40B4-BE49-F238E27FC236}">
                <a16:creationId xmlns:a16="http://schemas.microsoft.com/office/drawing/2014/main" id="{4935001B-B930-451D-9AEC-F964B34EFF55}"/>
              </a:ext>
            </a:extLst>
          </p:cNvPr>
          <p:cNvSpPr>
            <a:spLocks noGrp="1"/>
          </p:cNvSpPr>
          <p:nvPr/>
        </p:nvSpPr>
        <p:spPr>
          <a:xfrm>
            <a:off x="12915900" y="3314700"/>
            <a:ext cx="85725" cy="304800"/>
          </a:xfrm>
          <a:prstGeom prst="rect">
            <a:avLst/>
          </a:prstGeom>
          <a:solidFill>
            <a:srgbClr val="178C80"/>
          </a:solidFill>
          <a:ln w="0">
            <a:solidFill>
              <a:srgbClr val="178C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bullet-label-Detect">
            <a:extLst>
              <a:ext uri="{FF2B5EF4-FFF2-40B4-BE49-F238E27FC236}">
                <a16:creationId xmlns:a16="http://schemas.microsoft.com/office/drawing/2014/main" id="{94114911-0125-4E10-AA90-1874D88281FF}"/>
              </a:ext>
            </a:extLst>
          </p:cNvPr>
          <p:cNvSpPr>
            <a:spLocks noGrp="1"/>
          </p:cNvSpPr>
          <p:nvPr/>
        </p:nvSpPr>
        <p:spPr>
          <a:xfrm>
            <a:off x="13163550" y="3333750"/>
            <a:ext cx="5524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Detect</a:t>
            </a:r>
          </a:p>
        </p:txBody>
      </p:sp>
      <p:sp>
        <p:nvSpPr>
          <p:cNvPr id="12" name="bullet-body-Detect">
            <a:extLst>
              <a:ext uri="{FF2B5EF4-FFF2-40B4-BE49-F238E27FC236}">
                <a16:creationId xmlns:a16="http://schemas.microsoft.com/office/drawing/2014/main" id="{CC156DEF-500D-4B33-B112-57304AB9F4CF}"/>
              </a:ext>
            </a:extLst>
          </p:cNvPr>
          <p:cNvSpPr>
            <a:spLocks noGrp="1"/>
          </p:cNvSpPr>
          <p:nvPr/>
        </p:nvSpPr>
        <p:spPr>
          <a:xfrm>
            <a:off x="13163550" y="3524250"/>
            <a:ext cx="71628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Find negative customer experience through sentiment mining.</a:t>
            </a:r>
          </a:p>
        </p:txBody>
      </p:sp>
      <p:sp>
        <p:nvSpPr>
          <p:cNvPr id="13" name="bullet-mark-Summarise">
            <a:extLst>
              <a:ext uri="{FF2B5EF4-FFF2-40B4-BE49-F238E27FC236}">
                <a16:creationId xmlns:a16="http://schemas.microsoft.com/office/drawing/2014/main" id="{609A544D-A837-43E7-88AD-5BF6D74A011E}"/>
              </a:ext>
            </a:extLst>
          </p:cNvPr>
          <p:cNvSpPr>
            <a:spLocks noGrp="1"/>
          </p:cNvSpPr>
          <p:nvPr/>
        </p:nvSpPr>
        <p:spPr>
          <a:xfrm>
            <a:off x="8191500" y="6248400"/>
            <a:ext cx="85725" cy="304800"/>
          </a:xfrm>
          <a:prstGeom prst="rect">
            <a:avLst/>
          </a:prstGeom>
          <a:solidFill>
            <a:srgbClr val="B98A2E"/>
          </a:solidFill>
          <a:ln w="0">
            <a:solidFill>
              <a:srgbClr val="B98A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bullet-label-Summarise">
            <a:extLst>
              <a:ext uri="{FF2B5EF4-FFF2-40B4-BE49-F238E27FC236}">
                <a16:creationId xmlns:a16="http://schemas.microsoft.com/office/drawing/2014/main" id="{AC64B21A-71A8-44F3-A5A3-6D9DA5A520E0}"/>
              </a:ext>
            </a:extLst>
          </p:cNvPr>
          <p:cNvSpPr>
            <a:spLocks noGrp="1"/>
          </p:cNvSpPr>
          <p:nvPr/>
        </p:nvSpPr>
        <p:spPr>
          <a:xfrm>
            <a:off x="8439150" y="6229350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Summarise</a:t>
            </a:r>
          </a:p>
        </p:txBody>
      </p:sp>
      <p:sp>
        <p:nvSpPr>
          <p:cNvPr id="15" name="bullet-body-Summarise">
            <a:extLst>
              <a:ext uri="{FF2B5EF4-FFF2-40B4-BE49-F238E27FC236}">
                <a16:creationId xmlns:a16="http://schemas.microsoft.com/office/drawing/2014/main" id="{C96323B1-63C2-443D-B835-5FBD8D377C2F}"/>
              </a:ext>
            </a:extLst>
          </p:cNvPr>
          <p:cNvSpPr>
            <a:spLocks noGrp="1"/>
          </p:cNvSpPr>
          <p:nvPr/>
        </p:nvSpPr>
        <p:spPr>
          <a:xfrm>
            <a:off x="8439150" y="6438900"/>
            <a:ext cx="63055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Generate concise complaint titles for negative reviews.</a:t>
            </a:r>
          </a:p>
        </p:txBody>
      </p:sp>
      <p:sp>
        <p:nvSpPr>
          <p:cNvPr id="16" name="bullet-mark-Explore">
            <a:extLst>
              <a:ext uri="{FF2B5EF4-FFF2-40B4-BE49-F238E27FC236}">
                <a16:creationId xmlns:a16="http://schemas.microsoft.com/office/drawing/2014/main" id="{72201BCD-55AF-497C-B440-8B1425262409}"/>
              </a:ext>
            </a:extLst>
          </p:cNvPr>
          <p:cNvSpPr>
            <a:spLocks noGrp="1"/>
          </p:cNvSpPr>
          <p:nvPr/>
        </p:nvSpPr>
        <p:spPr>
          <a:xfrm>
            <a:off x="12915900" y="6248400"/>
            <a:ext cx="85725" cy="304800"/>
          </a:xfrm>
          <a:prstGeom prst="rect">
            <a:avLst/>
          </a:prstGeom>
          <a:solidFill>
            <a:srgbClr val="6C8B5F"/>
          </a:solidFill>
          <a:ln w="0">
            <a:solidFill>
              <a:srgbClr val="6C8B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bullet-label-Explore">
            <a:extLst>
              <a:ext uri="{FF2B5EF4-FFF2-40B4-BE49-F238E27FC236}">
                <a16:creationId xmlns:a16="http://schemas.microsoft.com/office/drawing/2014/main" id="{474DEE8C-88F5-495B-9E6F-8C9758C5F93A}"/>
              </a:ext>
            </a:extLst>
          </p:cNvPr>
          <p:cNvSpPr>
            <a:spLocks noGrp="1"/>
          </p:cNvSpPr>
          <p:nvPr/>
        </p:nvSpPr>
        <p:spPr>
          <a:xfrm>
            <a:off x="13163550" y="6229350"/>
            <a:ext cx="6477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Explore</a:t>
            </a:r>
          </a:p>
        </p:txBody>
      </p:sp>
      <p:sp>
        <p:nvSpPr>
          <p:cNvPr id="18" name="bullet-body-Explore">
            <a:extLst>
              <a:ext uri="{FF2B5EF4-FFF2-40B4-BE49-F238E27FC236}">
                <a16:creationId xmlns:a16="http://schemas.microsoft.com/office/drawing/2014/main" id="{289D79D4-0572-4194-B7E0-CD0119360922}"/>
              </a:ext>
            </a:extLst>
          </p:cNvPr>
          <p:cNvSpPr>
            <a:spLocks noGrp="1"/>
          </p:cNvSpPr>
          <p:nvPr/>
        </p:nvSpPr>
        <p:spPr>
          <a:xfrm>
            <a:off x="13163550" y="6438900"/>
            <a:ext cx="93345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Present results through dashboard filters, upload analysis, and Merchant Copilot.</a:t>
            </a:r>
          </a:p>
        </p:txBody>
      </p:sp>
      <p:sp>
        <p:nvSpPr>
          <p:cNvPr id="19" name="footer-rule">
            <a:extLst>
              <a:ext uri="{FF2B5EF4-FFF2-40B4-BE49-F238E27FC236}">
                <a16:creationId xmlns:a16="http://schemas.microsoft.com/office/drawing/2014/main" id="{287DE473-AD03-4CE5-8CF6-40DB88E5C1CF}"/>
              </a:ext>
            </a:extLst>
          </p:cNvPr>
          <p:cNvSpPr>
            <a:spLocks noGrp="1"/>
          </p:cNvSpPr>
          <p:nvPr/>
        </p:nvSpPr>
        <p:spPr>
          <a:xfrm>
            <a:off x="990600" y="941070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footer-section">
            <a:extLst>
              <a:ext uri="{FF2B5EF4-FFF2-40B4-BE49-F238E27FC236}">
                <a16:creationId xmlns:a16="http://schemas.microsoft.com/office/drawing/2014/main" id="{66ED30B6-7406-41B8-BD66-191BBDD6711E}"/>
              </a:ext>
            </a:extLst>
          </p:cNvPr>
          <p:cNvSpPr>
            <a:spLocks noGrp="1"/>
          </p:cNvSpPr>
          <p:nvPr/>
        </p:nvSpPr>
        <p:spPr>
          <a:xfrm>
            <a:off x="2038350" y="9239250"/>
            <a:ext cx="13525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Business problem</a:t>
            </a:r>
          </a:p>
        </p:txBody>
      </p:sp>
      <p:sp>
        <p:nvSpPr>
          <p:cNvPr id="21" name="footer-page">
            <a:extLst>
              <a:ext uri="{FF2B5EF4-FFF2-40B4-BE49-F238E27FC236}">
                <a16:creationId xmlns:a16="http://schemas.microsoft.com/office/drawing/2014/main" id="{62A668D9-F13B-46B3-A6E3-F6EF92AB3806}"/>
              </a:ext>
            </a:extLst>
          </p:cNvPr>
          <p:cNvSpPr>
            <a:spLocks noGrp="1"/>
          </p:cNvSpPr>
          <p:nvPr/>
        </p:nvSpPr>
        <p:spPr>
          <a:xfrm>
            <a:off x="17106900" y="933450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4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background">
            <a:extLst>
              <a:ext uri="{FF2B5EF4-FFF2-40B4-BE49-F238E27FC236}">
                <a16:creationId xmlns:a16="http://schemas.microsoft.com/office/drawing/2014/main" id="{2BFF8A66-F074-4730-B1E7-2BF9D69E0A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15189D97-4303-4365-AC36-9D5874F97B8C}"/>
              </a:ext>
            </a:extLst>
          </p:cNvPr>
          <p:cNvSpPr>
            <a:spLocks noGrp="1"/>
          </p:cNvSpPr>
          <p:nvPr/>
        </p:nvSpPr>
        <p:spPr>
          <a:xfrm>
            <a:off x="990600" y="666750"/>
            <a:ext cx="838200" cy="34290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Datasets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AE1D44DD-82E5-48F5-9D50-CABE168651A0}"/>
              </a:ext>
            </a:extLst>
          </p:cNvPr>
          <p:cNvSpPr>
            <a:spLocks noGrp="1"/>
          </p:cNvSpPr>
          <p:nvPr/>
        </p:nvSpPr>
        <p:spPr>
          <a:xfrm>
            <a:off x="990600" y="1162050"/>
            <a:ext cx="12287250" cy="1028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Three derived datasets align the labels with the business workflow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566A19F2-AD3F-40F0-90FF-85817F2258ED}"/>
              </a:ext>
            </a:extLst>
          </p:cNvPr>
          <p:cNvSpPr>
            <a:spLocks noGrp="1"/>
          </p:cNvSpPr>
          <p:nvPr/>
        </p:nvSpPr>
        <p:spPr>
          <a:xfrm>
            <a:off x="990600" y="2324100"/>
            <a:ext cx="121348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The project uses Amazon Reviews 2023 from five categories, then constructs task-specific labels because the raw data does not provide all target annotations.</a:t>
            </a:r>
          </a:p>
        </p:txBody>
      </p:sp>
      <p:sp>
        <p:nvSpPr>
          <p:cNvPr id="5" name="metric-compact-value-review-value split">
            <a:extLst>
              <a:ext uri="{FF2B5EF4-FFF2-40B4-BE49-F238E27FC236}">
                <a16:creationId xmlns:a16="http://schemas.microsoft.com/office/drawing/2014/main" id="{B7C7AF32-DC56-4DB3-837B-67B19C9F6B7E}"/>
              </a:ext>
            </a:extLst>
          </p:cNvPr>
          <p:cNvSpPr>
            <a:spLocks noGrp="1"/>
          </p:cNvSpPr>
          <p:nvPr/>
        </p:nvSpPr>
        <p:spPr>
          <a:xfrm>
            <a:off x="990600" y="3886200"/>
            <a:ext cx="22098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15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8k / 1k / 1k</a:t>
            </a:r>
          </a:p>
        </p:txBody>
      </p:sp>
      <p:sp>
        <p:nvSpPr>
          <p:cNvPr id="6" name="metric-compact-label-review-value split">
            <a:extLst>
              <a:ext uri="{FF2B5EF4-FFF2-40B4-BE49-F238E27FC236}">
                <a16:creationId xmlns:a16="http://schemas.microsoft.com/office/drawing/2014/main" id="{CFD8B2AB-30BA-449E-9EDA-9E0B302577A5}"/>
              </a:ext>
            </a:extLst>
          </p:cNvPr>
          <p:cNvSpPr>
            <a:spLocks noGrp="1"/>
          </p:cNvSpPr>
          <p:nvPr/>
        </p:nvSpPr>
        <p:spPr>
          <a:xfrm>
            <a:off x="990600" y="4324350"/>
            <a:ext cx="15430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review-value split</a:t>
            </a:r>
          </a:p>
        </p:txBody>
      </p:sp>
      <p:sp>
        <p:nvSpPr>
          <p:cNvPr id="7" name="metric-compact-note-review-value split">
            <a:extLst>
              <a:ext uri="{FF2B5EF4-FFF2-40B4-BE49-F238E27FC236}">
                <a16:creationId xmlns:a16="http://schemas.microsoft.com/office/drawing/2014/main" id="{8D231E47-9A94-4156-AB03-5D3AA8D9028E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47625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10,000 sampled reviews; high-value proxy uses helpful_votes &gt;= 2</a:t>
            </a:r>
          </a:p>
        </p:txBody>
      </p:sp>
      <p:sp>
        <p:nvSpPr>
          <p:cNvPr id="8" name="metric-compact-value-sentiment split">
            <a:extLst>
              <a:ext uri="{FF2B5EF4-FFF2-40B4-BE49-F238E27FC236}">
                <a16:creationId xmlns:a16="http://schemas.microsoft.com/office/drawing/2014/main" id="{4D5C4B03-890A-4587-B34B-DB20D8D684C2}"/>
              </a:ext>
            </a:extLst>
          </p:cNvPr>
          <p:cNvSpPr>
            <a:spLocks noGrp="1"/>
          </p:cNvSpPr>
          <p:nvPr/>
        </p:nvSpPr>
        <p:spPr>
          <a:xfrm>
            <a:off x="990600" y="5048250"/>
            <a:ext cx="3429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150" b="1">
                <a:solidFill>
                  <a:srgbClr val="178C80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78C80"/>
                </a:solidFill>
                <a:latin typeface="Georgia"/>
                <a:ea typeface="Georgia"/>
                <a:cs typeface="Georgia"/>
              </a:rPr>
              <a:t>2,548 / 818 / 798</a:t>
            </a:r>
          </a:p>
        </p:txBody>
      </p:sp>
      <p:sp>
        <p:nvSpPr>
          <p:cNvPr id="9" name="metric-compact-label-sentiment split">
            <a:extLst>
              <a:ext uri="{FF2B5EF4-FFF2-40B4-BE49-F238E27FC236}">
                <a16:creationId xmlns:a16="http://schemas.microsoft.com/office/drawing/2014/main" id="{03C22FEF-2D5B-4BB0-B960-EF194E1BE62C}"/>
              </a:ext>
            </a:extLst>
          </p:cNvPr>
          <p:cNvSpPr>
            <a:spLocks noGrp="1"/>
          </p:cNvSpPr>
          <p:nvPr/>
        </p:nvSpPr>
        <p:spPr>
          <a:xfrm>
            <a:off x="990600" y="5867400"/>
            <a:ext cx="12763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sentiment split</a:t>
            </a:r>
          </a:p>
        </p:txBody>
      </p:sp>
      <p:sp>
        <p:nvSpPr>
          <p:cNvPr id="10" name="metric-compact-note-sentiment split">
            <a:extLst>
              <a:ext uri="{FF2B5EF4-FFF2-40B4-BE49-F238E27FC236}">
                <a16:creationId xmlns:a16="http://schemas.microsoft.com/office/drawing/2014/main" id="{F910AF28-A587-4CCB-88EC-849C0E312B6D}"/>
              </a:ext>
            </a:extLst>
          </p:cNvPr>
          <p:cNvSpPr>
            <a:spLocks noGrp="1"/>
          </p:cNvSpPr>
          <p:nvPr/>
        </p:nvSpPr>
        <p:spPr>
          <a:xfrm>
            <a:off x="990600" y="6229350"/>
            <a:ext cx="46291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rating + VADER calibration keeps high-confidence sentiment examples</a:t>
            </a:r>
          </a:p>
        </p:txBody>
      </p:sp>
      <p:sp>
        <p:nvSpPr>
          <p:cNvPr id="11" name="metric-compact-value-pseudo-title split">
            <a:extLst>
              <a:ext uri="{FF2B5EF4-FFF2-40B4-BE49-F238E27FC236}">
                <a16:creationId xmlns:a16="http://schemas.microsoft.com/office/drawing/2014/main" id="{E45D0128-098E-4D8E-8346-2CAECB10B23E}"/>
              </a:ext>
            </a:extLst>
          </p:cNvPr>
          <p:cNvSpPr>
            <a:spLocks noGrp="1"/>
          </p:cNvSpPr>
          <p:nvPr/>
        </p:nvSpPr>
        <p:spPr>
          <a:xfrm>
            <a:off x="990600" y="6724650"/>
            <a:ext cx="28575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150" b="1">
                <a:solidFill>
                  <a:srgbClr val="B98A2E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B98A2E"/>
                </a:solidFill>
                <a:latin typeface="Georgia"/>
                <a:ea typeface="Georgia"/>
                <a:cs typeface="Georgia"/>
              </a:rPr>
              <a:t>560 / 80 / 160</a:t>
            </a:r>
          </a:p>
        </p:txBody>
      </p:sp>
      <p:sp>
        <p:nvSpPr>
          <p:cNvPr id="12" name="metric-compact-label-pseudo-title split">
            <a:extLst>
              <a:ext uri="{FF2B5EF4-FFF2-40B4-BE49-F238E27FC236}">
                <a16:creationId xmlns:a16="http://schemas.microsoft.com/office/drawing/2014/main" id="{43BB08FA-B8FE-4F7E-962F-14D30EB2BBBA}"/>
              </a:ext>
            </a:extLst>
          </p:cNvPr>
          <p:cNvSpPr>
            <a:spLocks noGrp="1"/>
          </p:cNvSpPr>
          <p:nvPr/>
        </p:nvSpPr>
        <p:spPr>
          <a:xfrm>
            <a:off x="990600" y="7543800"/>
            <a:ext cx="14668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pseudo-title split</a:t>
            </a:r>
          </a:p>
        </p:txBody>
      </p:sp>
      <p:sp>
        <p:nvSpPr>
          <p:cNvPr id="13" name="metric-compact-note-pseudo-title split">
            <a:extLst>
              <a:ext uri="{FF2B5EF4-FFF2-40B4-BE49-F238E27FC236}">
                <a16:creationId xmlns:a16="http://schemas.microsoft.com/office/drawing/2014/main" id="{42062CC9-293C-42CB-9E00-A98F146FF9AC}"/>
              </a:ext>
            </a:extLst>
          </p:cNvPr>
          <p:cNvSpPr>
            <a:spLocks noGrp="1"/>
          </p:cNvSpPr>
          <p:nvPr/>
        </p:nvSpPr>
        <p:spPr>
          <a:xfrm>
            <a:off x="990600" y="7905750"/>
            <a:ext cx="47434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800 negative-review source-target pairs generated by an LLM teacher</a:t>
            </a:r>
          </a:p>
        </p:txBody>
      </p:sp>
      <p:sp>
        <p:nvSpPr>
          <p:cNvPr id="14" name="bullet-mark-Review-value proxy">
            <a:extLst>
              <a:ext uri="{FF2B5EF4-FFF2-40B4-BE49-F238E27FC236}">
                <a16:creationId xmlns:a16="http://schemas.microsoft.com/office/drawing/2014/main" id="{CE45EC56-EB9F-4A99-8404-416CEF3FFCE6}"/>
              </a:ext>
            </a:extLst>
          </p:cNvPr>
          <p:cNvSpPr>
            <a:spLocks noGrp="1"/>
          </p:cNvSpPr>
          <p:nvPr/>
        </p:nvSpPr>
        <p:spPr>
          <a:xfrm>
            <a:off x="9410700" y="4724400"/>
            <a:ext cx="85725" cy="304800"/>
          </a:xfrm>
          <a:prstGeom prst="rect">
            <a:avLst/>
          </a:prstGeom>
          <a:solidFill>
            <a:srgbClr val="1E5B7A"/>
          </a:solidFill>
          <a:ln w="0">
            <a:solidFill>
              <a:srgbClr val="1E5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bullet-label-Review-value proxy">
            <a:extLst>
              <a:ext uri="{FF2B5EF4-FFF2-40B4-BE49-F238E27FC236}">
                <a16:creationId xmlns:a16="http://schemas.microsoft.com/office/drawing/2014/main" id="{D64740D4-77AA-4B03-9B65-89CB73087AC8}"/>
              </a:ext>
            </a:extLst>
          </p:cNvPr>
          <p:cNvSpPr>
            <a:spLocks noGrp="1"/>
          </p:cNvSpPr>
          <p:nvPr/>
        </p:nvSpPr>
        <p:spPr>
          <a:xfrm>
            <a:off x="9677400" y="4705350"/>
            <a:ext cx="16954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Review-value proxy</a:t>
            </a:r>
          </a:p>
        </p:txBody>
      </p:sp>
      <p:sp>
        <p:nvSpPr>
          <p:cNvPr id="16" name="bullet-body-Review-value proxy">
            <a:extLst>
              <a:ext uri="{FF2B5EF4-FFF2-40B4-BE49-F238E27FC236}">
                <a16:creationId xmlns:a16="http://schemas.microsoft.com/office/drawing/2014/main" id="{7EC3A213-A5A5-489E-95CA-F247DD98048F}"/>
              </a:ext>
            </a:extLst>
          </p:cNvPr>
          <p:cNvSpPr>
            <a:spLocks noGrp="1"/>
          </p:cNvSpPr>
          <p:nvPr/>
        </p:nvSpPr>
        <p:spPr>
          <a:xfrm>
            <a:off x="9677400" y="4914900"/>
            <a:ext cx="87820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Helpful votes are used because there is no manual business-value label; the proxy is realistic but imperfect.</a:t>
            </a:r>
          </a:p>
        </p:txBody>
      </p:sp>
      <p:sp>
        <p:nvSpPr>
          <p:cNvPr id="17" name="bullet-mark-Sentiment calibration">
            <a:extLst>
              <a:ext uri="{FF2B5EF4-FFF2-40B4-BE49-F238E27FC236}">
                <a16:creationId xmlns:a16="http://schemas.microsoft.com/office/drawing/2014/main" id="{7EB767A5-A40E-4578-A2C0-DA5499706C22}"/>
              </a:ext>
            </a:extLst>
          </p:cNvPr>
          <p:cNvSpPr>
            <a:spLocks noGrp="1"/>
          </p:cNvSpPr>
          <p:nvPr/>
        </p:nvSpPr>
        <p:spPr>
          <a:xfrm>
            <a:off x="9410700" y="5715000"/>
            <a:ext cx="85725" cy="304800"/>
          </a:xfrm>
          <a:prstGeom prst="rect">
            <a:avLst/>
          </a:prstGeom>
          <a:solidFill>
            <a:srgbClr val="178C80"/>
          </a:solidFill>
          <a:ln w="0">
            <a:solidFill>
              <a:srgbClr val="178C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bullet-label-Sentiment calibration">
            <a:extLst>
              <a:ext uri="{FF2B5EF4-FFF2-40B4-BE49-F238E27FC236}">
                <a16:creationId xmlns:a16="http://schemas.microsoft.com/office/drawing/2014/main" id="{B2DC6C14-6F29-4144-9E73-9E1DE92FA16D}"/>
              </a:ext>
            </a:extLst>
          </p:cNvPr>
          <p:cNvSpPr>
            <a:spLocks noGrp="1"/>
          </p:cNvSpPr>
          <p:nvPr/>
        </p:nvSpPr>
        <p:spPr>
          <a:xfrm>
            <a:off x="9677400" y="5695950"/>
            <a:ext cx="18478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Sentiment calibration</a:t>
            </a:r>
          </a:p>
        </p:txBody>
      </p:sp>
      <p:sp>
        <p:nvSpPr>
          <p:cNvPr id="19" name="bullet-body-Sentiment calibration">
            <a:extLst>
              <a:ext uri="{FF2B5EF4-FFF2-40B4-BE49-F238E27FC236}">
                <a16:creationId xmlns:a16="http://schemas.microsoft.com/office/drawing/2014/main" id="{992E0360-9F0B-4ABD-B1A0-018C3FE0DBB3}"/>
              </a:ext>
            </a:extLst>
          </p:cNvPr>
          <p:cNvSpPr>
            <a:spLocks noGrp="1"/>
          </p:cNvSpPr>
          <p:nvPr/>
        </p:nvSpPr>
        <p:spPr>
          <a:xfrm>
            <a:off x="9677400" y="5905500"/>
            <a:ext cx="92392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positive = rating &gt;= 4 and VADER &gt;= 0.05; negative = rating &lt;= 3 and VADER &lt;= -0.05; otherwise discard.</a:t>
            </a:r>
          </a:p>
        </p:txBody>
      </p:sp>
      <p:sp>
        <p:nvSpPr>
          <p:cNvPr id="20" name="bullet-mark-Complaint-title labels">
            <a:extLst>
              <a:ext uri="{FF2B5EF4-FFF2-40B4-BE49-F238E27FC236}">
                <a16:creationId xmlns:a16="http://schemas.microsoft.com/office/drawing/2014/main" id="{AA49B2C1-AEAC-4F62-8217-E1B2DC755D31}"/>
              </a:ext>
            </a:extLst>
          </p:cNvPr>
          <p:cNvSpPr>
            <a:spLocks noGrp="1"/>
          </p:cNvSpPr>
          <p:nvPr/>
        </p:nvSpPr>
        <p:spPr>
          <a:xfrm>
            <a:off x="9410700" y="6705600"/>
            <a:ext cx="85725" cy="304800"/>
          </a:xfrm>
          <a:prstGeom prst="rect">
            <a:avLst/>
          </a:prstGeom>
          <a:solidFill>
            <a:srgbClr val="B98A2E"/>
          </a:solidFill>
          <a:ln w="0">
            <a:solidFill>
              <a:srgbClr val="B98A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bullet-label-Complaint-title labels">
            <a:extLst>
              <a:ext uri="{FF2B5EF4-FFF2-40B4-BE49-F238E27FC236}">
                <a16:creationId xmlns:a16="http://schemas.microsoft.com/office/drawing/2014/main" id="{269FA845-1ABE-403C-AECC-B59A048F03FB}"/>
              </a:ext>
            </a:extLst>
          </p:cNvPr>
          <p:cNvSpPr>
            <a:spLocks noGrp="1"/>
          </p:cNvSpPr>
          <p:nvPr/>
        </p:nvSpPr>
        <p:spPr>
          <a:xfrm>
            <a:off x="9677400" y="6686550"/>
            <a:ext cx="18478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Complaint-title labels</a:t>
            </a:r>
          </a:p>
        </p:txBody>
      </p:sp>
      <p:sp>
        <p:nvSpPr>
          <p:cNvPr id="22" name="bullet-body-Complaint-title labels">
            <a:extLst>
              <a:ext uri="{FF2B5EF4-FFF2-40B4-BE49-F238E27FC236}">
                <a16:creationId xmlns:a16="http://schemas.microsoft.com/office/drawing/2014/main" id="{5347C726-E7D2-4DB7-92B4-64767A3F5818}"/>
              </a:ext>
            </a:extLst>
          </p:cNvPr>
          <p:cNvSpPr>
            <a:spLocks noGrp="1"/>
          </p:cNvSpPr>
          <p:nvPr/>
        </p:nvSpPr>
        <p:spPr>
          <a:xfrm>
            <a:off x="9677400" y="6896100"/>
            <a:ext cx="89344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Pseudo titles are generated only for calibrated negative reviews, then used to fine-tune local Flan-T5 students.</a:t>
            </a:r>
          </a:p>
        </p:txBody>
      </p:sp>
      <p:sp>
        <p:nvSpPr>
          <p:cNvPr id="23" name="footer-rule">
            <a:extLst>
              <a:ext uri="{FF2B5EF4-FFF2-40B4-BE49-F238E27FC236}">
                <a16:creationId xmlns:a16="http://schemas.microsoft.com/office/drawing/2014/main" id="{E6FCF6C0-0771-4367-BA14-EC095630D998}"/>
              </a:ext>
            </a:extLst>
          </p:cNvPr>
          <p:cNvSpPr>
            <a:spLocks noGrp="1"/>
          </p:cNvSpPr>
          <p:nvPr/>
        </p:nvSpPr>
        <p:spPr>
          <a:xfrm>
            <a:off x="990600" y="944880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footer-section">
            <a:extLst>
              <a:ext uri="{FF2B5EF4-FFF2-40B4-BE49-F238E27FC236}">
                <a16:creationId xmlns:a16="http://schemas.microsoft.com/office/drawing/2014/main" id="{AD639D68-356B-4925-B5C7-8083399C66C8}"/>
              </a:ext>
            </a:extLst>
          </p:cNvPr>
          <p:cNvSpPr>
            <a:spLocks noGrp="1"/>
          </p:cNvSpPr>
          <p:nvPr/>
        </p:nvSpPr>
        <p:spPr>
          <a:xfrm>
            <a:off x="2038350" y="9277350"/>
            <a:ext cx="6667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Datasets</a:t>
            </a:r>
          </a:p>
        </p:txBody>
      </p:sp>
      <p:sp>
        <p:nvSpPr>
          <p:cNvPr id="25" name="footer-page">
            <a:extLst>
              <a:ext uri="{FF2B5EF4-FFF2-40B4-BE49-F238E27FC236}">
                <a16:creationId xmlns:a16="http://schemas.microsoft.com/office/drawing/2014/main" id="{70EB37FC-1672-4122-B773-2E2333F2C27D}"/>
              </a:ext>
            </a:extLst>
          </p:cNvPr>
          <p:cNvSpPr>
            <a:spLocks noGrp="1"/>
          </p:cNvSpPr>
          <p:nvPr/>
        </p:nvSpPr>
        <p:spPr>
          <a:xfrm>
            <a:off x="17106900" y="937260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49838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lide-background">
            <a:extLst>
              <a:ext uri="{FF2B5EF4-FFF2-40B4-BE49-F238E27FC236}">
                <a16:creationId xmlns:a16="http://schemas.microsoft.com/office/drawing/2014/main" id="{62EE5D52-86AF-4F6C-B1A1-02D9E25E59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D329782F-9672-446B-A696-73C62FCA6C33}"/>
              </a:ext>
            </a:extLst>
          </p:cNvPr>
          <p:cNvSpPr>
            <a:spLocks noGrp="1"/>
          </p:cNvSpPr>
          <p:nvPr/>
        </p:nvSpPr>
        <p:spPr>
          <a:xfrm>
            <a:off x="914400" y="666750"/>
            <a:ext cx="1428750" cy="34290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System Design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AE12594A-27B8-4D22-BAB9-BAFA00888607}"/>
              </a:ext>
            </a:extLst>
          </p:cNvPr>
          <p:cNvSpPr>
            <a:spLocks noGrp="1"/>
          </p:cNvSpPr>
          <p:nvPr/>
        </p:nvSpPr>
        <p:spPr>
          <a:xfrm>
            <a:off x="914400" y="1162050"/>
            <a:ext cx="11106150" cy="1028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Offline training and online analysis are separated but connected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06C76348-CA8D-45E5-9F66-4F1134A443D7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12211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This design keeps model development and runtime business exploration conceptually distinct while letting the dashboard integrate all model outputs.</a:t>
            </a:r>
          </a:p>
        </p:txBody>
      </p:sp>
      <p:sp>
        <p:nvSpPr>
          <p:cNvPr id="5" name="offline-label">
            <a:extLst>
              <a:ext uri="{FF2B5EF4-FFF2-40B4-BE49-F238E27FC236}">
                <a16:creationId xmlns:a16="http://schemas.microsoft.com/office/drawing/2014/main" id="{FC63D479-0761-40B4-B2CB-F886E2A67C7A}"/>
              </a:ext>
            </a:extLst>
          </p:cNvPr>
          <p:cNvSpPr>
            <a:spLocks noGrp="1"/>
          </p:cNvSpPr>
          <p:nvPr/>
        </p:nvSpPr>
        <p:spPr>
          <a:xfrm>
            <a:off x="914400" y="4038600"/>
            <a:ext cx="20383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Offline training pipeline</a:t>
            </a:r>
          </a:p>
        </p:txBody>
      </p:sp>
      <p:sp>
        <p:nvSpPr>
          <p:cNvPr id="6" name="process-step-01">
            <a:extLst>
              <a:ext uri="{FF2B5EF4-FFF2-40B4-BE49-F238E27FC236}">
                <a16:creationId xmlns:a16="http://schemas.microsoft.com/office/drawing/2014/main" id="{7D450024-A723-4A8B-8DF6-1AE9047A1F45}"/>
              </a:ext>
            </a:extLst>
          </p:cNvPr>
          <p:cNvSpPr>
            <a:spLocks noGrp="1"/>
          </p:cNvSpPr>
          <p:nvPr/>
        </p:nvSpPr>
        <p:spPr>
          <a:xfrm>
            <a:off x="914400" y="449580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process-num-01">
            <a:extLst>
              <a:ext uri="{FF2B5EF4-FFF2-40B4-BE49-F238E27FC236}">
                <a16:creationId xmlns:a16="http://schemas.microsoft.com/office/drawing/2014/main" id="{4A9B7EC2-BCD7-45EA-87F6-20A7D962F546}"/>
              </a:ext>
            </a:extLst>
          </p:cNvPr>
          <p:cNvSpPr>
            <a:spLocks noGrp="1"/>
          </p:cNvSpPr>
          <p:nvPr/>
        </p:nvSpPr>
        <p:spPr>
          <a:xfrm>
            <a:off x="1123950" y="4667250"/>
            <a:ext cx="4572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process-title-01">
            <a:extLst>
              <a:ext uri="{FF2B5EF4-FFF2-40B4-BE49-F238E27FC236}">
                <a16:creationId xmlns:a16="http://schemas.microsoft.com/office/drawing/2014/main" id="{D5D0A8AD-80D5-4426-BA83-4D76B7360050}"/>
              </a:ext>
            </a:extLst>
          </p:cNvPr>
          <p:cNvSpPr>
            <a:spLocks noGrp="1"/>
          </p:cNvSpPr>
          <p:nvPr/>
        </p:nvSpPr>
        <p:spPr>
          <a:xfrm>
            <a:off x="1752600" y="4667250"/>
            <a:ext cx="10858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Raw reviews</a:t>
            </a:r>
          </a:p>
        </p:txBody>
      </p:sp>
      <p:sp>
        <p:nvSpPr>
          <p:cNvPr id="9" name="process-detail-01">
            <a:extLst>
              <a:ext uri="{FF2B5EF4-FFF2-40B4-BE49-F238E27FC236}">
                <a16:creationId xmlns:a16="http://schemas.microsoft.com/office/drawing/2014/main" id="{EFC571A3-1EAF-4B65-8946-0F3CCBDCEDF4}"/>
              </a:ext>
            </a:extLst>
          </p:cNvPr>
          <p:cNvSpPr>
            <a:spLocks noGrp="1"/>
          </p:cNvSpPr>
          <p:nvPr/>
        </p:nvSpPr>
        <p:spPr>
          <a:xfrm>
            <a:off x="1752600" y="4895850"/>
            <a:ext cx="30099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Amazon reviews and product metadata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A350DE-EECC-4E15-AE14-E3068E9ADC14}"/>
              </a:ext>
            </a:extLst>
          </p:cNvPr>
          <p:cNvSpPr>
            <a:spLocks noGrp="1"/>
          </p:cNvSpPr>
          <p:nvPr/>
        </p:nvSpPr>
        <p:spPr>
          <a:xfrm>
            <a:off x="4648200" y="502920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11" name="process-step-02">
            <a:extLst>
              <a:ext uri="{FF2B5EF4-FFF2-40B4-BE49-F238E27FC236}">
                <a16:creationId xmlns:a16="http://schemas.microsoft.com/office/drawing/2014/main" id="{E19EC504-88AD-43CB-8C5C-E8DCCDBA6320}"/>
              </a:ext>
            </a:extLst>
          </p:cNvPr>
          <p:cNvSpPr>
            <a:spLocks noGrp="1"/>
          </p:cNvSpPr>
          <p:nvPr/>
        </p:nvSpPr>
        <p:spPr>
          <a:xfrm>
            <a:off x="5214938" y="449580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process-num-02">
            <a:extLst>
              <a:ext uri="{FF2B5EF4-FFF2-40B4-BE49-F238E27FC236}">
                <a16:creationId xmlns:a16="http://schemas.microsoft.com/office/drawing/2014/main" id="{238CF084-2B6B-4620-A105-0571A4180A1A}"/>
              </a:ext>
            </a:extLst>
          </p:cNvPr>
          <p:cNvSpPr>
            <a:spLocks noGrp="1"/>
          </p:cNvSpPr>
          <p:nvPr/>
        </p:nvSpPr>
        <p:spPr>
          <a:xfrm>
            <a:off x="5429250" y="4667250"/>
            <a:ext cx="4572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78C80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78C80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process-title-02">
            <a:extLst>
              <a:ext uri="{FF2B5EF4-FFF2-40B4-BE49-F238E27FC236}">
                <a16:creationId xmlns:a16="http://schemas.microsoft.com/office/drawing/2014/main" id="{7DF964E1-4670-49FE-87F3-FC04913B4AF2}"/>
              </a:ext>
            </a:extLst>
          </p:cNvPr>
          <p:cNvSpPr>
            <a:spLocks noGrp="1"/>
          </p:cNvSpPr>
          <p:nvPr/>
        </p:nvSpPr>
        <p:spPr>
          <a:xfrm>
            <a:off x="6057900" y="4667250"/>
            <a:ext cx="8382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Task data</a:t>
            </a:r>
          </a:p>
        </p:txBody>
      </p:sp>
      <p:sp>
        <p:nvSpPr>
          <p:cNvPr id="14" name="process-detail-02">
            <a:extLst>
              <a:ext uri="{FF2B5EF4-FFF2-40B4-BE49-F238E27FC236}">
                <a16:creationId xmlns:a16="http://schemas.microsoft.com/office/drawing/2014/main" id="{6A652984-6CAB-418A-9E59-DAA0FCC99E79}"/>
              </a:ext>
            </a:extLst>
          </p:cNvPr>
          <p:cNvSpPr>
            <a:spLocks noGrp="1"/>
          </p:cNvSpPr>
          <p:nvPr/>
        </p:nvSpPr>
        <p:spPr>
          <a:xfrm>
            <a:off x="6057900" y="4895850"/>
            <a:ext cx="25146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cleaning, sampling, proxy labels, calibration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DD35A2-F2BB-42FC-AFAF-D2E8E5A4BDC8}"/>
              </a:ext>
            </a:extLst>
          </p:cNvPr>
          <p:cNvSpPr>
            <a:spLocks noGrp="1"/>
          </p:cNvSpPr>
          <p:nvPr/>
        </p:nvSpPr>
        <p:spPr>
          <a:xfrm>
            <a:off x="8953500" y="502920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16" name="process-step-03">
            <a:extLst>
              <a:ext uri="{FF2B5EF4-FFF2-40B4-BE49-F238E27FC236}">
                <a16:creationId xmlns:a16="http://schemas.microsoft.com/office/drawing/2014/main" id="{A692FFCF-B53A-4491-9D60-014C74063739}"/>
              </a:ext>
            </a:extLst>
          </p:cNvPr>
          <p:cNvSpPr>
            <a:spLocks noGrp="1"/>
          </p:cNvSpPr>
          <p:nvPr/>
        </p:nvSpPr>
        <p:spPr>
          <a:xfrm>
            <a:off x="9515475" y="449580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process-num-03">
            <a:extLst>
              <a:ext uri="{FF2B5EF4-FFF2-40B4-BE49-F238E27FC236}">
                <a16:creationId xmlns:a16="http://schemas.microsoft.com/office/drawing/2014/main" id="{EA158DFB-6049-4373-8FC6-AB5A1BF26A6D}"/>
              </a:ext>
            </a:extLst>
          </p:cNvPr>
          <p:cNvSpPr>
            <a:spLocks noGrp="1"/>
          </p:cNvSpPr>
          <p:nvPr/>
        </p:nvSpPr>
        <p:spPr>
          <a:xfrm>
            <a:off x="9734550" y="4667250"/>
            <a:ext cx="4572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B98A2E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B98A2E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process-title-03">
            <a:extLst>
              <a:ext uri="{FF2B5EF4-FFF2-40B4-BE49-F238E27FC236}">
                <a16:creationId xmlns:a16="http://schemas.microsoft.com/office/drawing/2014/main" id="{C82A5238-35B7-4FBC-92BC-16DFBFC48999}"/>
              </a:ext>
            </a:extLst>
          </p:cNvPr>
          <p:cNvSpPr>
            <a:spLocks noGrp="1"/>
          </p:cNvSpPr>
          <p:nvPr/>
        </p:nvSpPr>
        <p:spPr>
          <a:xfrm>
            <a:off x="10363200" y="4667250"/>
            <a:ext cx="5905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Models</a:t>
            </a:r>
          </a:p>
        </p:txBody>
      </p:sp>
      <p:sp>
        <p:nvSpPr>
          <p:cNvPr id="19" name="process-detail-03">
            <a:extLst>
              <a:ext uri="{FF2B5EF4-FFF2-40B4-BE49-F238E27FC236}">
                <a16:creationId xmlns:a16="http://schemas.microsoft.com/office/drawing/2014/main" id="{8A3E5B40-660F-423A-BC12-4487810FB643}"/>
              </a:ext>
            </a:extLst>
          </p:cNvPr>
          <p:cNvSpPr>
            <a:spLocks noGrp="1"/>
          </p:cNvSpPr>
          <p:nvPr/>
        </p:nvSpPr>
        <p:spPr>
          <a:xfrm>
            <a:off x="10363200" y="4895850"/>
            <a:ext cx="20955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TF-IDF + LR, BERT, Flan-T5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639FC8C-A775-445B-830D-54393874B4E7}"/>
              </a:ext>
            </a:extLst>
          </p:cNvPr>
          <p:cNvSpPr>
            <a:spLocks noGrp="1"/>
          </p:cNvSpPr>
          <p:nvPr/>
        </p:nvSpPr>
        <p:spPr>
          <a:xfrm>
            <a:off x="13239750" y="502920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21" name="process-step-04">
            <a:extLst>
              <a:ext uri="{FF2B5EF4-FFF2-40B4-BE49-F238E27FC236}">
                <a16:creationId xmlns:a16="http://schemas.microsoft.com/office/drawing/2014/main" id="{89DCFF3E-FE0A-4998-93BD-A4655AFB9728}"/>
              </a:ext>
            </a:extLst>
          </p:cNvPr>
          <p:cNvSpPr>
            <a:spLocks noGrp="1"/>
          </p:cNvSpPr>
          <p:nvPr/>
        </p:nvSpPr>
        <p:spPr>
          <a:xfrm>
            <a:off x="13816013" y="449580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process-num-04">
            <a:extLst>
              <a:ext uri="{FF2B5EF4-FFF2-40B4-BE49-F238E27FC236}">
                <a16:creationId xmlns:a16="http://schemas.microsoft.com/office/drawing/2014/main" id="{E7317E2C-B368-4769-AD0F-D4289CC2E7FE}"/>
              </a:ext>
            </a:extLst>
          </p:cNvPr>
          <p:cNvSpPr>
            <a:spLocks noGrp="1"/>
          </p:cNvSpPr>
          <p:nvPr/>
        </p:nvSpPr>
        <p:spPr>
          <a:xfrm>
            <a:off x="14020800" y="4667250"/>
            <a:ext cx="4572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6C8B5F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6C8B5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process-title-04">
            <a:extLst>
              <a:ext uri="{FF2B5EF4-FFF2-40B4-BE49-F238E27FC236}">
                <a16:creationId xmlns:a16="http://schemas.microsoft.com/office/drawing/2014/main" id="{761BE9C1-359C-45A2-AC22-19514EAAA61B}"/>
              </a:ext>
            </a:extLst>
          </p:cNvPr>
          <p:cNvSpPr>
            <a:spLocks noGrp="1"/>
          </p:cNvSpPr>
          <p:nvPr/>
        </p:nvSpPr>
        <p:spPr>
          <a:xfrm>
            <a:off x="14649450" y="4667250"/>
            <a:ext cx="8953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Evaluation</a:t>
            </a:r>
          </a:p>
        </p:txBody>
      </p:sp>
      <p:sp>
        <p:nvSpPr>
          <p:cNvPr id="24" name="process-detail-04">
            <a:extLst>
              <a:ext uri="{FF2B5EF4-FFF2-40B4-BE49-F238E27FC236}">
                <a16:creationId xmlns:a16="http://schemas.microsoft.com/office/drawing/2014/main" id="{C617E286-5D0C-4CED-9126-9917A9C912EA}"/>
              </a:ext>
            </a:extLst>
          </p:cNvPr>
          <p:cNvSpPr>
            <a:spLocks noGrp="1"/>
          </p:cNvSpPr>
          <p:nvPr/>
        </p:nvSpPr>
        <p:spPr>
          <a:xfrm>
            <a:off x="14649450" y="5048250"/>
            <a:ext cx="27622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held-out metrics and saved artifacts</a:t>
            </a:r>
          </a:p>
        </p:txBody>
      </p:sp>
      <p:sp>
        <p:nvSpPr>
          <p:cNvPr id="25" name="online-label">
            <a:extLst>
              <a:ext uri="{FF2B5EF4-FFF2-40B4-BE49-F238E27FC236}">
                <a16:creationId xmlns:a16="http://schemas.microsoft.com/office/drawing/2014/main" id="{B1CF4F79-2443-4BFD-8B88-AA293AA60BCE}"/>
              </a:ext>
            </a:extLst>
          </p:cNvPr>
          <p:cNvSpPr>
            <a:spLocks noGrp="1"/>
          </p:cNvSpPr>
          <p:nvPr/>
        </p:nvSpPr>
        <p:spPr>
          <a:xfrm>
            <a:off x="914400" y="6457950"/>
            <a:ext cx="20383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Online analysis pipeline</a:t>
            </a:r>
          </a:p>
        </p:txBody>
      </p:sp>
      <p:sp>
        <p:nvSpPr>
          <p:cNvPr id="26" name="process-step-A">
            <a:extLst>
              <a:ext uri="{FF2B5EF4-FFF2-40B4-BE49-F238E27FC236}">
                <a16:creationId xmlns:a16="http://schemas.microsoft.com/office/drawing/2014/main" id="{1F42CB72-8D09-4F16-B105-1F8E6242FED2}"/>
              </a:ext>
            </a:extLst>
          </p:cNvPr>
          <p:cNvSpPr>
            <a:spLocks noGrp="1"/>
          </p:cNvSpPr>
          <p:nvPr/>
        </p:nvSpPr>
        <p:spPr>
          <a:xfrm>
            <a:off x="914400" y="676275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process-num-A">
            <a:extLst>
              <a:ext uri="{FF2B5EF4-FFF2-40B4-BE49-F238E27FC236}">
                <a16:creationId xmlns:a16="http://schemas.microsoft.com/office/drawing/2014/main" id="{A56001AF-7597-4D92-8BCB-2F669AF5D599}"/>
              </a:ext>
            </a:extLst>
          </p:cNvPr>
          <p:cNvSpPr>
            <a:spLocks noGrp="1"/>
          </p:cNvSpPr>
          <p:nvPr/>
        </p:nvSpPr>
        <p:spPr>
          <a:xfrm>
            <a:off x="1123950" y="6934200"/>
            <a:ext cx="4572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A</a:t>
            </a:r>
          </a:p>
        </p:txBody>
      </p:sp>
      <p:sp>
        <p:nvSpPr>
          <p:cNvPr id="28" name="process-title-A">
            <a:extLst>
              <a:ext uri="{FF2B5EF4-FFF2-40B4-BE49-F238E27FC236}">
                <a16:creationId xmlns:a16="http://schemas.microsoft.com/office/drawing/2014/main" id="{5A73096A-C630-4176-8A86-EDE3B50489A4}"/>
              </a:ext>
            </a:extLst>
          </p:cNvPr>
          <p:cNvSpPr>
            <a:spLocks noGrp="1"/>
          </p:cNvSpPr>
          <p:nvPr/>
        </p:nvSpPr>
        <p:spPr>
          <a:xfrm>
            <a:off x="1752600" y="6934200"/>
            <a:ext cx="14668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Dashboard scope</a:t>
            </a:r>
          </a:p>
        </p:txBody>
      </p:sp>
      <p:sp>
        <p:nvSpPr>
          <p:cNvPr id="29" name="process-detail-A">
            <a:extLst>
              <a:ext uri="{FF2B5EF4-FFF2-40B4-BE49-F238E27FC236}">
                <a16:creationId xmlns:a16="http://schemas.microsoft.com/office/drawing/2014/main" id="{C2878653-404E-4730-A6C1-EEEE258F6BBA}"/>
              </a:ext>
            </a:extLst>
          </p:cNvPr>
          <p:cNvSpPr>
            <a:spLocks noGrp="1"/>
          </p:cNvSpPr>
          <p:nvPr/>
        </p:nvSpPr>
        <p:spPr>
          <a:xfrm>
            <a:off x="1752600" y="7162800"/>
            <a:ext cx="29527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category, product, or merchant upload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80D257E-BEB6-4ADF-A1D4-EEAAD019E15E}"/>
              </a:ext>
            </a:extLst>
          </p:cNvPr>
          <p:cNvSpPr>
            <a:spLocks noGrp="1"/>
          </p:cNvSpPr>
          <p:nvPr/>
        </p:nvSpPr>
        <p:spPr>
          <a:xfrm>
            <a:off x="4648200" y="729615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31" name="process-step-B">
            <a:extLst>
              <a:ext uri="{FF2B5EF4-FFF2-40B4-BE49-F238E27FC236}">
                <a16:creationId xmlns:a16="http://schemas.microsoft.com/office/drawing/2014/main" id="{7A6C74D3-1E12-465C-B45F-971C9B7D3419}"/>
              </a:ext>
            </a:extLst>
          </p:cNvPr>
          <p:cNvSpPr>
            <a:spLocks noGrp="1"/>
          </p:cNvSpPr>
          <p:nvPr/>
        </p:nvSpPr>
        <p:spPr>
          <a:xfrm>
            <a:off x="5214938" y="676275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process-num-B">
            <a:extLst>
              <a:ext uri="{FF2B5EF4-FFF2-40B4-BE49-F238E27FC236}">
                <a16:creationId xmlns:a16="http://schemas.microsoft.com/office/drawing/2014/main" id="{A12D2A1E-B711-45B7-ADA1-1D3D6A7A17C4}"/>
              </a:ext>
            </a:extLst>
          </p:cNvPr>
          <p:cNvSpPr>
            <a:spLocks noGrp="1"/>
          </p:cNvSpPr>
          <p:nvPr/>
        </p:nvSpPr>
        <p:spPr>
          <a:xfrm>
            <a:off x="5429250" y="6934200"/>
            <a:ext cx="4572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78C80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78C80"/>
                </a:solidFill>
                <a:latin typeface="Georgia"/>
                <a:ea typeface="Georgia"/>
                <a:cs typeface="Georgia"/>
              </a:rPr>
              <a:t>B</a:t>
            </a:r>
          </a:p>
        </p:txBody>
      </p:sp>
      <p:sp>
        <p:nvSpPr>
          <p:cNvPr id="33" name="process-title-B">
            <a:extLst>
              <a:ext uri="{FF2B5EF4-FFF2-40B4-BE49-F238E27FC236}">
                <a16:creationId xmlns:a16="http://schemas.microsoft.com/office/drawing/2014/main" id="{782F9C52-0FCC-4335-963C-370D3EBF630E}"/>
              </a:ext>
            </a:extLst>
          </p:cNvPr>
          <p:cNvSpPr>
            <a:spLocks noGrp="1"/>
          </p:cNvSpPr>
          <p:nvPr/>
        </p:nvSpPr>
        <p:spPr>
          <a:xfrm>
            <a:off x="6057900" y="6934200"/>
            <a:ext cx="8382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Inference</a:t>
            </a:r>
          </a:p>
        </p:txBody>
      </p:sp>
      <p:sp>
        <p:nvSpPr>
          <p:cNvPr id="34" name="process-detail-B">
            <a:extLst>
              <a:ext uri="{FF2B5EF4-FFF2-40B4-BE49-F238E27FC236}">
                <a16:creationId xmlns:a16="http://schemas.microsoft.com/office/drawing/2014/main" id="{0FD4CAD3-9C15-4E01-B4D7-26A919FBEC00}"/>
              </a:ext>
            </a:extLst>
          </p:cNvPr>
          <p:cNvSpPr>
            <a:spLocks noGrp="1"/>
          </p:cNvSpPr>
          <p:nvPr/>
        </p:nvSpPr>
        <p:spPr>
          <a:xfrm>
            <a:off x="6057900" y="7315200"/>
            <a:ext cx="32004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value scoring, sentiment, negative review selection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BEFEA4E-7360-418C-BD45-26E42C8F9DD0}"/>
              </a:ext>
            </a:extLst>
          </p:cNvPr>
          <p:cNvSpPr>
            <a:spLocks noGrp="1"/>
          </p:cNvSpPr>
          <p:nvPr/>
        </p:nvSpPr>
        <p:spPr>
          <a:xfrm>
            <a:off x="8953500" y="729615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36" name="process-step-C">
            <a:extLst>
              <a:ext uri="{FF2B5EF4-FFF2-40B4-BE49-F238E27FC236}">
                <a16:creationId xmlns:a16="http://schemas.microsoft.com/office/drawing/2014/main" id="{962BCCF8-6972-48DE-B5FA-4089B8A68883}"/>
              </a:ext>
            </a:extLst>
          </p:cNvPr>
          <p:cNvSpPr>
            <a:spLocks noGrp="1"/>
          </p:cNvSpPr>
          <p:nvPr/>
        </p:nvSpPr>
        <p:spPr>
          <a:xfrm>
            <a:off x="9515475" y="676275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process-num-C">
            <a:extLst>
              <a:ext uri="{FF2B5EF4-FFF2-40B4-BE49-F238E27FC236}">
                <a16:creationId xmlns:a16="http://schemas.microsoft.com/office/drawing/2014/main" id="{4E3CAF9D-0E33-4C3E-AE0B-F5C58C79FB17}"/>
              </a:ext>
            </a:extLst>
          </p:cNvPr>
          <p:cNvSpPr>
            <a:spLocks noGrp="1"/>
          </p:cNvSpPr>
          <p:nvPr/>
        </p:nvSpPr>
        <p:spPr>
          <a:xfrm>
            <a:off x="9734550" y="6934200"/>
            <a:ext cx="4572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B98A2E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B98A2E"/>
                </a:solidFill>
                <a:latin typeface="Georgia"/>
                <a:ea typeface="Georgia"/>
                <a:cs typeface="Georgia"/>
              </a:rPr>
              <a:t>C</a:t>
            </a:r>
          </a:p>
        </p:txBody>
      </p:sp>
      <p:sp>
        <p:nvSpPr>
          <p:cNvPr id="38" name="process-title-C">
            <a:extLst>
              <a:ext uri="{FF2B5EF4-FFF2-40B4-BE49-F238E27FC236}">
                <a16:creationId xmlns:a16="http://schemas.microsoft.com/office/drawing/2014/main" id="{D993C639-D7F3-465E-82E5-5BE2B982543F}"/>
              </a:ext>
            </a:extLst>
          </p:cNvPr>
          <p:cNvSpPr>
            <a:spLocks noGrp="1"/>
          </p:cNvSpPr>
          <p:nvPr/>
        </p:nvSpPr>
        <p:spPr>
          <a:xfrm>
            <a:off x="10363200" y="6934200"/>
            <a:ext cx="13525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Title generation</a:t>
            </a:r>
          </a:p>
        </p:txBody>
      </p:sp>
      <p:sp>
        <p:nvSpPr>
          <p:cNvPr id="39" name="process-detail-C">
            <a:extLst>
              <a:ext uri="{FF2B5EF4-FFF2-40B4-BE49-F238E27FC236}">
                <a16:creationId xmlns:a16="http://schemas.microsoft.com/office/drawing/2014/main" id="{884F3B21-E283-4D7A-ACE0-F86E727DC064}"/>
              </a:ext>
            </a:extLst>
          </p:cNvPr>
          <p:cNvSpPr>
            <a:spLocks noGrp="1"/>
          </p:cNvSpPr>
          <p:nvPr/>
        </p:nvSpPr>
        <p:spPr>
          <a:xfrm>
            <a:off x="10363200" y="7315200"/>
            <a:ext cx="27813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complaint titles for negative reviews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D310DEF-A42F-4231-A77B-7DC7D4D77708}"/>
              </a:ext>
            </a:extLst>
          </p:cNvPr>
          <p:cNvSpPr>
            <a:spLocks noGrp="1"/>
          </p:cNvSpPr>
          <p:nvPr/>
        </p:nvSpPr>
        <p:spPr>
          <a:xfrm>
            <a:off x="13239750" y="7296150"/>
            <a:ext cx="40005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lnSpc>
                <a:spcPct val="118000"/>
              </a:lnSpc>
              <a:buNone/>
              <a:defRPr sz="1800" b="1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800" b="1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-&gt;</a:t>
            </a:r>
          </a:p>
        </p:txBody>
      </p:sp>
      <p:sp>
        <p:nvSpPr>
          <p:cNvPr id="41" name="process-step-D">
            <a:extLst>
              <a:ext uri="{FF2B5EF4-FFF2-40B4-BE49-F238E27FC236}">
                <a16:creationId xmlns:a16="http://schemas.microsoft.com/office/drawing/2014/main" id="{7F6B2722-3EC9-4339-96DB-E81E51124625}"/>
              </a:ext>
            </a:extLst>
          </p:cNvPr>
          <p:cNvSpPr>
            <a:spLocks noGrp="1"/>
          </p:cNvSpPr>
          <p:nvPr/>
        </p:nvSpPr>
        <p:spPr>
          <a:xfrm>
            <a:off x="13816013" y="6762750"/>
            <a:ext cx="3557588" cy="135255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process-num-D">
            <a:extLst>
              <a:ext uri="{FF2B5EF4-FFF2-40B4-BE49-F238E27FC236}">
                <a16:creationId xmlns:a16="http://schemas.microsoft.com/office/drawing/2014/main" id="{9419A033-FBEB-4F44-AF11-7A31774F7EF7}"/>
              </a:ext>
            </a:extLst>
          </p:cNvPr>
          <p:cNvSpPr>
            <a:spLocks noGrp="1"/>
          </p:cNvSpPr>
          <p:nvPr/>
        </p:nvSpPr>
        <p:spPr>
          <a:xfrm>
            <a:off x="14020800" y="6934200"/>
            <a:ext cx="4572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6C8B5F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6C8B5F"/>
                </a:solidFill>
                <a:latin typeface="Georgia"/>
                <a:ea typeface="Georgia"/>
                <a:cs typeface="Georgia"/>
              </a:rPr>
              <a:t>D</a:t>
            </a:r>
          </a:p>
        </p:txBody>
      </p:sp>
      <p:sp>
        <p:nvSpPr>
          <p:cNvPr id="43" name="process-title-D">
            <a:extLst>
              <a:ext uri="{FF2B5EF4-FFF2-40B4-BE49-F238E27FC236}">
                <a16:creationId xmlns:a16="http://schemas.microsoft.com/office/drawing/2014/main" id="{0F8CC745-0CCB-4998-B7B5-3AE926D5EB74}"/>
              </a:ext>
            </a:extLst>
          </p:cNvPr>
          <p:cNvSpPr>
            <a:spLocks noGrp="1"/>
          </p:cNvSpPr>
          <p:nvPr/>
        </p:nvSpPr>
        <p:spPr>
          <a:xfrm>
            <a:off x="14649450" y="6934200"/>
            <a:ext cx="12573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Merchant view</a:t>
            </a:r>
          </a:p>
        </p:txBody>
      </p:sp>
      <p:sp>
        <p:nvSpPr>
          <p:cNvPr id="44" name="process-detail-D">
            <a:extLst>
              <a:ext uri="{FF2B5EF4-FFF2-40B4-BE49-F238E27FC236}">
                <a16:creationId xmlns:a16="http://schemas.microsoft.com/office/drawing/2014/main" id="{619DDFB5-FD1F-4485-A25D-31DA8B2B1FCA}"/>
              </a:ext>
            </a:extLst>
          </p:cNvPr>
          <p:cNvSpPr>
            <a:spLocks noGrp="1"/>
          </p:cNvSpPr>
          <p:nvPr/>
        </p:nvSpPr>
        <p:spPr>
          <a:xfrm>
            <a:off x="14649450" y="7162800"/>
            <a:ext cx="24765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Streamlit dashboard and Copilot</a:t>
            </a:r>
          </a:p>
        </p:txBody>
      </p:sp>
      <p:sp>
        <p:nvSpPr>
          <p:cNvPr id="45" name="footer-rule">
            <a:extLst>
              <a:ext uri="{FF2B5EF4-FFF2-40B4-BE49-F238E27FC236}">
                <a16:creationId xmlns:a16="http://schemas.microsoft.com/office/drawing/2014/main" id="{09745521-E770-49EE-9730-FED86687532B}"/>
              </a:ext>
            </a:extLst>
          </p:cNvPr>
          <p:cNvSpPr>
            <a:spLocks noGrp="1"/>
          </p:cNvSpPr>
          <p:nvPr/>
        </p:nvSpPr>
        <p:spPr>
          <a:xfrm>
            <a:off x="914400" y="944880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footer-section">
            <a:extLst>
              <a:ext uri="{FF2B5EF4-FFF2-40B4-BE49-F238E27FC236}">
                <a16:creationId xmlns:a16="http://schemas.microsoft.com/office/drawing/2014/main" id="{DDE40AF2-8DD8-4BE9-8DC9-6744E33F0AB6}"/>
              </a:ext>
            </a:extLst>
          </p:cNvPr>
          <p:cNvSpPr>
            <a:spLocks noGrp="1"/>
          </p:cNvSpPr>
          <p:nvPr/>
        </p:nvSpPr>
        <p:spPr>
          <a:xfrm>
            <a:off x="1962150" y="9277350"/>
            <a:ext cx="1123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System design</a:t>
            </a:r>
          </a:p>
        </p:txBody>
      </p:sp>
      <p:sp>
        <p:nvSpPr>
          <p:cNvPr id="47" name="footer-page">
            <a:extLst>
              <a:ext uri="{FF2B5EF4-FFF2-40B4-BE49-F238E27FC236}">
                <a16:creationId xmlns:a16="http://schemas.microsoft.com/office/drawing/2014/main" id="{45A7DF7E-4C53-46EF-B155-36DCF6B3DC98}"/>
              </a:ext>
            </a:extLst>
          </p:cNvPr>
          <p:cNvSpPr>
            <a:spLocks noGrp="1"/>
          </p:cNvSpPr>
          <p:nvPr/>
        </p:nvSpPr>
        <p:spPr>
          <a:xfrm>
            <a:off x="17183100" y="937260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48288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background">
            <a:extLst>
              <a:ext uri="{FF2B5EF4-FFF2-40B4-BE49-F238E27FC236}">
                <a16:creationId xmlns:a16="http://schemas.microsoft.com/office/drawing/2014/main" id="{D0AEDBE3-50F1-4A2C-B22B-E9E13D342B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71C0F036-7D83-4AEC-8799-9BD826D53FC9}"/>
              </a:ext>
            </a:extLst>
          </p:cNvPr>
          <p:cNvSpPr>
            <a:spLocks noGrp="1"/>
          </p:cNvSpPr>
          <p:nvPr/>
        </p:nvSpPr>
        <p:spPr>
          <a:xfrm>
            <a:off x="990600" y="666750"/>
            <a:ext cx="19812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Solution Approaches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460B382F-20CE-4DC5-9FD3-95AE350F879D}"/>
              </a:ext>
            </a:extLst>
          </p:cNvPr>
          <p:cNvSpPr>
            <a:spLocks noGrp="1"/>
          </p:cNvSpPr>
          <p:nvPr/>
        </p:nvSpPr>
        <p:spPr>
          <a:xfrm>
            <a:off x="990600" y="990600"/>
            <a:ext cx="10991850" cy="1028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Each component is chosen to match its text-mining task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21F706B8-157B-461E-A413-B5F55F497BB6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119062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The report positions the system as an end-to-end review intelligence workflow, not only as a sentiment classifier.</a:t>
            </a:r>
          </a:p>
        </p:txBody>
      </p:sp>
      <p:sp>
        <p:nvSpPr>
          <p:cNvPr id="5" name="approach-title-1">
            <a:extLst>
              <a:ext uri="{FF2B5EF4-FFF2-40B4-BE49-F238E27FC236}">
                <a16:creationId xmlns:a16="http://schemas.microsoft.com/office/drawing/2014/main" id="{C08E86EA-BAE7-46AF-9C0B-5ABD116DC346}"/>
              </a:ext>
            </a:extLst>
          </p:cNvPr>
          <p:cNvSpPr>
            <a:spLocks noGrp="1"/>
          </p:cNvSpPr>
          <p:nvPr/>
        </p:nvSpPr>
        <p:spPr>
          <a:xfrm>
            <a:off x="990600" y="4248150"/>
            <a:ext cx="49530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TF-IDF + Logistic Regression</a:t>
            </a:r>
          </a:p>
        </p:txBody>
      </p:sp>
      <p:sp>
        <p:nvSpPr>
          <p:cNvPr id="6" name="approach-body-1">
            <a:extLst>
              <a:ext uri="{FF2B5EF4-FFF2-40B4-BE49-F238E27FC236}">
                <a16:creationId xmlns:a16="http://schemas.microsoft.com/office/drawing/2014/main" id="{4468F6DD-6D7A-4D89-8945-80EA075A19D6}"/>
              </a:ext>
            </a:extLst>
          </p:cNvPr>
          <p:cNvSpPr>
            <a:spLocks noGrp="1"/>
          </p:cNvSpPr>
          <p:nvPr/>
        </p:nvSpPr>
        <p:spPr>
          <a:xfrm>
            <a:off x="6343650" y="4286250"/>
            <a:ext cx="109537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Review-value classification uses unigram/bigram TF-IDF, max_features = 10,000, balanced class weights, and decision_threshold = 0.6. It is efficient, interpretable, and suitable for a small coursework dataset.</a:t>
            </a:r>
          </a:p>
        </p:txBody>
      </p:sp>
      <p:sp>
        <p:nvSpPr>
          <p:cNvPr id="7" name="approach-rule-1">
            <a:extLst>
              <a:ext uri="{FF2B5EF4-FFF2-40B4-BE49-F238E27FC236}">
                <a16:creationId xmlns:a16="http://schemas.microsoft.com/office/drawing/2014/main" id="{B2B91836-36B8-4B9E-9C31-EA9F905EA724}"/>
              </a:ext>
            </a:extLst>
          </p:cNvPr>
          <p:cNvSpPr>
            <a:spLocks noGrp="1"/>
          </p:cNvSpPr>
          <p:nvPr/>
        </p:nvSpPr>
        <p:spPr>
          <a:xfrm>
            <a:off x="990600" y="5391150"/>
            <a:ext cx="1630680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approach-title-2">
            <a:extLst>
              <a:ext uri="{FF2B5EF4-FFF2-40B4-BE49-F238E27FC236}">
                <a16:creationId xmlns:a16="http://schemas.microsoft.com/office/drawing/2014/main" id="{B8B6BB29-4E9D-42A3-A163-D02594F0FB34}"/>
              </a:ext>
            </a:extLst>
          </p:cNvPr>
          <p:cNvSpPr>
            <a:spLocks noGrp="1"/>
          </p:cNvSpPr>
          <p:nvPr/>
        </p:nvSpPr>
        <p:spPr>
          <a:xfrm>
            <a:off x="990600" y="5867400"/>
            <a:ext cx="495300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78C80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78C80"/>
                </a:solidFill>
                <a:latin typeface="Georgia"/>
                <a:ea typeface="Georgia"/>
                <a:cs typeface="Georgia"/>
              </a:rPr>
              <a:t>Fine-tuned BERT</a:t>
            </a:r>
          </a:p>
        </p:txBody>
      </p:sp>
      <p:sp>
        <p:nvSpPr>
          <p:cNvPr id="9" name="approach-body-2">
            <a:extLst>
              <a:ext uri="{FF2B5EF4-FFF2-40B4-BE49-F238E27FC236}">
                <a16:creationId xmlns:a16="http://schemas.microsoft.com/office/drawing/2014/main" id="{5FAAC655-765A-4ACA-951E-1608E41CE9FF}"/>
              </a:ext>
            </a:extLst>
          </p:cNvPr>
          <p:cNvSpPr>
            <a:spLocks noGrp="1"/>
          </p:cNvSpPr>
          <p:nvPr/>
        </p:nvSpPr>
        <p:spPr>
          <a:xfrm>
            <a:off x="6343650" y="5676900"/>
            <a:ext cx="109537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Sentiment mining fine-tunes bert-base-uncased on calibrated labels. BERT is selected because sentiment often depends on context, negation, complaint phrasing, and domain-specific expressions.</a:t>
            </a:r>
          </a:p>
        </p:txBody>
      </p:sp>
      <p:sp>
        <p:nvSpPr>
          <p:cNvPr id="10" name="approach-rule-2">
            <a:extLst>
              <a:ext uri="{FF2B5EF4-FFF2-40B4-BE49-F238E27FC236}">
                <a16:creationId xmlns:a16="http://schemas.microsoft.com/office/drawing/2014/main" id="{FE1821C3-8536-4ED1-8F91-700A72F30581}"/>
              </a:ext>
            </a:extLst>
          </p:cNvPr>
          <p:cNvSpPr>
            <a:spLocks noGrp="1"/>
          </p:cNvSpPr>
          <p:nvPr/>
        </p:nvSpPr>
        <p:spPr>
          <a:xfrm>
            <a:off x="990600" y="6743700"/>
            <a:ext cx="1630680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approach-title-3">
            <a:extLst>
              <a:ext uri="{FF2B5EF4-FFF2-40B4-BE49-F238E27FC236}">
                <a16:creationId xmlns:a16="http://schemas.microsoft.com/office/drawing/2014/main" id="{493E8E1B-C9E9-4479-A8D2-A6C138DF5E85}"/>
              </a:ext>
            </a:extLst>
          </p:cNvPr>
          <p:cNvSpPr>
            <a:spLocks noGrp="1"/>
          </p:cNvSpPr>
          <p:nvPr/>
        </p:nvSpPr>
        <p:spPr>
          <a:xfrm>
            <a:off x="990600" y="7010400"/>
            <a:ext cx="4953000" cy="876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B98A2E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B98A2E"/>
                </a:solidFill>
                <a:latin typeface="Georgia"/>
                <a:ea typeface="Georgia"/>
                <a:cs typeface="Georgia"/>
              </a:rPr>
              <a:t>Teacher-student Flan-T5</a:t>
            </a:r>
          </a:p>
        </p:txBody>
      </p:sp>
      <p:sp>
        <p:nvSpPr>
          <p:cNvPr id="12" name="approach-body-3">
            <a:extLst>
              <a:ext uri="{FF2B5EF4-FFF2-40B4-BE49-F238E27FC236}">
                <a16:creationId xmlns:a16="http://schemas.microsoft.com/office/drawing/2014/main" id="{E9631D58-83A1-4FCA-A4A9-B7AF6AAC7DF4}"/>
              </a:ext>
            </a:extLst>
          </p:cNvPr>
          <p:cNvSpPr>
            <a:spLocks noGrp="1"/>
          </p:cNvSpPr>
          <p:nvPr/>
        </p:nvSpPr>
        <p:spPr>
          <a:xfrm>
            <a:off x="6343650" y="7048500"/>
            <a:ext cx="109537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Complaint-title generation is treated as a short sequence-to-sequence task. An LLM teacher creates pseudo labels, then local Flan-T5 students learn a cheaper and more reproducible title-generation style.</a:t>
            </a:r>
          </a:p>
        </p:txBody>
      </p:sp>
      <p:sp>
        <p:nvSpPr>
          <p:cNvPr id="13" name="footer-rule">
            <a:extLst>
              <a:ext uri="{FF2B5EF4-FFF2-40B4-BE49-F238E27FC236}">
                <a16:creationId xmlns:a16="http://schemas.microsoft.com/office/drawing/2014/main" id="{AA343204-BE62-4D3B-A15A-CF40DAAA0BE4}"/>
              </a:ext>
            </a:extLst>
          </p:cNvPr>
          <p:cNvSpPr>
            <a:spLocks noGrp="1"/>
          </p:cNvSpPr>
          <p:nvPr/>
        </p:nvSpPr>
        <p:spPr>
          <a:xfrm>
            <a:off x="990600" y="954405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footer-section">
            <a:extLst>
              <a:ext uri="{FF2B5EF4-FFF2-40B4-BE49-F238E27FC236}">
                <a16:creationId xmlns:a16="http://schemas.microsoft.com/office/drawing/2014/main" id="{B83505B5-DF53-4071-A0EE-E92739144356}"/>
              </a:ext>
            </a:extLst>
          </p:cNvPr>
          <p:cNvSpPr>
            <a:spLocks noGrp="1"/>
          </p:cNvSpPr>
          <p:nvPr/>
        </p:nvSpPr>
        <p:spPr>
          <a:xfrm>
            <a:off x="2038350" y="9467850"/>
            <a:ext cx="15621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Solution approaches</a:t>
            </a:r>
          </a:p>
        </p:txBody>
      </p:sp>
      <p:sp>
        <p:nvSpPr>
          <p:cNvPr id="15" name="footer-page">
            <a:extLst>
              <a:ext uri="{FF2B5EF4-FFF2-40B4-BE49-F238E27FC236}">
                <a16:creationId xmlns:a16="http://schemas.microsoft.com/office/drawing/2014/main" id="{061DE31E-7040-4992-9C04-003F05E3AD7D}"/>
              </a:ext>
            </a:extLst>
          </p:cNvPr>
          <p:cNvSpPr>
            <a:spLocks noGrp="1"/>
          </p:cNvSpPr>
          <p:nvPr/>
        </p:nvSpPr>
        <p:spPr>
          <a:xfrm>
            <a:off x="17106900" y="946785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29558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lide-background">
            <a:extLst>
              <a:ext uri="{FF2B5EF4-FFF2-40B4-BE49-F238E27FC236}">
                <a16:creationId xmlns:a16="http://schemas.microsoft.com/office/drawing/2014/main" id="{F7C49C84-B7A2-4A7C-BDDB-9C2064121F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CEB1142E-AB04-4216-93A3-A350263CC190}"/>
              </a:ext>
            </a:extLst>
          </p:cNvPr>
          <p:cNvSpPr>
            <a:spLocks noGrp="1"/>
          </p:cNvSpPr>
          <p:nvPr/>
        </p:nvSpPr>
        <p:spPr>
          <a:xfrm>
            <a:off x="914400" y="628650"/>
            <a:ext cx="704850" cy="17145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Results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692E26E3-3E5D-4FCB-B9B0-1E5E6503F93F}"/>
              </a:ext>
            </a:extLst>
          </p:cNvPr>
          <p:cNvSpPr>
            <a:spLocks noGrp="1"/>
          </p:cNvSpPr>
          <p:nvPr/>
        </p:nvSpPr>
        <p:spPr>
          <a:xfrm>
            <a:off x="914400" y="952500"/>
            <a:ext cx="11982450" cy="1543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BERT performs strongly; review-value detection remains the weakest component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2F510331-D2B4-435F-B334-73DE3F0A95C8}"/>
              </a:ext>
            </a:extLst>
          </p:cNvPr>
          <p:cNvSpPr>
            <a:spLocks noGrp="1"/>
          </p:cNvSpPr>
          <p:nvPr/>
        </p:nvSpPr>
        <p:spPr>
          <a:xfrm>
            <a:off x="914400" y="2628900"/>
            <a:ext cx="121729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Metrics are reported on saved evaluation artifacts and should be interpreted according to the label source for each task.</a:t>
            </a:r>
          </a:p>
        </p:txBody>
      </p:sp>
      <p:sp>
        <p:nvSpPr>
          <p:cNvPr id="5" name="metric-value-BERT sentiment F1">
            <a:extLst>
              <a:ext uri="{FF2B5EF4-FFF2-40B4-BE49-F238E27FC236}">
                <a16:creationId xmlns:a16="http://schemas.microsoft.com/office/drawing/2014/main" id="{81C4F685-169A-4EA5-B874-572610BEA5A5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94310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0000"/>
              </a:lnSpc>
              <a:buNone/>
              <a:defRPr sz="5400" b="1">
                <a:solidFill>
                  <a:srgbClr val="178C80"/>
                </a:solidFill>
                <a:latin typeface="Georgia"/>
                <a:ea typeface="Georgia"/>
                <a:cs typeface="Georgia"/>
              </a:defRPr>
            </a:pPr>
            <a:r>
              <a:rPr sz="5400" b="1">
                <a:solidFill>
                  <a:srgbClr val="178C80"/>
                </a:solidFill>
                <a:latin typeface="Georgia"/>
                <a:ea typeface="Georgia"/>
                <a:cs typeface="Georgia"/>
              </a:rPr>
              <a:t>0.981</a:t>
            </a:r>
          </a:p>
        </p:txBody>
      </p:sp>
      <p:sp>
        <p:nvSpPr>
          <p:cNvPr id="6" name="metric-label-BERT sentiment F1">
            <a:extLst>
              <a:ext uri="{FF2B5EF4-FFF2-40B4-BE49-F238E27FC236}">
                <a16:creationId xmlns:a16="http://schemas.microsoft.com/office/drawing/2014/main" id="{FE41BCED-B259-4E90-BD3F-93B4FE65BF33}"/>
              </a:ext>
            </a:extLst>
          </p:cNvPr>
          <p:cNvSpPr>
            <a:spLocks noGrp="1"/>
          </p:cNvSpPr>
          <p:nvPr/>
        </p:nvSpPr>
        <p:spPr>
          <a:xfrm>
            <a:off x="914400" y="4419600"/>
            <a:ext cx="16192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BERT sentiment F1</a:t>
            </a:r>
          </a:p>
        </p:txBody>
      </p:sp>
      <p:sp>
        <p:nvSpPr>
          <p:cNvPr id="7" name="metric-note-BERT sentiment F1">
            <a:extLst>
              <a:ext uri="{FF2B5EF4-FFF2-40B4-BE49-F238E27FC236}">
                <a16:creationId xmlns:a16="http://schemas.microsoft.com/office/drawing/2014/main" id="{D9315D28-703D-44A9-BBA4-555A8BFDF802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2762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Accuracy 0.966; macro-F1 0.910 on calibrated sentiment labels</a:t>
            </a:r>
          </a:p>
        </p:txBody>
      </p:sp>
      <p:sp>
        <p:nvSpPr>
          <p:cNvPr id="8" name="metric-value-review-value positive F1">
            <a:extLst>
              <a:ext uri="{FF2B5EF4-FFF2-40B4-BE49-F238E27FC236}">
                <a16:creationId xmlns:a16="http://schemas.microsoft.com/office/drawing/2014/main" id="{C37B1100-998D-4423-830E-4E0938216A1C}"/>
              </a:ext>
            </a:extLst>
          </p:cNvPr>
          <p:cNvSpPr>
            <a:spLocks noGrp="1"/>
          </p:cNvSpPr>
          <p:nvPr/>
        </p:nvSpPr>
        <p:spPr>
          <a:xfrm>
            <a:off x="914400" y="5314950"/>
            <a:ext cx="1943100" cy="12382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0000"/>
              </a:lnSpc>
              <a:buNone/>
              <a:defRPr sz="540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540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0.418</a:t>
            </a:r>
          </a:p>
        </p:txBody>
      </p:sp>
      <p:sp>
        <p:nvSpPr>
          <p:cNvPr id="9" name="metric-label-review-value positive F1">
            <a:extLst>
              <a:ext uri="{FF2B5EF4-FFF2-40B4-BE49-F238E27FC236}">
                <a16:creationId xmlns:a16="http://schemas.microsoft.com/office/drawing/2014/main" id="{91E344B6-7F5C-4C55-9C95-187D81594DBF}"/>
              </a:ext>
            </a:extLst>
          </p:cNvPr>
          <p:cNvSpPr>
            <a:spLocks noGrp="1"/>
          </p:cNvSpPr>
          <p:nvPr/>
        </p:nvSpPr>
        <p:spPr>
          <a:xfrm>
            <a:off x="914400" y="6629400"/>
            <a:ext cx="2095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review-value positive F1</a:t>
            </a:r>
          </a:p>
        </p:txBody>
      </p:sp>
      <p:sp>
        <p:nvSpPr>
          <p:cNvPr id="10" name="metric-note-review-value positive F1">
            <a:extLst>
              <a:ext uri="{FF2B5EF4-FFF2-40B4-BE49-F238E27FC236}">
                <a16:creationId xmlns:a16="http://schemas.microsoft.com/office/drawing/2014/main" id="{03F5A179-6FB8-4CEE-B363-B2AAAA2B2D4C}"/>
              </a:ext>
            </a:extLst>
          </p:cNvPr>
          <p:cNvSpPr>
            <a:spLocks noGrp="1"/>
          </p:cNvSpPr>
          <p:nvPr/>
        </p:nvSpPr>
        <p:spPr>
          <a:xfrm>
            <a:off x="914400" y="6858000"/>
            <a:ext cx="30861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Accuracy 0.840, but minority high-value reviews are difficult to detect</a:t>
            </a:r>
          </a:p>
        </p:txBody>
      </p:sp>
      <p:sp>
        <p:nvSpPr>
          <p:cNvPr id="11" name="metric-value-Flan-T5-base ROUGE-L F1">
            <a:extLst>
              <a:ext uri="{FF2B5EF4-FFF2-40B4-BE49-F238E27FC236}">
                <a16:creationId xmlns:a16="http://schemas.microsoft.com/office/drawing/2014/main" id="{F270A9F4-A755-4DE9-8080-3F56C49A37DE}"/>
              </a:ext>
            </a:extLst>
          </p:cNvPr>
          <p:cNvSpPr>
            <a:spLocks noGrp="1"/>
          </p:cNvSpPr>
          <p:nvPr/>
        </p:nvSpPr>
        <p:spPr>
          <a:xfrm>
            <a:off x="914400" y="7505700"/>
            <a:ext cx="194310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0000"/>
              </a:lnSpc>
              <a:buNone/>
              <a:defRPr sz="5400" b="1">
                <a:solidFill>
                  <a:srgbClr val="B98A2E"/>
                </a:solidFill>
                <a:latin typeface="Georgia"/>
                <a:ea typeface="Georgia"/>
                <a:cs typeface="Georgia"/>
              </a:defRPr>
            </a:pPr>
            <a:r>
              <a:rPr sz="5400" b="1">
                <a:solidFill>
                  <a:srgbClr val="B98A2E"/>
                </a:solidFill>
                <a:latin typeface="Georgia"/>
                <a:ea typeface="Georgia"/>
                <a:cs typeface="Georgia"/>
              </a:rPr>
              <a:t>0.373</a:t>
            </a:r>
          </a:p>
        </p:txBody>
      </p:sp>
      <p:sp>
        <p:nvSpPr>
          <p:cNvPr id="12" name="metric-label-Flan-T5-base ROUGE-L F1">
            <a:extLst>
              <a:ext uri="{FF2B5EF4-FFF2-40B4-BE49-F238E27FC236}">
                <a16:creationId xmlns:a16="http://schemas.microsoft.com/office/drawing/2014/main" id="{7AFF9E3A-9254-4447-855A-27C7C8DAB664}"/>
              </a:ext>
            </a:extLst>
          </p:cNvPr>
          <p:cNvSpPr>
            <a:spLocks noGrp="1"/>
          </p:cNvSpPr>
          <p:nvPr/>
        </p:nvSpPr>
        <p:spPr>
          <a:xfrm>
            <a:off x="914400" y="8210550"/>
            <a:ext cx="22098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Flan-T5-base ROUGE-L F1</a:t>
            </a:r>
          </a:p>
        </p:txBody>
      </p:sp>
      <p:sp>
        <p:nvSpPr>
          <p:cNvPr id="13" name="metric-note-Flan-T5-base ROUGE-L F1">
            <a:extLst>
              <a:ext uri="{FF2B5EF4-FFF2-40B4-BE49-F238E27FC236}">
                <a16:creationId xmlns:a16="http://schemas.microsoft.com/office/drawing/2014/main" id="{FBB538D2-0EA0-45EB-8488-11FA7C003324}"/>
              </a:ext>
            </a:extLst>
          </p:cNvPr>
          <p:cNvSpPr>
            <a:spLocks noGrp="1"/>
          </p:cNvSpPr>
          <p:nvPr/>
        </p:nvSpPr>
        <p:spPr>
          <a:xfrm>
            <a:off x="914400" y="8591550"/>
            <a:ext cx="2762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BERTScore F1 0.830 on pseudo-title references</a:t>
            </a:r>
          </a:p>
        </p:txBody>
      </p:sp>
      <p:sp>
        <p:nvSpPr>
          <p:cNvPr id="14" name="table-head-0">
            <a:extLst>
              <a:ext uri="{FF2B5EF4-FFF2-40B4-BE49-F238E27FC236}">
                <a16:creationId xmlns:a16="http://schemas.microsoft.com/office/drawing/2014/main" id="{D4DBC067-E94F-428F-870B-51015793815A}"/>
              </a:ext>
            </a:extLst>
          </p:cNvPr>
          <p:cNvSpPr>
            <a:spLocks noGrp="1"/>
          </p:cNvSpPr>
          <p:nvPr/>
        </p:nvSpPr>
        <p:spPr>
          <a:xfrm>
            <a:off x="8096250" y="4876800"/>
            <a:ext cx="1952625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Task</a:t>
            </a:r>
          </a:p>
        </p:txBody>
      </p:sp>
      <p:sp>
        <p:nvSpPr>
          <p:cNvPr id="15" name="table-head-1">
            <a:extLst>
              <a:ext uri="{FF2B5EF4-FFF2-40B4-BE49-F238E27FC236}">
                <a16:creationId xmlns:a16="http://schemas.microsoft.com/office/drawing/2014/main" id="{3C35E101-726C-4E66-82BB-0D669FEDBCD5}"/>
              </a:ext>
            </a:extLst>
          </p:cNvPr>
          <p:cNvSpPr>
            <a:spLocks noGrp="1"/>
          </p:cNvSpPr>
          <p:nvPr/>
        </p:nvSpPr>
        <p:spPr>
          <a:xfrm>
            <a:off x="10191750" y="4876800"/>
            <a:ext cx="18097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Model</a:t>
            </a:r>
          </a:p>
        </p:txBody>
      </p:sp>
      <p:sp>
        <p:nvSpPr>
          <p:cNvPr id="16" name="table-head-2">
            <a:extLst>
              <a:ext uri="{FF2B5EF4-FFF2-40B4-BE49-F238E27FC236}">
                <a16:creationId xmlns:a16="http://schemas.microsoft.com/office/drawing/2014/main" id="{6CA706FF-6613-4ADC-81E0-739E19228BE2}"/>
              </a:ext>
            </a:extLst>
          </p:cNvPr>
          <p:cNvSpPr>
            <a:spLocks noGrp="1"/>
          </p:cNvSpPr>
          <p:nvPr/>
        </p:nvSpPr>
        <p:spPr>
          <a:xfrm>
            <a:off x="12153900" y="4876800"/>
            <a:ext cx="2143125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Main result</a:t>
            </a:r>
          </a:p>
        </p:txBody>
      </p:sp>
      <p:sp>
        <p:nvSpPr>
          <p:cNvPr id="17" name="table-head-3">
            <a:extLst>
              <a:ext uri="{FF2B5EF4-FFF2-40B4-BE49-F238E27FC236}">
                <a16:creationId xmlns:a16="http://schemas.microsoft.com/office/drawing/2014/main" id="{91366075-781A-4DEA-8AA3-39463D5DEC16}"/>
              </a:ext>
            </a:extLst>
          </p:cNvPr>
          <p:cNvSpPr>
            <a:spLocks noGrp="1"/>
          </p:cNvSpPr>
          <p:nvPr/>
        </p:nvSpPr>
        <p:spPr>
          <a:xfrm>
            <a:off x="14458950" y="4876800"/>
            <a:ext cx="2857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Interpretation</a:t>
            </a:r>
          </a:p>
        </p:txBody>
      </p:sp>
      <p:sp>
        <p:nvSpPr>
          <p:cNvPr id="18" name="table-rule-0">
            <a:extLst>
              <a:ext uri="{FF2B5EF4-FFF2-40B4-BE49-F238E27FC236}">
                <a16:creationId xmlns:a16="http://schemas.microsoft.com/office/drawing/2014/main" id="{78765208-6C6A-4CD3-ABB9-C8AD18094C7E}"/>
              </a:ext>
            </a:extLst>
          </p:cNvPr>
          <p:cNvSpPr>
            <a:spLocks noGrp="1"/>
          </p:cNvSpPr>
          <p:nvPr/>
        </p:nvSpPr>
        <p:spPr>
          <a:xfrm>
            <a:off x="8096250" y="5124450"/>
            <a:ext cx="927735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able-cell-0-0">
            <a:extLst>
              <a:ext uri="{FF2B5EF4-FFF2-40B4-BE49-F238E27FC236}">
                <a16:creationId xmlns:a16="http://schemas.microsoft.com/office/drawing/2014/main" id="{B4E5823F-D0A0-4C80-9196-ED56C47F99A7}"/>
              </a:ext>
            </a:extLst>
          </p:cNvPr>
          <p:cNvSpPr>
            <a:spLocks noGrp="1"/>
          </p:cNvSpPr>
          <p:nvPr/>
        </p:nvSpPr>
        <p:spPr>
          <a:xfrm>
            <a:off x="8096250" y="5314950"/>
            <a:ext cx="19526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 b="1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Review value</a:t>
            </a:r>
          </a:p>
        </p:txBody>
      </p:sp>
      <p:sp>
        <p:nvSpPr>
          <p:cNvPr id="20" name="table-cell-0-1">
            <a:extLst>
              <a:ext uri="{FF2B5EF4-FFF2-40B4-BE49-F238E27FC236}">
                <a16:creationId xmlns:a16="http://schemas.microsoft.com/office/drawing/2014/main" id="{E996E1CC-4540-401F-928C-0190657791B0}"/>
              </a:ext>
            </a:extLst>
          </p:cNvPr>
          <p:cNvSpPr>
            <a:spLocks noGrp="1"/>
          </p:cNvSpPr>
          <p:nvPr/>
        </p:nvSpPr>
        <p:spPr>
          <a:xfrm>
            <a:off x="10191750" y="5314950"/>
            <a:ext cx="18097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TF-IDF + LR</a:t>
            </a:r>
          </a:p>
        </p:txBody>
      </p:sp>
      <p:sp>
        <p:nvSpPr>
          <p:cNvPr id="21" name="table-cell-0-2">
            <a:extLst>
              <a:ext uri="{FF2B5EF4-FFF2-40B4-BE49-F238E27FC236}">
                <a16:creationId xmlns:a16="http://schemas.microsoft.com/office/drawing/2014/main" id="{AE46C1BD-D967-4E64-9D04-E5B01352141E}"/>
              </a:ext>
            </a:extLst>
          </p:cNvPr>
          <p:cNvSpPr>
            <a:spLocks noGrp="1"/>
          </p:cNvSpPr>
          <p:nvPr/>
        </p:nvSpPr>
        <p:spPr>
          <a:xfrm>
            <a:off x="12153900" y="5314950"/>
            <a:ext cx="21431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Acc 0.840; Pos F1 0.418</a:t>
            </a:r>
          </a:p>
        </p:txBody>
      </p:sp>
      <p:sp>
        <p:nvSpPr>
          <p:cNvPr id="22" name="table-cell-0-3">
            <a:extLst>
              <a:ext uri="{FF2B5EF4-FFF2-40B4-BE49-F238E27FC236}">
                <a16:creationId xmlns:a16="http://schemas.microsoft.com/office/drawing/2014/main" id="{F3E37EC3-4124-437C-9D7F-1603880C9DE5}"/>
              </a:ext>
            </a:extLst>
          </p:cNvPr>
          <p:cNvSpPr>
            <a:spLocks noGrp="1"/>
          </p:cNvSpPr>
          <p:nvPr/>
        </p:nvSpPr>
        <p:spPr>
          <a:xfrm>
            <a:off x="14458950" y="5238750"/>
            <a:ext cx="28575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prioritisation signal, not perfect quality detector</a:t>
            </a:r>
          </a:p>
        </p:txBody>
      </p:sp>
      <p:sp>
        <p:nvSpPr>
          <p:cNvPr id="23" name="table-rule-1">
            <a:extLst>
              <a:ext uri="{FF2B5EF4-FFF2-40B4-BE49-F238E27FC236}">
                <a16:creationId xmlns:a16="http://schemas.microsoft.com/office/drawing/2014/main" id="{81EF49A2-6366-4EFE-8AEA-025540A71F9D}"/>
              </a:ext>
            </a:extLst>
          </p:cNvPr>
          <p:cNvSpPr>
            <a:spLocks noGrp="1"/>
          </p:cNvSpPr>
          <p:nvPr/>
        </p:nvSpPr>
        <p:spPr>
          <a:xfrm>
            <a:off x="8096250" y="5657850"/>
            <a:ext cx="927735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able-cell-1-0">
            <a:extLst>
              <a:ext uri="{FF2B5EF4-FFF2-40B4-BE49-F238E27FC236}">
                <a16:creationId xmlns:a16="http://schemas.microsoft.com/office/drawing/2014/main" id="{F4A87288-5541-4024-A8DA-171404855C16}"/>
              </a:ext>
            </a:extLst>
          </p:cNvPr>
          <p:cNvSpPr>
            <a:spLocks noGrp="1"/>
          </p:cNvSpPr>
          <p:nvPr/>
        </p:nvSpPr>
        <p:spPr>
          <a:xfrm>
            <a:off x="8096250" y="5848350"/>
            <a:ext cx="19526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 b="1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Sentiment</a:t>
            </a:r>
          </a:p>
        </p:txBody>
      </p:sp>
      <p:sp>
        <p:nvSpPr>
          <p:cNvPr id="25" name="table-cell-1-1">
            <a:extLst>
              <a:ext uri="{FF2B5EF4-FFF2-40B4-BE49-F238E27FC236}">
                <a16:creationId xmlns:a16="http://schemas.microsoft.com/office/drawing/2014/main" id="{9AC0AB33-3B89-4A42-876A-3A0053FCDB25}"/>
              </a:ext>
            </a:extLst>
          </p:cNvPr>
          <p:cNvSpPr>
            <a:spLocks noGrp="1"/>
          </p:cNvSpPr>
          <p:nvPr/>
        </p:nvSpPr>
        <p:spPr>
          <a:xfrm>
            <a:off x="10191750" y="5848350"/>
            <a:ext cx="18097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BERT</a:t>
            </a:r>
          </a:p>
        </p:txBody>
      </p:sp>
      <p:sp>
        <p:nvSpPr>
          <p:cNvPr id="26" name="table-cell-1-2">
            <a:extLst>
              <a:ext uri="{FF2B5EF4-FFF2-40B4-BE49-F238E27FC236}">
                <a16:creationId xmlns:a16="http://schemas.microsoft.com/office/drawing/2014/main" id="{97730F8A-C0D0-48EC-A1C6-3DD6C1962B06}"/>
              </a:ext>
            </a:extLst>
          </p:cNvPr>
          <p:cNvSpPr>
            <a:spLocks noGrp="1"/>
          </p:cNvSpPr>
          <p:nvPr/>
        </p:nvSpPr>
        <p:spPr>
          <a:xfrm>
            <a:off x="12153900" y="5848350"/>
            <a:ext cx="21431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F1 0.981; Macro-F1 0.910</a:t>
            </a:r>
          </a:p>
        </p:txBody>
      </p:sp>
      <p:sp>
        <p:nvSpPr>
          <p:cNvPr id="27" name="table-cell-1-3">
            <a:extLst>
              <a:ext uri="{FF2B5EF4-FFF2-40B4-BE49-F238E27FC236}">
                <a16:creationId xmlns:a16="http://schemas.microsoft.com/office/drawing/2014/main" id="{650F57A6-A86F-4484-A248-98BB23FDABDE}"/>
              </a:ext>
            </a:extLst>
          </p:cNvPr>
          <p:cNvSpPr>
            <a:spLocks noGrp="1"/>
          </p:cNvSpPr>
          <p:nvPr/>
        </p:nvSpPr>
        <p:spPr>
          <a:xfrm>
            <a:off x="14458950" y="5848350"/>
            <a:ext cx="28575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strong on calibrated labels</a:t>
            </a:r>
          </a:p>
        </p:txBody>
      </p:sp>
      <p:sp>
        <p:nvSpPr>
          <p:cNvPr id="28" name="table-rule-2">
            <a:extLst>
              <a:ext uri="{FF2B5EF4-FFF2-40B4-BE49-F238E27FC236}">
                <a16:creationId xmlns:a16="http://schemas.microsoft.com/office/drawing/2014/main" id="{3D1BCF70-B19C-4BD8-A42C-C70063F9A42F}"/>
              </a:ext>
            </a:extLst>
          </p:cNvPr>
          <p:cNvSpPr>
            <a:spLocks noGrp="1"/>
          </p:cNvSpPr>
          <p:nvPr/>
        </p:nvSpPr>
        <p:spPr>
          <a:xfrm>
            <a:off x="8096250" y="6191250"/>
            <a:ext cx="927735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able-cell-2-0">
            <a:extLst>
              <a:ext uri="{FF2B5EF4-FFF2-40B4-BE49-F238E27FC236}">
                <a16:creationId xmlns:a16="http://schemas.microsoft.com/office/drawing/2014/main" id="{5B29BDF5-4DBE-4387-B921-D81D659E0898}"/>
              </a:ext>
            </a:extLst>
          </p:cNvPr>
          <p:cNvSpPr>
            <a:spLocks noGrp="1"/>
          </p:cNvSpPr>
          <p:nvPr/>
        </p:nvSpPr>
        <p:spPr>
          <a:xfrm>
            <a:off x="8096250" y="6381750"/>
            <a:ext cx="19526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 b="1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Title generation</a:t>
            </a:r>
          </a:p>
        </p:txBody>
      </p:sp>
      <p:sp>
        <p:nvSpPr>
          <p:cNvPr id="30" name="table-cell-2-1">
            <a:extLst>
              <a:ext uri="{FF2B5EF4-FFF2-40B4-BE49-F238E27FC236}">
                <a16:creationId xmlns:a16="http://schemas.microsoft.com/office/drawing/2014/main" id="{DA8C4275-2861-4396-A03C-520C46E37130}"/>
              </a:ext>
            </a:extLst>
          </p:cNvPr>
          <p:cNvSpPr>
            <a:spLocks noGrp="1"/>
          </p:cNvSpPr>
          <p:nvPr/>
        </p:nvSpPr>
        <p:spPr>
          <a:xfrm>
            <a:off x="10191750" y="6381750"/>
            <a:ext cx="18097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Flan-T5-small</a:t>
            </a:r>
          </a:p>
        </p:txBody>
      </p:sp>
      <p:sp>
        <p:nvSpPr>
          <p:cNvPr id="31" name="table-cell-2-2">
            <a:extLst>
              <a:ext uri="{FF2B5EF4-FFF2-40B4-BE49-F238E27FC236}">
                <a16:creationId xmlns:a16="http://schemas.microsoft.com/office/drawing/2014/main" id="{EA004B1A-AD65-4414-A3C9-CB892C41D721}"/>
              </a:ext>
            </a:extLst>
          </p:cNvPr>
          <p:cNvSpPr>
            <a:spLocks noGrp="1"/>
          </p:cNvSpPr>
          <p:nvPr/>
        </p:nvSpPr>
        <p:spPr>
          <a:xfrm>
            <a:off x="12153900" y="6305550"/>
            <a:ext cx="2143125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ROUGE-L 0.306; BERTScore 0.816</a:t>
            </a:r>
          </a:p>
        </p:txBody>
      </p:sp>
      <p:sp>
        <p:nvSpPr>
          <p:cNvPr id="32" name="table-cell-2-3">
            <a:extLst>
              <a:ext uri="{FF2B5EF4-FFF2-40B4-BE49-F238E27FC236}">
                <a16:creationId xmlns:a16="http://schemas.microsoft.com/office/drawing/2014/main" id="{E3D4399A-5523-4E2A-9DE4-48626288A360}"/>
              </a:ext>
            </a:extLst>
          </p:cNvPr>
          <p:cNvSpPr>
            <a:spLocks noGrp="1"/>
          </p:cNvSpPr>
          <p:nvPr/>
        </p:nvSpPr>
        <p:spPr>
          <a:xfrm>
            <a:off x="14458950" y="6381750"/>
            <a:ext cx="28575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student baseline</a:t>
            </a:r>
          </a:p>
        </p:txBody>
      </p:sp>
      <p:sp>
        <p:nvSpPr>
          <p:cNvPr id="33" name="table-rule-3">
            <a:extLst>
              <a:ext uri="{FF2B5EF4-FFF2-40B4-BE49-F238E27FC236}">
                <a16:creationId xmlns:a16="http://schemas.microsoft.com/office/drawing/2014/main" id="{39932B1B-10B7-4880-93D5-C4603F503527}"/>
              </a:ext>
            </a:extLst>
          </p:cNvPr>
          <p:cNvSpPr>
            <a:spLocks noGrp="1"/>
          </p:cNvSpPr>
          <p:nvPr/>
        </p:nvSpPr>
        <p:spPr>
          <a:xfrm>
            <a:off x="8096250" y="6724650"/>
            <a:ext cx="9277350" cy="9525"/>
          </a:xfrm>
          <a:prstGeom prst="rect">
            <a:avLst/>
          </a:prstGeom>
          <a:solidFill>
            <a:srgbClr val="D9E0DD"/>
          </a:solidFill>
          <a:ln w="0">
            <a:solidFill>
              <a:srgbClr val="D9E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able-cell-3-0">
            <a:extLst>
              <a:ext uri="{FF2B5EF4-FFF2-40B4-BE49-F238E27FC236}">
                <a16:creationId xmlns:a16="http://schemas.microsoft.com/office/drawing/2014/main" id="{84FA07EF-B375-4A93-89BC-E32AED0E914B}"/>
              </a:ext>
            </a:extLst>
          </p:cNvPr>
          <p:cNvSpPr>
            <a:spLocks noGrp="1"/>
          </p:cNvSpPr>
          <p:nvPr/>
        </p:nvSpPr>
        <p:spPr>
          <a:xfrm>
            <a:off x="8096250" y="6915150"/>
            <a:ext cx="1952625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 b="1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 b="1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Title generation</a:t>
            </a:r>
          </a:p>
        </p:txBody>
      </p:sp>
      <p:sp>
        <p:nvSpPr>
          <p:cNvPr id="35" name="table-cell-3-1">
            <a:extLst>
              <a:ext uri="{FF2B5EF4-FFF2-40B4-BE49-F238E27FC236}">
                <a16:creationId xmlns:a16="http://schemas.microsoft.com/office/drawing/2014/main" id="{10E7ADA8-4BDB-4462-B78E-F5352439E927}"/>
              </a:ext>
            </a:extLst>
          </p:cNvPr>
          <p:cNvSpPr>
            <a:spLocks noGrp="1"/>
          </p:cNvSpPr>
          <p:nvPr/>
        </p:nvSpPr>
        <p:spPr>
          <a:xfrm>
            <a:off x="10191750" y="6915150"/>
            <a:ext cx="18097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Flan-T5-base</a:t>
            </a:r>
          </a:p>
        </p:txBody>
      </p:sp>
      <p:sp>
        <p:nvSpPr>
          <p:cNvPr id="36" name="table-cell-3-2">
            <a:extLst>
              <a:ext uri="{FF2B5EF4-FFF2-40B4-BE49-F238E27FC236}">
                <a16:creationId xmlns:a16="http://schemas.microsoft.com/office/drawing/2014/main" id="{AB6C27EB-24E6-45C4-882C-F7B35B000546}"/>
              </a:ext>
            </a:extLst>
          </p:cNvPr>
          <p:cNvSpPr>
            <a:spLocks noGrp="1"/>
          </p:cNvSpPr>
          <p:nvPr/>
        </p:nvSpPr>
        <p:spPr>
          <a:xfrm>
            <a:off x="12153900" y="6838950"/>
            <a:ext cx="2143125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ROUGE-L 0.373; BERTScore 0.830</a:t>
            </a:r>
          </a:p>
        </p:txBody>
      </p:sp>
      <p:sp>
        <p:nvSpPr>
          <p:cNvPr id="37" name="table-cell-3-3">
            <a:extLst>
              <a:ext uri="{FF2B5EF4-FFF2-40B4-BE49-F238E27FC236}">
                <a16:creationId xmlns:a16="http://schemas.microsoft.com/office/drawing/2014/main" id="{7B71E914-2298-427E-849F-37233FB75C41}"/>
              </a:ext>
            </a:extLst>
          </p:cNvPr>
          <p:cNvSpPr>
            <a:spLocks noGrp="1"/>
          </p:cNvSpPr>
          <p:nvPr/>
        </p:nvSpPr>
        <p:spPr>
          <a:xfrm>
            <a:off x="14458950" y="6915150"/>
            <a:ext cx="28575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06000"/>
              </a:lnSpc>
              <a:buNone/>
              <a:defRPr sz="1275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275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preferred local title model</a:t>
            </a:r>
          </a:p>
        </p:txBody>
      </p:sp>
      <p:sp>
        <p:nvSpPr>
          <p:cNvPr id="38" name="table-bottom-rule">
            <a:extLst>
              <a:ext uri="{FF2B5EF4-FFF2-40B4-BE49-F238E27FC236}">
                <a16:creationId xmlns:a16="http://schemas.microsoft.com/office/drawing/2014/main" id="{DA0A0444-B1EA-41F3-980E-776268FC7A16}"/>
              </a:ext>
            </a:extLst>
          </p:cNvPr>
          <p:cNvSpPr>
            <a:spLocks noGrp="1"/>
          </p:cNvSpPr>
          <p:nvPr/>
        </p:nvSpPr>
        <p:spPr>
          <a:xfrm>
            <a:off x="8096250" y="7258050"/>
            <a:ext cx="9277350" cy="9525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results-caveat">
            <a:extLst>
              <a:ext uri="{FF2B5EF4-FFF2-40B4-BE49-F238E27FC236}">
                <a16:creationId xmlns:a16="http://schemas.microsoft.com/office/drawing/2014/main" id="{6B98A3C6-5DAB-4E28-8BE8-575E570B47F5}"/>
              </a:ext>
            </a:extLst>
          </p:cNvPr>
          <p:cNvSpPr>
            <a:spLocks noGrp="1"/>
          </p:cNvSpPr>
          <p:nvPr/>
        </p:nvSpPr>
        <p:spPr>
          <a:xfrm>
            <a:off x="8096250" y="7524750"/>
            <a:ext cx="990600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Caveat: helpful votes, rating+VADER labels, and LLM-generated title references are proxies rather than independent human gold standards.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CB9493E9-9CD2-493D-ABCD-CB8DBDFE7AC9}"/>
              </a:ext>
            </a:extLst>
          </p:cNvPr>
          <p:cNvSpPr>
            <a:spLocks noGrp="1"/>
          </p:cNvSpPr>
          <p:nvPr/>
        </p:nvSpPr>
        <p:spPr>
          <a:xfrm>
            <a:off x="914400" y="958215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footer-section">
            <a:extLst>
              <a:ext uri="{FF2B5EF4-FFF2-40B4-BE49-F238E27FC236}">
                <a16:creationId xmlns:a16="http://schemas.microsoft.com/office/drawing/2014/main" id="{4FB4D460-328E-48EE-A329-103BA0A0524B}"/>
              </a:ext>
            </a:extLst>
          </p:cNvPr>
          <p:cNvSpPr>
            <a:spLocks noGrp="1"/>
          </p:cNvSpPr>
          <p:nvPr/>
        </p:nvSpPr>
        <p:spPr>
          <a:xfrm>
            <a:off x="1962150" y="9505950"/>
            <a:ext cx="5524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Results</a:t>
            </a:r>
          </a:p>
        </p:txBody>
      </p:sp>
      <p:sp>
        <p:nvSpPr>
          <p:cNvPr id="42" name="footer-page">
            <a:extLst>
              <a:ext uri="{FF2B5EF4-FFF2-40B4-BE49-F238E27FC236}">
                <a16:creationId xmlns:a16="http://schemas.microsoft.com/office/drawing/2014/main" id="{FF50E6EF-83FE-4ADA-8EEE-75933E4EE375}"/>
              </a:ext>
            </a:extLst>
          </p:cNvPr>
          <p:cNvSpPr>
            <a:spLocks noGrp="1"/>
          </p:cNvSpPr>
          <p:nvPr/>
        </p:nvSpPr>
        <p:spPr>
          <a:xfrm>
            <a:off x="17183100" y="950595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77837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-background">
            <a:extLst>
              <a:ext uri="{FF2B5EF4-FFF2-40B4-BE49-F238E27FC236}">
                <a16:creationId xmlns:a16="http://schemas.microsoft.com/office/drawing/2014/main" id="{CA77829D-97EB-4FFF-9BFB-C2425139D6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8F5"/>
          </a:solidFill>
          <a:ln w="0">
            <a:solidFill>
              <a:srgbClr val="F7F8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kicker">
            <a:extLst>
              <a:ext uri="{FF2B5EF4-FFF2-40B4-BE49-F238E27FC236}">
                <a16:creationId xmlns:a16="http://schemas.microsoft.com/office/drawing/2014/main" id="{E4CE5726-A215-40B6-AE0B-6D696B376D19}"/>
              </a:ext>
            </a:extLst>
          </p:cNvPr>
          <p:cNvSpPr>
            <a:spLocks noGrp="1"/>
          </p:cNvSpPr>
          <p:nvPr/>
        </p:nvSpPr>
        <p:spPr>
          <a:xfrm>
            <a:off x="990600" y="704850"/>
            <a:ext cx="1143000" cy="342900"/>
          </a:xfrm>
          <a:prstGeom prst="rect">
            <a:avLst/>
          </a:prstGeom>
        </p:spPr>
        <p:txBody>
          <a:bodyPr lIns="0" tIns="0" rIns="0" bIns="0"/>
          <a:lstStyle/>
          <a:p>
            <a:pPr algn="l">
              <a:defRPr sz="135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35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Conclusions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C4A7322F-F07A-4933-921C-A4184A229DB7}"/>
              </a:ext>
            </a:extLst>
          </p:cNvPr>
          <p:cNvSpPr>
            <a:spLocks noGrp="1"/>
          </p:cNvSpPr>
          <p:nvPr/>
        </p:nvSpPr>
        <p:spPr>
          <a:xfrm>
            <a:off x="990600" y="1200150"/>
            <a:ext cx="12268200" cy="1028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2000"/>
              </a:lnSpc>
              <a:buNone/>
              <a:defRPr sz="4350" b="1">
                <a:solidFill>
                  <a:srgbClr val="101820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01820"/>
                </a:solidFill>
                <a:latin typeface="Georgia"/>
                <a:ea typeface="Georgia"/>
                <a:cs typeface="Georgia"/>
              </a:rPr>
              <a:t>The project delivers an integrated language processing system</a:t>
            </a:r>
          </a:p>
        </p:txBody>
      </p:sp>
      <p:sp>
        <p:nvSpPr>
          <p:cNvPr id="4" name="slide-subtitle">
            <a:extLst>
              <a:ext uri="{FF2B5EF4-FFF2-40B4-BE49-F238E27FC236}">
                <a16:creationId xmlns:a16="http://schemas.microsoft.com/office/drawing/2014/main" id="{0589960A-6FC0-44F4-8A68-E5752E26F4CC}"/>
              </a:ext>
            </a:extLst>
          </p:cNvPr>
          <p:cNvSpPr>
            <a:spLocks noGrp="1"/>
          </p:cNvSpPr>
          <p:nvPr/>
        </p:nvSpPr>
        <p:spPr>
          <a:xfrm>
            <a:off x="990600" y="2362200"/>
            <a:ext cx="113728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5000"/>
              </a:lnSpc>
              <a:buNone/>
              <a:defRPr sz="18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It combines text classification, sentiment mining, complaint-title generation, and dashboard-based exploration for merchant decision support.</a:t>
            </a:r>
          </a:p>
        </p:txBody>
      </p:sp>
      <p:sp>
        <p:nvSpPr>
          <p:cNvPr id="5" name="bullet-mark-Complete workflow">
            <a:extLst>
              <a:ext uri="{FF2B5EF4-FFF2-40B4-BE49-F238E27FC236}">
                <a16:creationId xmlns:a16="http://schemas.microsoft.com/office/drawing/2014/main" id="{75FDAC7E-7D59-4D4B-A7B0-2F0F77FBD03F}"/>
              </a:ext>
            </a:extLst>
          </p:cNvPr>
          <p:cNvSpPr>
            <a:spLocks noGrp="1"/>
          </p:cNvSpPr>
          <p:nvPr/>
        </p:nvSpPr>
        <p:spPr>
          <a:xfrm>
            <a:off x="990600" y="4724400"/>
            <a:ext cx="85725" cy="304800"/>
          </a:xfrm>
          <a:prstGeom prst="rect">
            <a:avLst/>
          </a:prstGeom>
          <a:solidFill>
            <a:srgbClr val="1E5B7A"/>
          </a:solidFill>
          <a:ln w="0">
            <a:solidFill>
              <a:srgbClr val="1E5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bullet-label-Complete workflow">
            <a:extLst>
              <a:ext uri="{FF2B5EF4-FFF2-40B4-BE49-F238E27FC236}">
                <a16:creationId xmlns:a16="http://schemas.microsoft.com/office/drawing/2014/main" id="{38A61A47-CE9C-4969-901B-A4E3FFE23FA6}"/>
              </a:ext>
            </a:extLst>
          </p:cNvPr>
          <p:cNvSpPr>
            <a:spLocks noGrp="1"/>
          </p:cNvSpPr>
          <p:nvPr/>
        </p:nvSpPr>
        <p:spPr>
          <a:xfrm>
            <a:off x="1257300" y="4724400"/>
            <a:ext cx="16573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Complete workflow</a:t>
            </a:r>
          </a:p>
        </p:txBody>
      </p:sp>
      <p:sp>
        <p:nvSpPr>
          <p:cNvPr id="7" name="bullet-body-Complete workflow">
            <a:extLst>
              <a:ext uri="{FF2B5EF4-FFF2-40B4-BE49-F238E27FC236}">
                <a16:creationId xmlns:a16="http://schemas.microsoft.com/office/drawing/2014/main" id="{3B665601-D91B-4C68-8F53-854E14865E0F}"/>
              </a:ext>
            </a:extLst>
          </p:cNvPr>
          <p:cNvSpPr>
            <a:spLocks noGrp="1"/>
          </p:cNvSpPr>
          <p:nvPr/>
        </p:nvSpPr>
        <p:spPr>
          <a:xfrm>
            <a:off x="1257300" y="5067300"/>
            <a:ext cx="88582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The dashboard connects trained components into a practical review analytics workflow.</a:t>
            </a:r>
          </a:p>
        </p:txBody>
      </p:sp>
      <p:sp>
        <p:nvSpPr>
          <p:cNvPr id="8" name="bullet-mark-Deep learning requirement">
            <a:extLst>
              <a:ext uri="{FF2B5EF4-FFF2-40B4-BE49-F238E27FC236}">
                <a16:creationId xmlns:a16="http://schemas.microsoft.com/office/drawing/2014/main" id="{3B2A98A7-9270-43C2-A106-39A9BC7EE93F}"/>
              </a:ext>
            </a:extLst>
          </p:cNvPr>
          <p:cNvSpPr>
            <a:spLocks noGrp="1"/>
          </p:cNvSpPr>
          <p:nvPr/>
        </p:nvSpPr>
        <p:spPr>
          <a:xfrm>
            <a:off x="990600" y="5867400"/>
            <a:ext cx="85725" cy="304800"/>
          </a:xfrm>
          <a:prstGeom prst="rect">
            <a:avLst/>
          </a:prstGeom>
          <a:solidFill>
            <a:srgbClr val="178C80"/>
          </a:solidFill>
          <a:ln w="0">
            <a:solidFill>
              <a:srgbClr val="178C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bullet-label-Deep learning requirement">
            <a:extLst>
              <a:ext uri="{FF2B5EF4-FFF2-40B4-BE49-F238E27FC236}">
                <a16:creationId xmlns:a16="http://schemas.microsoft.com/office/drawing/2014/main" id="{BE8D6543-8417-4489-BE1F-304E9DAC089E}"/>
              </a:ext>
            </a:extLst>
          </p:cNvPr>
          <p:cNvSpPr>
            <a:spLocks noGrp="1"/>
          </p:cNvSpPr>
          <p:nvPr/>
        </p:nvSpPr>
        <p:spPr>
          <a:xfrm>
            <a:off x="1257300" y="5867400"/>
            <a:ext cx="23050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Deep learning requirement</a:t>
            </a:r>
          </a:p>
        </p:txBody>
      </p:sp>
      <p:sp>
        <p:nvSpPr>
          <p:cNvPr id="10" name="bullet-body-Deep learning requirement">
            <a:extLst>
              <a:ext uri="{FF2B5EF4-FFF2-40B4-BE49-F238E27FC236}">
                <a16:creationId xmlns:a16="http://schemas.microsoft.com/office/drawing/2014/main" id="{E28A307B-8FEE-4E6F-B756-9F39E2548A25}"/>
              </a:ext>
            </a:extLst>
          </p:cNvPr>
          <p:cNvSpPr>
            <a:spLocks noGrp="1"/>
          </p:cNvSpPr>
          <p:nvPr/>
        </p:nvSpPr>
        <p:spPr>
          <a:xfrm>
            <a:off x="1257300" y="6057900"/>
            <a:ext cx="89344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BERT is fine-tuned for sentiment, and Flan-T5 is fine-tuned for complaint-title generation.</a:t>
            </a:r>
          </a:p>
        </p:txBody>
      </p:sp>
      <p:sp>
        <p:nvSpPr>
          <p:cNvPr id="11" name="bullet-mark-Business relevance">
            <a:extLst>
              <a:ext uri="{FF2B5EF4-FFF2-40B4-BE49-F238E27FC236}">
                <a16:creationId xmlns:a16="http://schemas.microsoft.com/office/drawing/2014/main" id="{FC3F4596-E95C-487B-BA3D-0DE60225631A}"/>
              </a:ext>
            </a:extLst>
          </p:cNvPr>
          <p:cNvSpPr>
            <a:spLocks noGrp="1"/>
          </p:cNvSpPr>
          <p:nvPr/>
        </p:nvSpPr>
        <p:spPr>
          <a:xfrm>
            <a:off x="990600" y="6858000"/>
            <a:ext cx="85725" cy="304800"/>
          </a:xfrm>
          <a:prstGeom prst="rect">
            <a:avLst/>
          </a:prstGeom>
          <a:solidFill>
            <a:srgbClr val="B98A2E"/>
          </a:solidFill>
          <a:ln w="0">
            <a:solidFill>
              <a:srgbClr val="B98A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bullet-label-Business relevance">
            <a:extLst>
              <a:ext uri="{FF2B5EF4-FFF2-40B4-BE49-F238E27FC236}">
                <a16:creationId xmlns:a16="http://schemas.microsoft.com/office/drawing/2014/main" id="{E7149541-4AF4-4406-A397-20CF2A1ECCEB}"/>
              </a:ext>
            </a:extLst>
          </p:cNvPr>
          <p:cNvSpPr>
            <a:spLocks noGrp="1"/>
          </p:cNvSpPr>
          <p:nvPr/>
        </p:nvSpPr>
        <p:spPr>
          <a:xfrm>
            <a:off x="1257300" y="6838950"/>
            <a:ext cx="16383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Business relevance</a:t>
            </a:r>
          </a:p>
        </p:txBody>
      </p:sp>
      <p:sp>
        <p:nvSpPr>
          <p:cNvPr id="13" name="bullet-body-Business relevance">
            <a:extLst>
              <a:ext uri="{FF2B5EF4-FFF2-40B4-BE49-F238E27FC236}">
                <a16:creationId xmlns:a16="http://schemas.microsoft.com/office/drawing/2014/main" id="{59CFB9E8-50EE-48DC-8BF7-11097C7DC614}"/>
              </a:ext>
            </a:extLst>
          </p:cNvPr>
          <p:cNvSpPr>
            <a:spLocks noGrp="1"/>
          </p:cNvSpPr>
          <p:nvPr/>
        </p:nvSpPr>
        <p:spPr>
          <a:xfrm>
            <a:off x="1257300" y="7048500"/>
            <a:ext cx="89344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Merchants can prioritise useful reviews, detect negative experience, and scan concise complaint titles.</a:t>
            </a:r>
          </a:p>
        </p:txBody>
      </p:sp>
      <p:sp>
        <p:nvSpPr>
          <p:cNvPr id="14" name="future-title">
            <a:extLst>
              <a:ext uri="{FF2B5EF4-FFF2-40B4-BE49-F238E27FC236}">
                <a16:creationId xmlns:a16="http://schemas.microsoft.com/office/drawing/2014/main" id="{78F7DC53-85B8-4FFD-9A5E-535113D9007B}"/>
              </a:ext>
            </a:extLst>
          </p:cNvPr>
          <p:cNvSpPr>
            <a:spLocks noGrp="1"/>
          </p:cNvSpPr>
          <p:nvPr/>
        </p:nvSpPr>
        <p:spPr>
          <a:xfrm>
            <a:off x="9486900" y="4381500"/>
            <a:ext cx="29337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1E5B7A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1E5B7A"/>
                </a:solidFill>
                <a:latin typeface="Georgia"/>
                <a:ea typeface="Georgia"/>
                <a:cs typeface="Georgia"/>
              </a:rPr>
              <a:t>Future work</a:t>
            </a:r>
          </a:p>
        </p:txBody>
      </p:sp>
      <p:sp>
        <p:nvSpPr>
          <p:cNvPr id="15" name="bullet-mark-Human annotation">
            <a:extLst>
              <a:ext uri="{FF2B5EF4-FFF2-40B4-BE49-F238E27FC236}">
                <a16:creationId xmlns:a16="http://schemas.microsoft.com/office/drawing/2014/main" id="{68313134-2ED9-4252-96C8-CDD72E1F632C}"/>
              </a:ext>
            </a:extLst>
          </p:cNvPr>
          <p:cNvSpPr>
            <a:spLocks noGrp="1"/>
          </p:cNvSpPr>
          <p:nvPr/>
        </p:nvSpPr>
        <p:spPr>
          <a:xfrm>
            <a:off x="9486900" y="5067300"/>
            <a:ext cx="85725" cy="304800"/>
          </a:xfrm>
          <a:prstGeom prst="rect">
            <a:avLst/>
          </a:prstGeom>
          <a:solidFill>
            <a:srgbClr val="1E5B7A"/>
          </a:solidFill>
          <a:ln w="0">
            <a:solidFill>
              <a:srgbClr val="1E5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bullet-label-Human annotation">
            <a:extLst>
              <a:ext uri="{FF2B5EF4-FFF2-40B4-BE49-F238E27FC236}">
                <a16:creationId xmlns:a16="http://schemas.microsoft.com/office/drawing/2014/main" id="{4D592F1A-FC04-4510-9CB6-7A9FD7145A0D}"/>
              </a:ext>
            </a:extLst>
          </p:cNvPr>
          <p:cNvSpPr>
            <a:spLocks noGrp="1"/>
          </p:cNvSpPr>
          <p:nvPr/>
        </p:nvSpPr>
        <p:spPr>
          <a:xfrm>
            <a:off x="9734550" y="5067300"/>
            <a:ext cx="15811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Human annotation</a:t>
            </a:r>
          </a:p>
        </p:txBody>
      </p:sp>
      <p:sp>
        <p:nvSpPr>
          <p:cNvPr id="17" name="bullet-body-Human annotation">
            <a:extLst>
              <a:ext uri="{FF2B5EF4-FFF2-40B4-BE49-F238E27FC236}">
                <a16:creationId xmlns:a16="http://schemas.microsoft.com/office/drawing/2014/main" id="{1CDAD50F-266D-4AFF-A11B-F4A13CA615AE}"/>
              </a:ext>
            </a:extLst>
          </p:cNvPr>
          <p:cNvSpPr>
            <a:spLocks noGrp="1"/>
          </p:cNvSpPr>
          <p:nvPr/>
        </p:nvSpPr>
        <p:spPr>
          <a:xfrm>
            <a:off x="9734550" y="5257800"/>
            <a:ext cx="90678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Add a small gold-standard evaluation set for review value, sentiment, and title quality.</a:t>
            </a:r>
          </a:p>
        </p:txBody>
      </p:sp>
      <p:sp>
        <p:nvSpPr>
          <p:cNvPr id="18" name="bullet-mark-Model improvement">
            <a:extLst>
              <a:ext uri="{FF2B5EF4-FFF2-40B4-BE49-F238E27FC236}">
                <a16:creationId xmlns:a16="http://schemas.microsoft.com/office/drawing/2014/main" id="{C548D8C6-0CF5-445D-BAD9-8780AB9C84AE}"/>
              </a:ext>
            </a:extLst>
          </p:cNvPr>
          <p:cNvSpPr>
            <a:spLocks noGrp="1"/>
          </p:cNvSpPr>
          <p:nvPr/>
        </p:nvSpPr>
        <p:spPr>
          <a:xfrm>
            <a:off x="9486900" y="6057900"/>
            <a:ext cx="85725" cy="304800"/>
          </a:xfrm>
          <a:prstGeom prst="rect">
            <a:avLst/>
          </a:prstGeom>
          <a:solidFill>
            <a:srgbClr val="178C80"/>
          </a:solidFill>
          <a:ln w="0">
            <a:solidFill>
              <a:srgbClr val="178C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bullet-label-Model improvement">
            <a:extLst>
              <a:ext uri="{FF2B5EF4-FFF2-40B4-BE49-F238E27FC236}">
                <a16:creationId xmlns:a16="http://schemas.microsoft.com/office/drawing/2014/main" id="{6DEAE625-F54D-4B58-A255-9270E6470D97}"/>
              </a:ext>
            </a:extLst>
          </p:cNvPr>
          <p:cNvSpPr>
            <a:spLocks noGrp="1"/>
          </p:cNvSpPr>
          <p:nvPr/>
        </p:nvSpPr>
        <p:spPr>
          <a:xfrm>
            <a:off x="9734550" y="6057900"/>
            <a:ext cx="16954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Model improvement</a:t>
            </a:r>
          </a:p>
        </p:txBody>
      </p:sp>
      <p:sp>
        <p:nvSpPr>
          <p:cNvPr id="20" name="bullet-body-Model improvement">
            <a:extLst>
              <a:ext uri="{FF2B5EF4-FFF2-40B4-BE49-F238E27FC236}">
                <a16:creationId xmlns:a16="http://schemas.microsoft.com/office/drawing/2014/main" id="{EDFA138F-C57C-482F-99A1-5DB388034906}"/>
              </a:ext>
            </a:extLst>
          </p:cNvPr>
          <p:cNvSpPr>
            <a:spLocks noGrp="1"/>
          </p:cNvSpPr>
          <p:nvPr/>
        </p:nvSpPr>
        <p:spPr>
          <a:xfrm>
            <a:off x="9734550" y="6400800"/>
            <a:ext cx="86487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Improve high-value review detection and compare Logistic Regression with neural classifiers.</a:t>
            </a:r>
          </a:p>
        </p:txBody>
      </p:sp>
      <p:sp>
        <p:nvSpPr>
          <p:cNvPr id="21" name="bullet-mark-System validation">
            <a:extLst>
              <a:ext uri="{FF2B5EF4-FFF2-40B4-BE49-F238E27FC236}">
                <a16:creationId xmlns:a16="http://schemas.microsoft.com/office/drawing/2014/main" id="{8B51AA57-9D27-41C2-933A-3AA4D3E0183D}"/>
              </a:ext>
            </a:extLst>
          </p:cNvPr>
          <p:cNvSpPr>
            <a:spLocks noGrp="1"/>
          </p:cNvSpPr>
          <p:nvPr/>
        </p:nvSpPr>
        <p:spPr>
          <a:xfrm>
            <a:off x="9486900" y="7200900"/>
            <a:ext cx="85725" cy="304800"/>
          </a:xfrm>
          <a:prstGeom prst="rect">
            <a:avLst/>
          </a:prstGeom>
          <a:solidFill>
            <a:srgbClr val="6C8B5F"/>
          </a:solidFill>
          <a:ln w="0">
            <a:solidFill>
              <a:srgbClr val="6C8B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bullet-label-System validation">
            <a:extLst>
              <a:ext uri="{FF2B5EF4-FFF2-40B4-BE49-F238E27FC236}">
                <a16:creationId xmlns:a16="http://schemas.microsoft.com/office/drawing/2014/main" id="{50637E36-469B-45C3-81C7-D137513427EF}"/>
              </a:ext>
            </a:extLst>
          </p:cNvPr>
          <p:cNvSpPr>
            <a:spLocks noGrp="1"/>
          </p:cNvSpPr>
          <p:nvPr/>
        </p:nvSpPr>
        <p:spPr>
          <a:xfrm>
            <a:off x="9734550" y="7181850"/>
            <a:ext cx="15240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1E5B7A"/>
                </a:solidFill>
                <a:latin typeface="Verdana"/>
                <a:ea typeface="Verdana"/>
                <a:cs typeface="Verdana"/>
              </a:defRPr>
            </a:pPr>
            <a:r>
              <a:rPr sz="1200" b="1">
                <a:solidFill>
                  <a:srgbClr val="1E5B7A"/>
                </a:solidFill>
                <a:latin typeface="Verdana"/>
                <a:ea typeface="Verdana"/>
                <a:cs typeface="Verdana"/>
              </a:rPr>
              <a:t>System validation</a:t>
            </a:r>
          </a:p>
        </p:txBody>
      </p:sp>
      <p:sp>
        <p:nvSpPr>
          <p:cNvPr id="23" name="bullet-body-System validation">
            <a:extLst>
              <a:ext uri="{FF2B5EF4-FFF2-40B4-BE49-F238E27FC236}">
                <a16:creationId xmlns:a16="http://schemas.microsoft.com/office/drawing/2014/main" id="{55D20CF5-0FBD-4806-87A2-C94CF801A276}"/>
              </a:ext>
            </a:extLst>
          </p:cNvPr>
          <p:cNvSpPr>
            <a:spLocks noGrp="1"/>
          </p:cNvSpPr>
          <p:nvPr/>
        </p:nvSpPr>
        <p:spPr>
          <a:xfrm>
            <a:off x="9734550" y="7391400"/>
            <a:ext cx="85915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  <a:defRPr sz="1800">
                <a:solidFill>
                  <a:srgbClr val="101820"/>
                </a:solidFill>
                <a:latin typeface="Verdana"/>
                <a:ea typeface="Verdana"/>
                <a:cs typeface="Verdana"/>
              </a:defRPr>
            </a:pPr>
            <a:r>
              <a:rPr sz="1800">
                <a:solidFill>
                  <a:srgbClr val="101820"/>
                </a:solidFill>
                <a:latin typeface="Verdana"/>
                <a:ea typeface="Verdana"/>
                <a:cs typeface="Verdana"/>
              </a:rPr>
              <a:t>Evaluate dashboard usability, expand categories, and strengthen Merchant Copilot grounding.</a:t>
            </a:r>
          </a:p>
        </p:txBody>
      </p:sp>
      <p:sp>
        <p:nvSpPr>
          <p:cNvPr id="24" name="footer-rule">
            <a:extLst>
              <a:ext uri="{FF2B5EF4-FFF2-40B4-BE49-F238E27FC236}">
                <a16:creationId xmlns:a16="http://schemas.microsoft.com/office/drawing/2014/main" id="{01118029-3F20-4191-88EE-6A561281D96E}"/>
              </a:ext>
            </a:extLst>
          </p:cNvPr>
          <p:cNvSpPr>
            <a:spLocks noGrp="1"/>
          </p:cNvSpPr>
          <p:nvPr/>
        </p:nvSpPr>
        <p:spPr>
          <a:xfrm>
            <a:off x="990600" y="9505950"/>
            <a:ext cx="914400" cy="19050"/>
          </a:xfrm>
          <a:prstGeom prst="rect">
            <a:avLst/>
          </a:prstGeom>
          <a:solidFill>
            <a:srgbClr val="A9B8B0"/>
          </a:solidFill>
          <a:ln w="0">
            <a:solidFill>
              <a:srgbClr val="A9B8B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footer-section">
            <a:extLst>
              <a:ext uri="{FF2B5EF4-FFF2-40B4-BE49-F238E27FC236}">
                <a16:creationId xmlns:a16="http://schemas.microsoft.com/office/drawing/2014/main" id="{23E5A10C-BD49-4D0E-BE3A-0D804C4A00E7}"/>
              </a:ext>
            </a:extLst>
          </p:cNvPr>
          <p:cNvSpPr>
            <a:spLocks noGrp="1"/>
          </p:cNvSpPr>
          <p:nvPr/>
        </p:nvSpPr>
        <p:spPr>
          <a:xfrm>
            <a:off x="2038350" y="9429750"/>
            <a:ext cx="89535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52616B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52616B"/>
                </a:solidFill>
                <a:latin typeface="Verdana"/>
                <a:ea typeface="Verdana"/>
                <a:cs typeface="Verdana"/>
              </a:rPr>
              <a:t>Conclusions</a:t>
            </a:r>
          </a:p>
        </p:txBody>
      </p:sp>
      <p:sp>
        <p:nvSpPr>
          <p:cNvPr id="26" name="footer-page">
            <a:extLst>
              <a:ext uri="{FF2B5EF4-FFF2-40B4-BE49-F238E27FC236}">
                <a16:creationId xmlns:a16="http://schemas.microsoft.com/office/drawing/2014/main" id="{6C11C179-09EC-416A-9947-C1DEC5ECEFBC}"/>
              </a:ext>
            </a:extLst>
          </p:cNvPr>
          <p:cNvSpPr>
            <a:spLocks noGrp="1"/>
          </p:cNvSpPr>
          <p:nvPr/>
        </p:nvSpPr>
        <p:spPr>
          <a:xfrm>
            <a:off x="17106900" y="9429750"/>
            <a:ext cx="190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lnSpc>
                <a:spcPct val="110000"/>
              </a:lnSpc>
              <a:buNone/>
              <a:defRPr sz="1200">
                <a:solidFill>
                  <a:srgbClr val="A9B8B0"/>
                </a:solidFill>
                <a:latin typeface="Verdana"/>
                <a:ea typeface="Verdana"/>
                <a:cs typeface="Verdana"/>
              </a:defRPr>
            </a:pPr>
            <a:r>
              <a:rPr sz="1200">
                <a:solidFill>
                  <a:srgbClr val="A9B8B0"/>
                </a:solidFill>
                <a:latin typeface="Verdana"/>
                <a:ea typeface="Verdana"/>
                <a:cs typeface="Verdan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34842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810</Words>
  <Application>Microsoft Macintosh PowerPoint</Application>
  <DocSecurity>0</DocSecurity>
  <PresentationFormat>自定义</PresentationFormat>
  <Paragraphs>140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Calibri</vt:lpstr>
      <vt:lpstr>Georgia</vt:lpstr>
      <vt:lpstr>Verdana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奕森 赵</cp:lastModifiedBy>
  <cp:revision>1</cp:revision>
  <dcterms:created xsi:type="dcterms:W3CDTF">2026-04-26T15:58:01Z</dcterms:created>
  <dcterms:modified xsi:type="dcterms:W3CDTF">2026-04-26T15:59:51Z</dcterms:modified>
</cp:coreProperties>
</file>