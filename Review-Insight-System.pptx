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p:cViewPr varScale="1">
        <p:scale>
          <a:sx n="74" d="100"/>
          <a:sy n="74" d="100"/>
        </p:scale>
        <p:origin x="6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left-field">
            <a:extLst>
              <a:ext uri="{FF2B5EF4-FFF2-40B4-BE49-F238E27FC236}">
                <a16:creationId xmlns:a16="http://schemas.microsoft.com/office/drawing/2014/main" id="{A0D621FC-E9AD-4E04-8008-241E960BB51C}"/>
              </a:ext>
            </a:extLst>
          </p:cNvPr>
          <p:cNvSpPr>
            <a:spLocks noGrp="1"/>
          </p:cNvSpPr>
          <p:nvPr/>
        </p:nvSpPr>
        <p:spPr>
          <a:xfrm>
            <a:off x="0" y="0"/>
            <a:ext cx="3143250" cy="10287000"/>
          </a:xfrm>
          <a:prstGeom prst="rect">
            <a:avLst/>
          </a:prstGeom>
          <a:solidFill>
            <a:srgbClr val="D9EAF1"/>
          </a:solidFill>
          <a:ln w="0">
            <a:solidFill>
              <a:srgbClr val="D9EAF1"/>
            </a:solidFill>
            <a:prstDash val="solid"/>
          </a:ln>
        </p:spPr>
        <p:txBody>
          <a:bodyPr/>
          <a:lstStyle/>
          <a:p>
            <a:endParaRPr/>
          </a:p>
        </p:txBody>
      </p:sp>
      <p:sp>
        <p:nvSpPr>
          <p:cNvPr id="3" name="cover-left-accent">
            <a:extLst>
              <a:ext uri="{FF2B5EF4-FFF2-40B4-BE49-F238E27FC236}">
                <a16:creationId xmlns:a16="http://schemas.microsoft.com/office/drawing/2014/main" id="{9B8C1836-950C-4F5C-875E-A2DD7DECEB44}"/>
              </a:ext>
            </a:extLst>
          </p:cNvPr>
          <p:cNvSpPr>
            <a:spLocks noGrp="1"/>
          </p:cNvSpPr>
          <p:nvPr/>
        </p:nvSpPr>
        <p:spPr>
          <a:xfrm>
            <a:off x="0" y="0"/>
            <a:ext cx="285750" cy="10287000"/>
          </a:xfrm>
          <a:prstGeom prst="rect">
            <a:avLst/>
          </a:prstGeom>
          <a:solidFill>
            <a:srgbClr val="1E5B7A"/>
          </a:solidFill>
          <a:ln w="0">
            <a:solidFill>
              <a:srgbClr val="1E5B7A"/>
            </a:solidFill>
            <a:prstDash val="solid"/>
          </a:ln>
        </p:spPr>
        <p:txBody>
          <a:bodyPr/>
          <a:lstStyle/>
          <a:p>
            <a:endParaRPr/>
          </a:p>
        </p:txBody>
      </p:sp>
      <p:sp>
        <p:nvSpPr>
          <p:cNvPr id="4" name="cover-eyebrow">
            <a:extLst>
              <a:ext uri="{FF2B5EF4-FFF2-40B4-BE49-F238E27FC236}">
                <a16:creationId xmlns:a16="http://schemas.microsoft.com/office/drawing/2014/main" id="{EEEA1DB8-CA08-4B8F-B91D-08F131BD4180}"/>
              </a:ext>
            </a:extLst>
          </p:cNvPr>
          <p:cNvSpPr>
            <a:spLocks noGrp="1"/>
          </p:cNvSpPr>
          <p:nvPr/>
        </p:nvSpPr>
        <p:spPr>
          <a:xfrm>
            <a:off x="1028700" y="3886200"/>
            <a:ext cx="3695700" cy="171450"/>
          </a:xfrm>
          <a:prstGeom prst="rect">
            <a:avLst/>
          </a:prstGeom>
        </p:spPr>
        <p:txBody>
          <a:bodyPr lIns="0" tIns="0" rIns="0" bIns="0"/>
          <a:lstStyle/>
          <a:p>
            <a:pPr algn="l">
              <a:buNone/>
              <a:defRPr sz="1350" b="1">
                <a:solidFill>
                  <a:srgbClr val="178C80"/>
                </a:solidFill>
                <a:latin typeface="Verdana"/>
                <a:ea typeface="Verdana"/>
                <a:cs typeface="Verdana"/>
              </a:defRPr>
            </a:pPr>
            <a:r>
              <a:rPr sz="1350" b="1">
                <a:solidFill>
                  <a:srgbClr val="178C80"/>
                </a:solidFill>
                <a:latin typeface="Verdana"/>
                <a:ea typeface="Verdana"/>
                <a:cs typeface="Verdana"/>
              </a:rPr>
              <a:t>Practical Language Processing Project</a:t>
            </a:r>
          </a:p>
        </p:txBody>
      </p:sp>
      <p:sp>
        <p:nvSpPr>
          <p:cNvPr id="5" name="cover-title">
            <a:extLst>
              <a:ext uri="{FF2B5EF4-FFF2-40B4-BE49-F238E27FC236}">
                <a16:creationId xmlns:a16="http://schemas.microsoft.com/office/drawing/2014/main" id="{E7E2E03E-4475-46D9-8245-84BA84A3E4B8}"/>
              </a:ext>
            </a:extLst>
          </p:cNvPr>
          <p:cNvSpPr>
            <a:spLocks noGrp="1"/>
          </p:cNvSpPr>
          <p:nvPr/>
        </p:nvSpPr>
        <p:spPr>
          <a:xfrm>
            <a:off x="1028700" y="4267200"/>
            <a:ext cx="9277350" cy="723900"/>
          </a:xfrm>
          <a:prstGeom prst="rect">
            <a:avLst/>
          </a:prstGeom>
        </p:spPr>
        <p:txBody>
          <a:bodyPr lIns="0" tIns="0" rIns="0" bIns="0"/>
          <a:lstStyle/>
          <a:p>
            <a:pPr>
              <a:lnSpc>
                <a:spcPct val="90000"/>
              </a:lnSpc>
              <a:buNone/>
              <a:defRPr sz="6300" b="1">
                <a:solidFill>
                  <a:srgbClr val="101820"/>
                </a:solidFill>
                <a:latin typeface="Georgia"/>
                <a:ea typeface="Georgia"/>
                <a:cs typeface="Georgia"/>
              </a:defRPr>
            </a:pPr>
            <a:r>
              <a:rPr sz="6300" b="1">
                <a:solidFill>
                  <a:srgbClr val="101820"/>
                </a:solidFill>
                <a:latin typeface="Georgia"/>
                <a:ea typeface="Georgia"/>
                <a:cs typeface="Georgia"/>
              </a:rPr>
              <a:t>Review Insight System</a:t>
            </a:r>
          </a:p>
        </p:txBody>
      </p:sp>
      <p:sp>
        <p:nvSpPr>
          <p:cNvPr id="6" name="cover-subtitle">
            <a:extLst>
              <a:ext uri="{FF2B5EF4-FFF2-40B4-BE49-F238E27FC236}">
                <a16:creationId xmlns:a16="http://schemas.microsoft.com/office/drawing/2014/main" id="{A932AE0F-AFEE-4BE8-B7BE-9CAA3FA1AEAF}"/>
              </a:ext>
            </a:extLst>
          </p:cNvPr>
          <p:cNvSpPr>
            <a:spLocks noGrp="1"/>
          </p:cNvSpPr>
          <p:nvPr/>
        </p:nvSpPr>
        <p:spPr>
          <a:xfrm>
            <a:off x="1028700" y="5200650"/>
            <a:ext cx="8439150" cy="628650"/>
          </a:xfrm>
          <a:prstGeom prst="rect">
            <a:avLst/>
          </a:prstGeom>
        </p:spPr>
        <p:txBody>
          <a:bodyPr lIns="0" tIns="0" rIns="0" bIns="0"/>
          <a:lstStyle/>
          <a:p>
            <a:pPr>
              <a:lnSpc>
                <a:spcPct val="115000"/>
              </a:lnSpc>
              <a:buNone/>
              <a:defRPr sz="2100">
                <a:solidFill>
                  <a:srgbClr val="52616B"/>
                </a:solidFill>
                <a:latin typeface="Verdana"/>
                <a:ea typeface="Verdana"/>
                <a:cs typeface="Verdana"/>
              </a:defRPr>
            </a:pPr>
            <a:r>
              <a:rPr sz="2100">
                <a:solidFill>
                  <a:srgbClr val="52616B"/>
                </a:solidFill>
                <a:latin typeface="Verdana"/>
                <a:ea typeface="Verdana"/>
                <a:cs typeface="Verdana"/>
              </a:rPr>
              <a:t>Business-oriented language processing for e-commerce review analytics</a:t>
            </a:r>
          </a:p>
        </p:txBody>
      </p:sp>
      <p:sp>
        <p:nvSpPr>
          <p:cNvPr id="7" name="accent-rule">
            <a:extLst>
              <a:ext uri="{FF2B5EF4-FFF2-40B4-BE49-F238E27FC236}">
                <a16:creationId xmlns:a16="http://schemas.microsoft.com/office/drawing/2014/main" id="{259449BA-038B-477D-B97D-1087FBDB3B89}"/>
              </a:ext>
            </a:extLst>
          </p:cNvPr>
          <p:cNvSpPr>
            <a:spLocks noGrp="1"/>
          </p:cNvSpPr>
          <p:nvPr/>
        </p:nvSpPr>
        <p:spPr>
          <a:xfrm>
            <a:off x="1028700" y="6019800"/>
            <a:ext cx="1809750" cy="47625"/>
          </a:xfrm>
          <a:prstGeom prst="rect">
            <a:avLst/>
          </a:prstGeom>
          <a:solidFill>
            <a:srgbClr val="B98A2E"/>
          </a:solidFill>
          <a:ln w="0">
            <a:solidFill>
              <a:srgbClr val="B98A2E"/>
            </a:solidFill>
            <a:prstDash val="solid"/>
          </a:ln>
        </p:spPr>
        <p:txBody>
          <a:bodyPr/>
          <a:lstStyle/>
          <a:p>
            <a:endParaRPr/>
          </a:p>
        </p:txBody>
      </p:sp>
      <p:sp>
        <p:nvSpPr>
          <p:cNvPr id="17" name="cover-source">
            <a:extLst>
              <a:ext uri="{FF2B5EF4-FFF2-40B4-BE49-F238E27FC236}">
                <a16:creationId xmlns:a16="http://schemas.microsoft.com/office/drawing/2014/main" id="{DE34F2FA-2AAD-427B-A504-0B2FABB1D6BF}"/>
              </a:ext>
            </a:extLst>
          </p:cNvPr>
          <p:cNvSpPr>
            <a:spLocks noGrp="1"/>
          </p:cNvSpPr>
          <p:nvPr/>
        </p:nvSpPr>
        <p:spPr>
          <a:xfrm>
            <a:off x="1028700" y="9124950"/>
            <a:ext cx="2438400" cy="342900"/>
          </a:xfrm>
          <a:prstGeom prst="rect">
            <a:avLst/>
          </a:prstGeom>
        </p:spPr>
        <p:txBody>
          <a:bodyPr lIns="0" tIns="0" rIns="0" bIns="0"/>
          <a:lstStyle/>
          <a:p>
            <a:pPr>
              <a:lnSpc>
                <a:spcPct val="110000"/>
              </a:lnSpc>
              <a:buNone/>
              <a:defRPr sz="1200">
                <a:solidFill>
                  <a:srgbClr val="52616B"/>
                </a:solidFill>
                <a:latin typeface="Verdana"/>
                <a:ea typeface="Verdana"/>
                <a:cs typeface="Verdana"/>
              </a:defRPr>
            </a:pPr>
            <a:endParaRPr/>
          </a:p>
        </p:txBody>
      </p:sp>
      <p:sp>
        <p:nvSpPr>
          <p:cNvPr id="18" name="cover-project">
            <a:extLst>
              <a:ext uri="{FF2B5EF4-FFF2-40B4-BE49-F238E27FC236}">
                <a16:creationId xmlns:a16="http://schemas.microsoft.com/office/drawing/2014/main" id="{A62C3EB9-8A8B-47FF-9187-5DCFFE9F9B76}"/>
              </a:ext>
            </a:extLst>
          </p:cNvPr>
          <p:cNvSpPr>
            <a:spLocks noGrp="1"/>
          </p:cNvSpPr>
          <p:nvPr/>
        </p:nvSpPr>
        <p:spPr>
          <a:xfrm>
            <a:off x="15506700" y="9124950"/>
            <a:ext cx="1752600" cy="342900"/>
          </a:xfrm>
          <a:prstGeom prst="rect">
            <a:avLst/>
          </a:prstGeom>
        </p:spPr>
        <p:txBody>
          <a:bodyPr lIns="0" tIns="0" rIns="0" bIns="0"/>
          <a:lstStyle/>
          <a:p>
            <a:pPr>
              <a:lnSpc>
                <a:spcPct val="110000"/>
              </a:lnSpc>
              <a:buNone/>
              <a:defRPr sz="1200">
                <a:solidFill>
                  <a:srgbClr val="52616B"/>
                </a:solidFill>
                <a:latin typeface="Verdana"/>
                <a:ea typeface="Verdana"/>
                <a:cs typeface="Verdana"/>
              </a:defRPr>
            </a:pPr>
            <a:r>
              <a:rPr sz="1200">
                <a:solidFill>
                  <a:srgbClr val="52616B"/>
                </a:solidFill>
                <a:latin typeface="Verdana"/>
                <a:ea typeface="Verdana"/>
                <a:cs typeface="Verdana"/>
              </a:rPr>
              <a:t>Review Insight System</a:t>
            </a:r>
          </a:p>
        </p:txBody>
      </p:sp>
    </p:spTree>
    <p:extLst>
      <p:ext uri="{BB962C8B-B14F-4D97-AF65-F5344CB8AC3E}">
        <p14:creationId xmlns:p14="http://schemas.microsoft.com/office/powerpoint/2010/main" val="949101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left-field">
            <a:extLst>
              <a:ext uri="{FF2B5EF4-FFF2-40B4-BE49-F238E27FC236}">
                <a16:creationId xmlns:a16="http://schemas.microsoft.com/office/drawing/2014/main" id="{9F431C54-0E3D-3CA2-DDD7-AD3B45170130}"/>
              </a:ext>
            </a:extLst>
          </p:cNvPr>
          <p:cNvSpPr>
            <a:spLocks noGrp="1"/>
          </p:cNvSpPr>
          <p:nvPr/>
        </p:nvSpPr>
        <p:spPr>
          <a:xfrm>
            <a:off x="0" y="0"/>
            <a:ext cx="3143250" cy="10287000"/>
          </a:xfrm>
          <a:prstGeom prst="rect">
            <a:avLst/>
          </a:prstGeom>
          <a:solidFill>
            <a:srgbClr val="D9EAF1"/>
          </a:solidFill>
          <a:ln w="0">
            <a:solidFill>
              <a:srgbClr val="D9EAF1"/>
            </a:solidFill>
            <a:prstDash val="solid"/>
          </a:ln>
        </p:spPr>
        <p:txBody>
          <a:bodyPr/>
          <a:lstStyle/>
          <a:p>
            <a:endParaRPr/>
          </a:p>
        </p:txBody>
      </p:sp>
      <p:sp>
        <p:nvSpPr>
          <p:cNvPr id="3" name="cover-left-accent">
            <a:extLst>
              <a:ext uri="{FF2B5EF4-FFF2-40B4-BE49-F238E27FC236}">
                <a16:creationId xmlns:a16="http://schemas.microsoft.com/office/drawing/2014/main" id="{FF7CDB3F-0F98-6D1A-53CA-5FA2909AC4FC}"/>
              </a:ext>
            </a:extLst>
          </p:cNvPr>
          <p:cNvSpPr>
            <a:spLocks noGrp="1"/>
          </p:cNvSpPr>
          <p:nvPr/>
        </p:nvSpPr>
        <p:spPr>
          <a:xfrm>
            <a:off x="0" y="0"/>
            <a:ext cx="285750" cy="10287000"/>
          </a:xfrm>
          <a:prstGeom prst="rect">
            <a:avLst/>
          </a:prstGeom>
          <a:solidFill>
            <a:srgbClr val="1E5B7A"/>
          </a:solidFill>
          <a:ln w="0">
            <a:solidFill>
              <a:srgbClr val="1E5B7A"/>
            </a:solidFill>
            <a:prstDash val="solid"/>
          </a:ln>
        </p:spPr>
        <p:txBody>
          <a:bodyPr/>
          <a:lstStyle/>
          <a:p>
            <a:endParaRPr/>
          </a:p>
        </p:txBody>
      </p:sp>
      <p:sp>
        <p:nvSpPr>
          <p:cNvPr id="4" name="slide-kicker">
            <a:extLst>
              <a:ext uri="{FF2B5EF4-FFF2-40B4-BE49-F238E27FC236}">
                <a16:creationId xmlns:a16="http://schemas.microsoft.com/office/drawing/2014/main" id="{E767E7B0-4905-CFF2-14F4-71AA661FC78D}"/>
              </a:ext>
            </a:extLst>
          </p:cNvPr>
          <p:cNvSpPr>
            <a:spLocks noGrp="1"/>
          </p:cNvSpPr>
          <p:nvPr/>
        </p:nvSpPr>
        <p:spPr>
          <a:xfrm>
            <a:off x="3958089" y="2130941"/>
            <a:ext cx="5185913" cy="552450"/>
          </a:xfrm>
          <a:prstGeom prst="rect">
            <a:avLst/>
          </a:prstGeom>
        </p:spPr>
        <p:txBody>
          <a:bodyPr lIns="0" tIns="0" rIns="0" bIns="0"/>
          <a:lstStyle/>
          <a:p>
            <a:pPr algn="l">
              <a:buNone/>
              <a:defRPr sz="1350" b="1">
                <a:solidFill>
                  <a:srgbClr val="1E5B7A"/>
                </a:solidFill>
                <a:latin typeface="Verdana"/>
                <a:ea typeface="Verdana"/>
                <a:cs typeface="Verdana"/>
              </a:defRPr>
            </a:pPr>
            <a:r>
              <a:rPr sz="3200">
                <a:solidFill>
                  <a:srgbClr val="1E5B7A"/>
                </a:solidFill>
                <a:latin typeface="Verdana"/>
                <a:ea typeface="Verdana"/>
                <a:cs typeface="Verdana"/>
              </a:rPr>
              <a:t>1. Business Problem</a:t>
            </a:r>
          </a:p>
        </p:txBody>
      </p:sp>
      <p:sp>
        <p:nvSpPr>
          <p:cNvPr id="7" name="slide-kicker">
            <a:extLst>
              <a:ext uri="{FF2B5EF4-FFF2-40B4-BE49-F238E27FC236}">
                <a16:creationId xmlns:a16="http://schemas.microsoft.com/office/drawing/2014/main" id="{6D03DDC5-6512-B4C1-7B6C-215A32496974}"/>
              </a:ext>
            </a:extLst>
          </p:cNvPr>
          <p:cNvSpPr>
            <a:spLocks noGrp="1"/>
          </p:cNvSpPr>
          <p:nvPr/>
        </p:nvSpPr>
        <p:spPr>
          <a:xfrm>
            <a:off x="3958088" y="3124168"/>
            <a:ext cx="5185913" cy="552450"/>
          </a:xfrm>
          <a:prstGeom prst="rect">
            <a:avLst/>
          </a:prstGeom>
        </p:spPr>
        <p:txBody>
          <a:bodyPr lIns="0" tIns="0" rIns="0" bIns="0"/>
          <a:lstStyle/>
          <a:p>
            <a:pPr algn="l">
              <a:buNone/>
              <a:defRPr sz="1350" b="1">
                <a:solidFill>
                  <a:srgbClr val="1E5B7A"/>
                </a:solidFill>
                <a:latin typeface="Verdana"/>
                <a:ea typeface="Verdana"/>
                <a:cs typeface="Verdana"/>
              </a:defRPr>
            </a:pPr>
            <a:r>
              <a:rPr sz="3200">
                <a:solidFill>
                  <a:srgbClr val="1E5B7A"/>
                </a:solidFill>
                <a:latin typeface="Verdana"/>
                <a:ea typeface="Verdana"/>
                <a:cs typeface="Verdana"/>
              </a:rPr>
              <a:t>2. Dataset</a:t>
            </a:r>
          </a:p>
        </p:txBody>
      </p:sp>
      <p:sp>
        <p:nvSpPr>
          <p:cNvPr id="8" name="slide-kicker">
            <a:extLst>
              <a:ext uri="{FF2B5EF4-FFF2-40B4-BE49-F238E27FC236}">
                <a16:creationId xmlns:a16="http://schemas.microsoft.com/office/drawing/2014/main" id="{A6709D6F-BC30-DF3E-A9B2-C11C5690AA4A}"/>
              </a:ext>
            </a:extLst>
          </p:cNvPr>
          <p:cNvSpPr>
            <a:spLocks noGrp="1"/>
          </p:cNvSpPr>
          <p:nvPr/>
        </p:nvSpPr>
        <p:spPr>
          <a:xfrm>
            <a:off x="3958088" y="4117395"/>
            <a:ext cx="5611581" cy="552450"/>
          </a:xfrm>
          <a:prstGeom prst="rect">
            <a:avLst/>
          </a:prstGeom>
        </p:spPr>
        <p:txBody>
          <a:bodyPr lIns="0" tIns="0" rIns="0" bIns="0"/>
          <a:lstStyle/>
          <a:p>
            <a:pPr>
              <a:buNone/>
              <a:defRPr sz="1350" b="1">
                <a:solidFill>
                  <a:srgbClr val="1E5B7A"/>
                </a:solidFill>
                <a:latin typeface="Verdana"/>
                <a:ea typeface="Verdana"/>
                <a:cs typeface="Verdana"/>
              </a:defRPr>
            </a:pPr>
            <a:r>
              <a:rPr sz="3200">
                <a:solidFill>
                  <a:srgbClr val="1E5B7A"/>
                </a:solidFill>
                <a:latin typeface="Verdana"/>
                <a:ea typeface="Verdana"/>
                <a:cs typeface="Verdana"/>
              </a:rPr>
              <a:t>3. </a:t>
            </a:r>
            <a:r>
              <a:rPr sz="3200"/>
              <a:t>System Architecture</a:t>
            </a:r>
          </a:p>
          <a:p>
            <a:pPr algn="l">
              <a:buNone/>
              <a:defRPr sz="1350" b="1">
                <a:solidFill>
                  <a:srgbClr val="1E5B7A"/>
                </a:solidFill>
                <a:latin typeface="Verdana"/>
                <a:ea typeface="Verdana"/>
                <a:cs typeface="Verdana"/>
              </a:defRPr>
            </a:pPr>
            <a:endParaRPr sz="3200"/>
          </a:p>
        </p:txBody>
      </p:sp>
      <p:sp>
        <p:nvSpPr>
          <p:cNvPr id="9" name="slide-kicker">
            <a:extLst>
              <a:ext uri="{FF2B5EF4-FFF2-40B4-BE49-F238E27FC236}">
                <a16:creationId xmlns:a16="http://schemas.microsoft.com/office/drawing/2014/main" id="{1CC010FF-AF00-8B96-7356-7EAFC444914E}"/>
              </a:ext>
            </a:extLst>
          </p:cNvPr>
          <p:cNvSpPr>
            <a:spLocks noGrp="1"/>
          </p:cNvSpPr>
          <p:nvPr/>
        </p:nvSpPr>
        <p:spPr>
          <a:xfrm>
            <a:off x="3958087" y="5110622"/>
            <a:ext cx="5185913" cy="552450"/>
          </a:xfrm>
          <a:prstGeom prst="rect">
            <a:avLst/>
          </a:prstGeom>
        </p:spPr>
        <p:txBody>
          <a:bodyPr lIns="0" tIns="0" rIns="0" bIns="0"/>
          <a:lstStyle/>
          <a:p>
            <a:pPr>
              <a:buNone/>
              <a:defRPr sz="1350" b="1">
                <a:solidFill>
                  <a:srgbClr val="1E5B7A"/>
                </a:solidFill>
                <a:latin typeface="Verdana"/>
                <a:ea typeface="Verdana"/>
                <a:cs typeface="Verdana"/>
              </a:defRPr>
            </a:pPr>
            <a:r>
              <a:rPr sz="3200">
                <a:solidFill>
                  <a:srgbClr val="1E5B7A"/>
                </a:solidFill>
                <a:latin typeface="Verdana"/>
                <a:ea typeface="Verdana"/>
                <a:cs typeface="Verdana"/>
              </a:rPr>
              <a:t>4. Solution</a:t>
            </a:r>
          </a:p>
        </p:txBody>
      </p:sp>
      <p:sp>
        <p:nvSpPr>
          <p:cNvPr id="10" name="slide-kicker">
            <a:extLst>
              <a:ext uri="{FF2B5EF4-FFF2-40B4-BE49-F238E27FC236}">
                <a16:creationId xmlns:a16="http://schemas.microsoft.com/office/drawing/2014/main" id="{7C474088-5B50-DF87-970A-8AC5922F3C88}"/>
              </a:ext>
            </a:extLst>
          </p:cNvPr>
          <p:cNvSpPr>
            <a:spLocks noGrp="1"/>
          </p:cNvSpPr>
          <p:nvPr/>
        </p:nvSpPr>
        <p:spPr>
          <a:xfrm>
            <a:off x="3958087" y="6103849"/>
            <a:ext cx="5185913" cy="552450"/>
          </a:xfrm>
          <a:prstGeom prst="rect">
            <a:avLst/>
          </a:prstGeom>
        </p:spPr>
        <p:txBody>
          <a:bodyPr lIns="0" tIns="0" rIns="0" bIns="0"/>
          <a:lstStyle/>
          <a:p>
            <a:pPr>
              <a:buNone/>
              <a:defRPr sz="1350" b="1">
                <a:solidFill>
                  <a:srgbClr val="1E5B7A"/>
                </a:solidFill>
                <a:latin typeface="Verdana"/>
                <a:ea typeface="Verdana"/>
                <a:cs typeface="Verdana"/>
              </a:defRPr>
            </a:pPr>
            <a:r>
              <a:rPr sz="3200">
                <a:solidFill>
                  <a:srgbClr val="1E5B7A"/>
                </a:solidFill>
                <a:latin typeface="Verdana"/>
                <a:ea typeface="Verdana"/>
                <a:cs typeface="Verdana"/>
              </a:rPr>
              <a:t>5. Evaluation Results</a:t>
            </a:r>
          </a:p>
          <a:p>
            <a:pPr algn="l">
              <a:buNone/>
              <a:defRPr sz="1350" b="1">
                <a:solidFill>
                  <a:srgbClr val="1E5B7A"/>
                </a:solidFill>
                <a:latin typeface="Verdana"/>
                <a:ea typeface="Verdana"/>
                <a:cs typeface="Verdana"/>
              </a:defRPr>
            </a:pPr>
            <a:endParaRPr sz="3200">
              <a:solidFill>
                <a:srgbClr val="1E5B7A"/>
              </a:solidFill>
              <a:latin typeface="Verdana"/>
              <a:ea typeface="Verdana"/>
              <a:cs typeface="Verdana"/>
            </a:endParaRPr>
          </a:p>
        </p:txBody>
      </p:sp>
      <p:sp>
        <p:nvSpPr>
          <p:cNvPr id="11" name="slide-kicker">
            <a:extLst>
              <a:ext uri="{FF2B5EF4-FFF2-40B4-BE49-F238E27FC236}">
                <a16:creationId xmlns:a16="http://schemas.microsoft.com/office/drawing/2014/main" id="{9113A0F7-6870-4AC7-369D-1341FCFF30CB}"/>
              </a:ext>
            </a:extLst>
          </p:cNvPr>
          <p:cNvSpPr>
            <a:spLocks noGrp="1"/>
          </p:cNvSpPr>
          <p:nvPr/>
        </p:nvSpPr>
        <p:spPr>
          <a:xfrm>
            <a:off x="3958087" y="7097076"/>
            <a:ext cx="5185913" cy="552450"/>
          </a:xfrm>
          <a:prstGeom prst="rect">
            <a:avLst/>
          </a:prstGeom>
        </p:spPr>
        <p:txBody>
          <a:bodyPr lIns="0" tIns="0" rIns="0" bIns="0"/>
          <a:lstStyle/>
          <a:p>
            <a:pPr algn="l">
              <a:buNone/>
              <a:defRPr sz="1350" b="1">
                <a:solidFill>
                  <a:srgbClr val="1E5B7A"/>
                </a:solidFill>
                <a:latin typeface="Verdana"/>
                <a:ea typeface="Verdana"/>
                <a:cs typeface="Verdana"/>
              </a:defRPr>
            </a:pPr>
            <a:r>
              <a:rPr sz="3200">
                <a:solidFill>
                  <a:srgbClr val="1E5B7A"/>
                </a:solidFill>
                <a:latin typeface="Verdana"/>
                <a:ea typeface="Verdana"/>
                <a:cs typeface="Verdana"/>
              </a:rPr>
              <a:t>6. Conclusion</a:t>
            </a:r>
          </a:p>
        </p:txBody>
      </p:sp>
      <p:pic>
        <p:nvPicPr>
          <p:cNvPr id="12" name="Picture 3"/>
          <p:cNvPicPr>
            <a:picLocks noChangeAspect="1"/>
          </p:cNvPicPr>
          <p:nvPr/>
        </p:nvPicPr>
        <p:blipFill>
          <a:blip r:embed="rId3"/>
          <a:srcRect l="10114" t="3538" r="6704" b="8039"/>
          <a:stretch>
            <a:fillRect/>
          </a:stretch>
        </p:blipFill>
        <p:spPr>
          <a:xfrm>
            <a:off x="11302368" y="2130941"/>
            <a:ext cx="5194562" cy="5521900"/>
          </a:xfrm>
          <a:prstGeom prst="rect">
            <a:avLst/>
          </a:prstGeom>
        </p:spPr>
      </p:pic>
      <p:sp>
        <p:nvSpPr>
          <p:cNvPr id="22" name="slide-kicker">
            <a:extLst>
              <a:ext uri="{FF2B5EF4-FFF2-40B4-BE49-F238E27FC236}">
                <a16:creationId xmlns:a16="http://schemas.microsoft.com/office/drawing/2014/main" id="{EA975672-3922-B887-90C8-722A7DB15B75}"/>
              </a:ext>
            </a:extLst>
          </p:cNvPr>
          <p:cNvSpPr>
            <a:spLocks noGrp="1"/>
          </p:cNvSpPr>
          <p:nvPr/>
        </p:nvSpPr>
        <p:spPr>
          <a:xfrm>
            <a:off x="3958087" y="8090303"/>
            <a:ext cx="5185913" cy="552450"/>
          </a:xfrm>
          <a:prstGeom prst="rect">
            <a:avLst/>
          </a:prstGeom>
        </p:spPr>
        <p:txBody>
          <a:bodyPr lIns="0" tIns="0" rIns="0" bIns="0"/>
          <a:lstStyle/>
          <a:p>
            <a:pPr>
              <a:buNone/>
              <a:defRPr sz="1350" b="1">
                <a:solidFill>
                  <a:srgbClr val="1E5B7A"/>
                </a:solidFill>
                <a:latin typeface="Verdana"/>
                <a:ea typeface="Verdana"/>
                <a:cs typeface="Verdana"/>
              </a:defRPr>
            </a:pPr>
            <a:r>
              <a:rPr sz="3200">
                <a:solidFill>
                  <a:srgbClr val="1E5B7A"/>
                </a:solidFill>
                <a:latin typeface="Verdana"/>
                <a:ea typeface="Verdana"/>
                <a:cs typeface="Verdana"/>
              </a:rPr>
              <a:t>7. System Demo</a:t>
            </a:r>
          </a:p>
        </p:txBody>
      </p:sp>
    </p:spTree>
    <p:extLst>
      <p:ext uri="{BB962C8B-B14F-4D97-AF65-F5344CB8AC3E}">
        <p14:creationId xmlns:p14="http://schemas.microsoft.com/office/powerpoint/2010/main" val="1877805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kicker">
            <a:extLst>
              <a:ext uri="{FF2B5EF4-FFF2-40B4-BE49-F238E27FC236}">
                <a16:creationId xmlns:a16="http://schemas.microsoft.com/office/drawing/2014/main" id="{B40144A6-3C97-4BE7-8EFE-46C4CDC45D62}"/>
              </a:ext>
            </a:extLst>
          </p:cNvPr>
          <p:cNvSpPr>
            <a:spLocks noGrp="1"/>
          </p:cNvSpPr>
          <p:nvPr/>
        </p:nvSpPr>
        <p:spPr>
          <a:xfrm>
            <a:off x="990599" y="603130"/>
            <a:ext cx="5185913" cy="552450"/>
          </a:xfrm>
          <a:prstGeom prst="rect">
            <a:avLst/>
          </a:prstGeom>
        </p:spPr>
        <p:txBody>
          <a:bodyPr lIns="0" tIns="0" rIns="0" bIns="0"/>
          <a:lstStyle/>
          <a:p>
            <a:pPr algn="l">
              <a:buNone/>
              <a:defRPr sz="1350" b="1">
                <a:solidFill>
                  <a:srgbClr val="1E5B7A"/>
                </a:solidFill>
                <a:latin typeface="Verdana"/>
                <a:ea typeface="Verdana"/>
                <a:cs typeface="Verdana"/>
              </a:defRPr>
            </a:pPr>
            <a:r>
              <a:rPr sz="3200">
                <a:solidFill>
                  <a:srgbClr val="1E5B7A"/>
                </a:solidFill>
                <a:latin typeface="Verdana"/>
                <a:ea typeface="Verdana"/>
                <a:cs typeface="Verdana"/>
              </a:rPr>
              <a:t>Business Problem</a:t>
            </a:r>
          </a:p>
        </p:txBody>
      </p:sp>
      <p:sp>
        <p:nvSpPr>
          <p:cNvPr id="3" name="slide-title">
            <a:extLst>
              <a:ext uri="{FF2B5EF4-FFF2-40B4-BE49-F238E27FC236}">
                <a16:creationId xmlns:a16="http://schemas.microsoft.com/office/drawing/2014/main" id="{E8CA9A42-9CAB-42BC-B9B8-8FA2684BCDF8}"/>
              </a:ext>
            </a:extLst>
          </p:cNvPr>
          <p:cNvSpPr>
            <a:spLocks noGrp="1"/>
          </p:cNvSpPr>
          <p:nvPr/>
        </p:nvSpPr>
        <p:spPr>
          <a:xfrm>
            <a:off x="990599" y="1514475"/>
            <a:ext cx="16624540" cy="1028700"/>
          </a:xfrm>
          <a:prstGeom prst="rect">
            <a:avLst/>
          </a:prstGeom>
        </p:spPr>
        <p:txBody>
          <a:bodyPr lIns="0" tIns="0" rIns="0" bIns="0"/>
          <a:lstStyle/>
          <a:p>
            <a:pPr>
              <a:lnSpc>
                <a:spcPct val="92000"/>
              </a:lnSpc>
              <a:buNone/>
              <a:defRPr sz="4350" b="1">
                <a:solidFill>
                  <a:srgbClr val="101820"/>
                </a:solidFill>
                <a:latin typeface="Georgia"/>
                <a:ea typeface="Georgia"/>
                <a:cs typeface="Georgia"/>
              </a:defRPr>
            </a:pPr>
            <a:r>
              <a:rPr sz="3200" b="1">
                <a:solidFill>
                  <a:srgbClr val="101820"/>
                </a:solidFill>
                <a:latin typeface="Georgia"/>
                <a:ea typeface="Georgia"/>
                <a:cs typeface="Georgia"/>
              </a:rPr>
              <a:t>Review overload blocks merchant decision-making</a:t>
            </a:r>
          </a:p>
        </p:txBody>
      </p:sp>
      <p:sp>
        <p:nvSpPr>
          <p:cNvPr id="4" name="slide-subtitle">
            <a:extLst>
              <a:ext uri="{FF2B5EF4-FFF2-40B4-BE49-F238E27FC236}">
                <a16:creationId xmlns:a16="http://schemas.microsoft.com/office/drawing/2014/main" id="{10E71B57-4A5F-4DC5-BDE2-735DD08828F4}"/>
              </a:ext>
            </a:extLst>
          </p:cNvPr>
          <p:cNvSpPr>
            <a:spLocks noGrp="1"/>
          </p:cNvSpPr>
          <p:nvPr/>
        </p:nvSpPr>
        <p:spPr>
          <a:xfrm>
            <a:off x="990599" y="2238375"/>
            <a:ext cx="9865728" cy="533400"/>
          </a:xfrm>
          <a:prstGeom prst="rect">
            <a:avLst/>
          </a:prstGeom>
        </p:spPr>
        <p:txBody>
          <a:bodyPr lIns="0" tIns="0" rIns="0" bIns="0"/>
          <a:lstStyle/>
          <a:p>
            <a:pPr>
              <a:lnSpc>
                <a:spcPct val="115000"/>
              </a:lnSpc>
              <a:buNone/>
              <a:defRPr sz="1800">
                <a:solidFill>
                  <a:srgbClr val="52616B"/>
                </a:solidFill>
                <a:latin typeface="Verdana"/>
                <a:ea typeface="Verdana"/>
                <a:cs typeface="Verdana"/>
              </a:defRPr>
            </a:pPr>
            <a:r>
              <a:rPr sz="1800">
                <a:solidFill>
                  <a:srgbClr val="52616B"/>
                </a:solidFill>
                <a:latin typeface="Verdana"/>
                <a:ea typeface="Verdana"/>
                <a:cs typeface="Verdana"/>
              </a:rPr>
              <a:t>Raw reviews contain direct evidence of quality, delivery, satisfaction, and recurring complaints, but they are unstructured and too numerous to inspect manually.</a:t>
            </a:r>
          </a:p>
        </p:txBody>
      </p:sp>
      <p:sp>
        <p:nvSpPr>
          <p:cNvPr id="5" name="business-main-claim">
            <a:extLst>
              <a:ext uri="{FF2B5EF4-FFF2-40B4-BE49-F238E27FC236}">
                <a16:creationId xmlns:a16="http://schemas.microsoft.com/office/drawing/2014/main" id="{B397AEE5-59F5-4080-979C-190708C7272D}"/>
              </a:ext>
            </a:extLst>
          </p:cNvPr>
          <p:cNvSpPr>
            <a:spLocks noGrp="1"/>
          </p:cNvSpPr>
          <p:nvPr/>
        </p:nvSpPr>
        <p:spPr>
          <a:xfrm>
            <a:off x="1114423" y="8215312"/>
            <a:ext cx="9656180" cy="942975"/>
          </a:xfrm>
          <a:prstGeom prst="rect">
            <a:avLst/>
          </a:prstGeom>
        </p:spPr>
        <p:txBody>
          <a:bodyPr lIns="0" tIns="0" rIns="0" bIns="0"/>
          <a:lstStyle/>
          <a:p>
            <a:pPr>
              <a:lnSpc>
                <a:spcPct val="92000"/>
              </a:lnSpc>
              <a:buNone/>
              <a:defRPr sz="3450" b="1">
                <a:solidFill>
                  <a:srgbClr val="1E5B7A"/>
                </a:solidFill>
                <a:latin typeface="Georgia"/>
                <a:ea typeface="Georgia"/>
                <a:cs typeface="Georgia"/>
              </a:defRPr>
            </a:pPr>
            <a:r>
              <a:rPr lang="en-US" sz="2800" b="1" dirty="0">
                <a:solidFill>
                  <a:srgbClr val="1E5B7A"/>
                </a:solidFill>
                <a:latin typeface="Georgia"/>
                <a:ea typeface="Georgia"/>
                <a:cs typeface="Georgia"/>
              </a:rPr>
              <a:t>The project converts unstructured reviews into structured decision-support signals.</a:t>
            </a:r>
            <a:endParaRPr sz="2800" b="1" dirty="0">
              <a:solidFill>
                <a:srgbClr val="1E5B7A"/>
              </a:solidFill>
              <a:latin typeface="Georgia"/>
              <a:ea typeface="Georgia"/>
              <a:cs typeface="Georgia"/>
            </a:endParaRPr>
          </a:p>
        </p:txBody>
      </p:sp>
      <p:sp>
        <p:nvSpPr>
          <p:cNvPr id="7" name="bullet-mark-Prioritise">
            <a:extLst>
              <a:ext uri="{FF2B5EF4-FFF2-40B4-BE49-F238E27FC236}">
                <a16:creationId xmlns:a16="http://schemas.microsoft.com/office/drawing/2014/main" id="{533193A5-3EB1-4475-85F8-195FC1FC4A05}"/>
              </a:ext>
            </a:extLst>
          </p:cNvPr>
          <p:cNvSpPr>
            <a:spLocks noGrp="1"/>
          </p:cNvSpPr>
          <p:nvPr/>
        </p:nvSpPr>
        <p:spPr>
          <a:xfrm>
            <a:off x="1114422" y="3314700"/>
            <a:ext cx="85725" cy="304800"/>
          </a:xfrm>
          <a:prstGeom prst="rect">
            <a:avLst/>
          </a:prstGeom>
          <a:solidFill>
            <a:srgbClr val="1E5B7A"/>
          </a:solidFill>
          <a:ln w="0">
            <a:solidFill>
              <a:srgbClr val="1E5B7A"/>
            </a:solidFill>
            <a:prstDash val="solid"/>
          </a:ln>
        </p:spPr>
        <p:txBody>
          <a:bodyPr/>
          <a:lstStyle/>
          <a:p>
            <a:endParaRPr/>
          </a:p>
        </p:txBody>
      </p:sp>
      <p:sp>
        <p:nvSpPr>
          <p:cNvPr id="8" name="bullet-label-Prioritise">
            <a:extLst>
              <a:ext uri="{FF2B5EF4-FFF2-40B4-BE49-F238E27FC236}">
                <a16:creationId xmlns:a16="http://schemas.microsoft.com/office/drawing/2014/main" id="{CAFEC594-FB52-4DEB-B461-76D54CC85087}"/>
              </a:ext>
            </a:extLst>
          </p:cNvPr>
          <p:cNvSpPr>
            <a:spLocks noGrp="1"/>
          </p:cNvSpPr>
          <p:nvPr/>
        </p:nvSpPr>
        <p:spPr>
          <a:xfrm>
            <a:off x="1362072" y="3248025"/>
            <a:ext cx="2547776" cy="295275"/>
          </a:xfrm>
          <a:prstGeom prst="rect">
            <a:avLst/>
          </a:prstGeom>
        </p:spPr>
        <p:txBody>
          <a:bodyPr lIns="0" tIns="0" rIns="0" bIns="0"/>
          <a:lstStyle/>
          <a:p>
            <a:pPr>
              <a:buNone/>
              <a:defRPr sz="1200" b="1">
                <a:solidFill>
                  <a:srgbClr val="1E5B7A"/>
                </a:solidFill>
                <a:latin typeface="Verdana"/>
                <a:ea typeface="Verdana"/>
                <a:cs typeface="Verdana"/>
              </a:defRPr>
            </a:pPr>
            <a:r>
              <a:rPr sz="2400"/>
              <a:t>Prioritize</a:t>
            </a:r>
          </a:p>
        </p:txBody>
      </p:sp>
      <p:sp>
        <p:nvSpPr>
          <p:cNvPr id="9" name="bullet-body-Prioritise">
            <a:extLst>
              <a:ext uri="{FF2B5EF4-FFF2-40B4-BE49-F238E27FC236}">
                <a16:creationId xmlns:a16="http://schemas.microsoft.com/office/drawing/2014/main" id="{EAFE28E3-E1A5-4877-8DC3-D3B4D76E1DD4}"/>
              </a:ext>
            </a:extLst>
          </p:cNvPr>
          <p:cNvSpPr>
            <a:spLocks noGrp="1"/>
          </p:cNvSpPr>
          <p:nvPr/>
        </p:nvSpPr>
        <p:spPr>
          <a:xfrm>
            <a:off x="1362072" y="3759320"/>
            <a:ext cx="3272990" cy="1146055"/>
          </a:xfrm>
          <a:prstGeom prst="rect">
            <a:avLst/>
          </a:prstGeom>
        </p:spPr>
        <p:txBody>
          <a:bodyPr lIns="0" tIns="0" rIns="0" bIns="0"/>
          <a:lstStyle/>
          <a:p>
            <a:pPr>
              <a:lnSpc>
                <a:spcPct val="118000"/>
              </a:lnSpc>
              <a:buNone/>
              <a:defRPr sz="1800">
                <a:solidFill>
                  <a:srgbClr val="101820"/>
                </a:solidFill>
                <a:latin typeface="Verdana"/>
                <a:ea typeface="Verdana"/>
                <a:cs typeface="Verdana"/>
              </a:defRPr>
            </a:pPr>
            <a:r>
              <a:rPr sz="1800">
                <a:solidFill>
                  <a:srgbClr val="101820"/>
                </a:solidFill>
                <a:latin typeface="Verdana"/>
                <a:ea typeface="Verdana"/>
                <a:cs typeface="Verdana"/>
              </a:rPr>
              <a:t>Identify reviews likely to contain useful business information.</a:t>
            </a:r>
          </a:p>
        </p:txBody>
      </p:sp>
      <p:sp>
        <p:nvSpPr>
          <p:cNvPr id="10" name="bullet-mark-Detect">
            <a:extLst>
              <a:ext uri="{FF2B5EF4-FFF2-40B4-BE49-F238E27FC236}">
                <a16:creationId xmlns:a16="http://schemas.microsoft.com/office/drawing/2014/main" id="{4935001B-B930-451D-9AEC-F964B34EFF55}"/>
              </a:ext>
            </a:extLst>
          </p:cNvPr>
          <p:cNvSpPr>
            <a:spLocks noGrp="1"/>
          </p:cNvSpPr>
          <p:nvPr/>
        </p:nvSpPr>
        <p:spPr>
          <a:xfrm>
            <a:off x="5838822" y="3314700"/>
            <a:ext cx="85725" cy="304800"/>
          </a:xfrm>
          <a:prstGeom prst="rect">
            <a:avLst/>
          </a:prstGeom>
          <a:solidFill>
            <a:srgbClr val="178C80"/>
          </a:solidFill>
          <a:ln w="0">
            <a:solidFill>
              <a:srgbClr val="178C80"/>
            </a:solidFill>
            <a:prstDash val="solid"/>
          </a:ln>
        </p:spPr>
        <p:txBody>
          <a:bodyPr/>
          <a:lstStyle/>
          <a:p>
            <a:endParaRPr/>
          </a:p>
        </p:txBody>
      </p:sp>
      <p:sp>
        <p:nvSpPr>
          <p:cNvPr id="12" name="bullet-body-Detect">
            <a:extLst>
              <a:ext uri="{FF2B5EF4-FFF2-40B4-BE49-F238E27FC236}">
                <a16:creationId xmlns:a16="http://schemas.microsoft.com/office/drawing/2014/main" id="{CC156DEF-500D-4B33-B112-57304AB9F4CF}"/>
              </a:ext>
            </a:extLst>
          </p:cNvPr>
          <p:cNvSpPr>
            <a:spLocks noGrp="1"/>
          </p:cNvSpPr>
          <p:nvPr/>
        </p:nvSpPr>
        <p:spPr>
          <a:xfrm>
            <a:off x="6086472" y="3759320"/>
            <a:ext cx="2971803" cy="552450"/>
          </a:xfrm>
          <a:prstGeom prst="rect">
            <a:avLst/>
          </a:prstGeom>
        </p:spPr>
        <p:txBody>
          <a:bodyPr lIns="0" tIns="0" rIns="0" bIns="0"/>
          <a:lstStyle/>
          <a:p>
            <a:pPr>
              <a:lnSpc>
                <a:spcPct val="118000"/>
              </a:lnSpc>
              <a:buNone/>
              <a:defRPr sz="1800">
                <a:solidFill>
                  <a:srgbClr val="101820"/>
                </a:solidFill>
                <a:latin typeface="Verdana"/>
                <a:ea typeface="Verdana"/>
                <a:cs typeface="Verdana"/>
              </a:defRPr>
            </a:pPr>
            <a:r>
              <a:rPr sz="1800">
                <a:solidFill>
                  <a:srgbClr val="101820"/>
                </a:solidFill>
                <a:latin typeface="Verdana"/>
                <a:ea typeface="Verdana"/>
                <a:cs typeface="Verdana"/>
              </a:rPr>
              <a:t>Find negative customer experience through sentiment mining.</a:t>
            </a:r>
          </a:p>
        </p:txBody>
      </p:sp>
      <p:sp>
        <p:nvSpPr>
          <p:cNvPr id="13" name="bullet-mark-Summarise">
            <a:extLst>
              <a:ext uri="{FF2B5EF4-FFF2-40B4-BE49-F238E27FC236}">
                <a16:creationId xmlns:a16="http://schemas.microsoft.com/office/drawing/2014/main" id="{609A544D-A837-43E7-88AD-5BF6D74A011E}"/>
              </a:ext>
            </a:extLst>
          </p:cNvPr>
          <p:cNvSpPr>
            <a:spLocks noGrp="1"/>
          </p:cNvSpPr>
          <p:nvPr/>
        </p:nvSpPr>
        <p:spPr>
          <a:xfrm>
            <a:off x="1114422" y="5405437"/>
            <a:ext cx="85725" cy="304800"/>
          </a:xfrm>
          <a:prstGeom prst="rect">
            <a:avLst/>
          </a:prstGeom>
          <a:solidFill>
            <a:srgbClr val="B98A2E"/>
          </a:solidFill>
          <a:ln w="0">
            <a:solidFill>
              <a:srgbClr val="B98A2E"/>
            </a:solidFill>
            <a:prstDash val="solid"/>
          </a:ln>
        </p:spPr>
        <p:txBody>
          <a:bodyPr/>
          <a:lstStyle/>
          <a:p>
            <a:endParaRPr/>
          </a:p>
        </p:txBody>
      </p:sp>
      <p:sp>
        <p:nvSpPr>
          <p:cNvPr id="15" name="bullet-body-Summarise">
            <a:extLst>
              <a:ext uri="{FF2B5EF4-FFF2-40B4-BE49-F238E27FC236}">
                <a16:creationId xmlns:a16="http://schemas.microsoft.com/office/drawing/2014/main" id="{C96323B1-63C2-443D-B835-5FBD8D377C2F}"/>
              </a:ext>
            </a:extLst>
          </p:cNvPr>
          <p:cNvSpPr>
            <a:spLocks noGrp="1"/>
          </p:cNvSpPr>
          <p:nvPr/>
        </p:nvSpPr>
        <p:spPr>
          <a:xfrm>
            <a:off x="1356156" y="5903118"/>
            <a:ext cx="3099569" cy="1355605"/>
          </a:xfrm>
          <a:prstGeom prst="rect">
            <a:avLst/>
          </a:prstGeom>
        </p:spPr>
        <p:txBody>
          <a:bodyPr lIns="0" tIns="0" rIns="0" bIns="0"/>
          <a:lstStyle/>
          <a:p>
            <a:pPr>
              <a:lnSpc>
                <a:spcPct val="118000"/>
              </a:lnSpc>
              <a:buNone/>
              <a:defRPr sz="1800">
                <a:solidFill>
                  <a:srgbClr val="101820"/>
                </a:solidFill>
                <a:latin typeface="Verdana"/>
                <a:ea typeface="Verdana"/>
                <a:cs typeface="Verdana"/>
              </a:defRPr>
            </a:pPr>
            <a:r>
              <a:rPr sz="1800">
                <a:solidFill>
                  <a:srgbClr val="101820"/>
                </a:solidFill>
                <a:latin typeface="Verdana"/>
                <a:ea typeface="Verdana"/>
                <a:cs typeface="Verdana"/>
              </a:rPr>
              <a:t>Generate concise complaint titles for negative reviews.</a:t>
            </a:r>
          </a:p>
        </p:txBody>
      </p:sp>
      <p:sp>
        <p:nvSpPr>
          <p:cNvPr id="16" name="bullet-mark-Explore">
            <a:extLst>
              <a:ext uri="{FF2B5EF4-FFF2-40B4-BE49-F238E27FC236}">
                <a16:creationId xmlns:a16="http://schemas.microsoft.com/office/drawing/2014/main" id="{72201BCD-55AF-497C-B440-8B1425262409}"/>
              </a:ext>
            </a:extLst>
          </p:cNvPr>
          <p:cNvSpPr>
            <a:spLocks noGrp="1"/>
          </p:cNvSpPr>
          <p:nvPr/>
        </p:nvSpPr>
        <p:spPr>
          <a:xfrm>
            <a:off x="5838822" y="5350667"/>
            <a:ext cx="85725" cy="304800"/>
          </a:xfrm>
          <a:prstGeom prst="rect">
            <a:avLst/>
          </a:prstGeom>
          <a:solidFill>
            <a:srgbClr val="6C8B5F"/>
          </a:solidFill>
          <a:ln w="0">
            <a:solidFill>
              <a:srgbClr val="6C8B5F"/>
            </a:solidFill>
            <a:prstDash val="solid"/>
          </a:ln>
        </p:spPr>
        <p:txBody>
          <a:bodyPr/>
          <a:lstStyle/>
          <a:p>
            <a:endParaRPr/>
          </a:p>
        </p:txBody>
      </p:sp>
      <p:sp>
        <p:nvSpPr>
          <p:cNvPr id="18" name="bullet-body-Explore">
            <a:extLst>
              <a:ext uri="{FF2B5EF4-FFF2-40B4-BE49-F238E27FC236}">
                <a16:creationId xmlns:a16="http://schemas.microsoft.com/office/drawing/2014/main" id="{289D79D4-0572-4194-B7E0-CD0119360922}"/>
              </a:ext>
            </a:extLst>
          </p:cNvPr>
          <p:cNvSpPr>
            <a:spLocks noGrp="1"/>
          </p:cNvSpPr>
          <p:nvPr/>
        </p:nvSpPr>
        <p:spPr>
          <a:xfrm>
            <a:off x="6086473" y="5894267"/>
            <a:ext cx="2971802" cy="552450"/>
          </a:xfrm>
          <a:prstGeom prst="rect">
            <a:avLst/>
          </a:prstGeom>
        </p:spPr>
        <p:txBody>
          <a:bodyPr lIns="0" tIns="0" rIns="0" bIns="0"/>
          <a:lstStyle/>
          <a:p>
            <a:pPr>
              <a:lnSpc>
                <a:spcPct val="118000"/>
              </a:lnSpc>
              <a:buNone/>
              <a:defRPr sz="1800">
                <a:solidFill>
                  <a:srgbClr val="101820"/>
                </a:solidFill>
                <a:latin typeface="Verdana"/>
                <a:ea typeface="Verdana"/>
                <a:cs typeface="Verdana"/>
              </a:defRPr>
            </a:pPr>
            <a:r>
              <a:rPr sz="1800">
                <a:solidFill>
                  <a:srgbClr val="101820"/>
                </a:solidFill>
                <a:latin typeface="Verdana"/>
                <a:ea typeface="Verdana"/>
                <a:cs typeface="Verdana"/>
              </a:rPr>
              <a:t>Present results through dashboard filters, upload analysis, and Merchant Copilot.</a:t>
            </a:r>
          </a:p>
        </p:txBody>
      </p:sp>
      <p:sp>
        <p:nvSpPr>
          <p:cNvPr id="19" name="footer-rule">
            <a:extLst>
              <a:ext uri="{FF2B5EF4-FFF2-40B4-BE49-F238E27FC236}">
                <a16:creationId xmlns:a16="http://schemas.microsoft.com/office/drawing/2014/main" id="{287DE473-AD03-4CE5-8CF6-40DB88E5C1CF}"/>
              </a:ext>
            </a:extLst>
          </p:cNvPr>
          <p:cNvSpPr>
            <a:spLocks noGrp="1"/>
          </p:cNvSpPr>
          <p:nvPr/>
        </p:nvSpPr>
        <p:spPr>
          <a:xfrm>
            <a:off x="990600" y="9410700"/>
            <a:ext cx="914400" cy="19050"/>
          </a:xfrm>
          <a:prstGeom prst="rect">
            <a:avLst/>
          </a:prstGeom>
          <a:solidFill>
            <a:srgbClr val="A9B8B0"/>
          </a:solidFill>
          <a:ln w="0">
            <a:solidFill>
              <a:srgbClr val="A9B8B0"/>
            </a:solidFill>
            <a:prstDash val="solid"/>
          </a:ln>
        </p:spPr>
        <p:txBody>
          <a:bodyPr/>
          <a:lstStyle/>
          <a:p>
            <a:endParaRPr/>
          </a:p>
        </p:txBody>
      </p:sp>
      <p:sp>
        <p:nvSpPr>
          <p:cNvPr id="25" name="bullet-label-Prioritise">
            <a:extLst>
              <a:ext uri="{FF2B5EF4-FFF2-40B4-BE49-F238E27FC236}">
                <a16:creationId xmlns:a16="http://schemas.microsoft.com/office/drawing/2014/main" id="{B0F98A51-4AD9-45F0-5965-20268B09F978}"/>
              </a:ext>
            </a:extLst>
          </p:cNvPr>
          <p:cNvSpPr>
            <a:spLocks noGrp="1"/>
          </p:cNvSpPr>
          <p:nvPr/>
        </p:nvSpPr>
        <p:spPr>
          <a:xfrm>
            <a:off x="1362072" y="5355430"/>
            <a:ext cx="2547776" cy="295275"/>
          </a:xfrm>
          <a:prstGeom prst="rect">
            <a:avLst/>
          </a:prstGeom>
        </p:spPr>
        <p:txBody>
          <a:bodyPr lIns="0" tIns="0" rIns="0" bIns="0"/>
          <a:lstStyle/>
          <a:p>
            <a:pPr>
              <a:buNone/>
              <a:defRPr sz="1200" b="1">
                <a:solidFill>
                  <a:srgbClr val="1E5B7A"/>
                </a:solidFill>
                <a:latin typeface="Verdana"/>
                <a:ea typeface="Verdana"/>
                <a:cs typeface="Verdana"/>
              </a:defRPr>
            </a:pPr>
            <a:r>
              <a:rPr sz="2400"/>
              <a:t>Summarize</a:t>
            </a:r>
          </a:p>
        </p:txBody>
      </p:sp>
      <p:sp>
        <p:nvSpPr>
          <p:cNvPr id="26" name="bullet-label-Prioritise">
            <a:extLst>
              <a:ext uri="{FF2B5EF4-FFF2-40B4-BE49-F238E27FC236}">
                <a16:creationId xmlns:a16="http://schemas.microsoft.com/office/drawing/2014/main" id="{AE8C5823-032A-741D-7D30-76799222A256}"/>
              </a:ext>
            </a:extLst>
          </p:cNvPr>
          <p:cNvSpPr>
            <a:spLocks noGrp="1"/>
          </p:cNvSpPr>
          <p:nvPr/>
        </p:nvSpPr>
        <p:spPr>
          <a:xfrm>
            <a:off x="6086472" y="3263035"/>
            <a:ext cx="2547776" cy="295275"/>
          </a:xfrm>
          <a:prstGeom prst="rect">
            <a:avLst/>
          </a:prstGeom>
        </p:spPr>
        <p:txBody>
          <a:bodyPr lIns="0" tIns="0" rIns="0" bIns="0"/>
          <a:lstStyle/>
          <a:p>
            <a:pPr>
              <a:buNone/>
              <a:defRPr sz="1200" b="1">
                <a:solidFill>
                  <a:srgbClr val="1E5B7A"/>
                </a:solidFill>
                <a:latin typeface="Verdana"/>
                <a:ea typeface="Verdana"/>
                <a:cs typeface="Verdana"/>
              </a:defRPr>
            </a:pPr>
            <a:r>
              <a:rPr sz="2400"/>
              <a:t>Detect</a:t>
            </a:r>
          </a:p>
        </p:txBody>
      </p:sp>
      <p:sp>
        <p:nvSpPr>
          <p:cNvPr id="27" name="bullet-label-Prioritise">
            <a:extLst>
              <a:ext uri="{FF2B5EF4-FFF2-40B4-BE49-F238E27FC236}">
                <a16:creationId xmlns:a16="http://schemas.microsoft.com/office/drawing/2014/main" id="{4027B787-2E22-E4A5-27FC-9E9D563877E5}"/>
              </a:ext>
            </a:extLst>
          </p:cNvPr>
          <p:cNvSpPr>
            <a:spLocks noGrp="1"/>
          </p:cNvSpPr>
          <p:nvPr/>
        </p:nvSpPr>
        <p:spPr>
          <a:xfrm>
            <a:off x="6086472" y="5322241"/>
            <a:ext cx="2547776" cy="295275"/>
          </a:xfrm>
          <a:prstGeom prst="rect">
            <a:avLst/>
          </a:prstGeom>
        </p:spPr>
        <p:txBody>
          <a:bodyPr lIns="0" tIns="0" rIns="0" bIns="0"/>
          <a:lstStyle/>
          <a:p>
            <a:pPr>
              <a:buNone/>
              <a:defRPr sz="1200" b="1">
                <a:solidFill>
                  <a:srgbClr val="1E5B7A"/>
                </a:solidFill>
                <a:latin typeface="Verdana"/>
                <a:ea typeface="Verdana"/>
                <a:cs typeface="Verdana"/>
              </a:defRPr>
            </a:pPr>
            <a:r>
              <a:rPr sz="2400"/>
              <a:t>Explore</a:t>
            </a:r>
          </a:p>
        </p:txBody>
      </p:sp>
      <p:pic>
        <p:nvPicPr>
          <p:cNvPr id="28" name="Picture 4"/>
          <p:cNvPicPr>
            <a:picLocks noChangeAspect="1"/>
          </p:cNvPicPr>
          <p:nvPr/>
        </p:nvPicPr>
        <p:blipFill>
          <a:blip r:embed="rId3"/>
          <a:srcRect/>
          <a:stretch>
            <a:fillRect/>
          </a:stretch>
        </p:blipFill>
        <p:spPr>
          <a:xfrm>
            <a:off x="10563222" y="2039009"/>
            <a:ext cx="7390741" cy="7390741"/>
          </a:xfrm>
          <a:prstGeom prst="rect">
            <a:avLst/>
          </a:prstGeom>
        </p:spPr>
      </p:pic>
    </p:spTree>
    <p:extLst>
      <p:ext uri="{BB962C8B-B14F-4D97-AF65-F5344CB8AC3E}">
        <p14:creationId xmlns:p14="http://schemas.microsoft.com/office/powerpoint/2010/main" val="824433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kicker">
            <a:extLst>
              <a:ext uri="{FF2B5EF4-FFF2-40B4-BE49-F238E27FC236}">
                <a16:creationId xmlns:a16="http://schemas.microsoft.com/office/drawing/2014/main" id="{15189D97-4303-4365-AC36-9D5874F97B8C}"/>
              </a:ext>
            </a:extLst>
          </p:cNvPr>
          <p:cNvSpPr>
            <a:spLocks noGrp="1"/>
          </p:cNvSpPr>
          <p:nvPr/>
        </p:nvSpPr>
        <p:spPr>
          <a:xfrm>
            <a:off x="990600" y="666750"/>
            <a:ext cx="838200" cy="342900"/>
          </a:xfrm>
          <a:prstGeom prst="rect">
            <a:avLst/>
          </a:prstGeom>
        </p:spPr>
        <p:txBody>
          <a:bodyPr lIns="0" tIns="0" rIns="0" bIns="0"/>
          <a:lstStyle/>
          <a:p>
            <a:pPr algn="l">
              <a:buNone/>
              <a:defRPr sz="1350" b="1">
                <a:solidFill>
                  <a:srgbClr val="1E5B7A"/>
                </a:solidFill>
                <a:latin typeface="Verdana"/>
                <a:ea typeface="Verdana"/>
                <a:cs typeface="Verdana"/>
              </a:defRPr>
            </a:pPr>
            <a:endParaRPr/>
          </a:p>
        </p:txBody>
      </p:sp>
      <p:sp>
        <p:nvSpPr>
          <p:cNvPr id="23" name="footer-rule">
            <a:extLst>
              <a:ext uri="{FF2B5EF4-FFF2-40B4-BE49-F238E27FC236}">
                <a16:creationId xmlns:a16="http://schemas.microsoft.com/office/drawing/2014/main" id="{E6FCF6C0-0771-4367-BA14-EC095630D998}"/>
              </a:ext>
            </a:extLst>
          </p:cNvPr>
          <p:cNvSpPr>
            <a:spLocks noGrp="1"/>
          </p:cNvSpPr>
          <p:nvPr/>
        </p:nvSpPr>
        <p:spPr>
          <a:xfrm>
            <a:off x="990600" y="9448800"/>
            <a:ext cx="914400" cy="19050"/>
          </a:xfrm>
          <a:prstGeom prst="rect">
            <a:avLst/>
          </a:prstGeom>
          <a:solidFill>
            <a:srgbClr val="A9B8B0"/>
          </a:solidFill>
          <a:ln w="0">
            <a:solidFill>
              <a:srgbClr val="A9B8B0"/>
            </a:solidFill>
            <a:prstDash val="solid"/>
          </a:ln>
        </p:spPr>
        <p:txBody>
          <a:bodyPr/>
          <a:lstStyle/>
          <a:p>
            <a:endParaRPr/>
          </a:p>
        </p:txBody>
      </p:sp>
      <p:sp>
        <p:nvSpPr>
          <p:cNvPr id="24" name="footer-section">
            <a:extLst>
              <a:ext uri="{FF2B5EF4-FFF2-40B4-BE49-F238E27FC236}">
                <a16:creationId xmlns:a16="http://schemas.microsoft.com/office/drawing/2014/main" id="{AD639D68-356B-4925-B5C7-8083399C66C8}"/>
              </a:ext>
            </a:extLst>
          </p:cNvPr>
          <p:cNvSpPr>
            <a:spLocks noGrp="1"/>
          </p:cNvSpPr>
          <p:nvPr/>
        </p:nvSpPr>
        <p:spPr>
          <a:xfrm>
            <a:off x="2038350" y="9277350"/>
            <a:ext cx="666750" cy="342900"/>
          </a:xfrm>
          <a:prstGeom prst="rect">
            <a:avLst/>
          </a:prstGeom>
        </p:spPr>
        <p:txBody>
          <a:bodyPr lIns="0" tIns="0" rIns="0" bIns="0"/>
          <a:lstStyle/>
          <a:p>
            <a:pPr>
              <a:lnSpc>
                <a:spcPct val="110000"/>
              </a:lnSpc>
              <a:buNone/>
              <a:defRPr sz="1200">
                <a:solidFill>
                  <a:srgbClr val="52616B"/>
                </a:solidFill>
                <a:latin typeface="Verdana"/>
                <a:ea typeface="Verdana"/>
                <a:cs typeface="Verdana"/>
              </a:defRPr>
            </a:pPr>
            <a:endParaRPr/>
          </a:p>
        </p:txBody>
      </p:sp>
      <p:sp>
        <p:nvSpPr>
          <p:cNvPr id="28" name="slide-kicker">
            <a:extLst>
              <a:ext uri="{FF2B5EF4-FFF2-40B4-BE49-F238E27FC236}">
                <a16:creationId xmlns:a16="http://schemas.microsoft.com/office/drawing/2014/main" id="{4C008E30-85E1-E804-C52D-51860B800B18}"/>
              </a:ext>
            </a:extLst>
          </p:cNvPr>
          <p:cNvSpPr>
            <a:spLocks noGrp="1"/>
          </p:cNvSpPr>
          <p:nvPr/>
        </p:nvSpPr>
        <p:spPr>
          <a:xfrm>
            <a:off x="990599" y="603130"/>
            <a:ext cx="7144408" cy="552450"/>
          </a:xfrm>
          <a:prstGeom prst="rect">
            <a:avLst/>
          </a:prstGeom>
        </p:spPr>
        <p:txBody>
          <a:bodyPr lIns="0" tIns="0" rIns="0" bIns="0"/>
          <a:lstStyle/>
          <a:p>
            <a:pPr>
              <a:buNone/>
              <a:defRPr sz="1350" b="1">
                <a:solidFill>
                  <a:srgbClr val="1E5B7A"/>
                </a:solidFill>
                <a:latin typeface="Verdana"/>
                <a:ea typeface="Verdana"/>
                <a:cs typeface="Verdana"/>
              </a:defRPr>
            </a:pPr>
            <a:r>
              <a:rPr sz="3200">
                <a:solidFill>
                  <a:srgbClr val="1E5B7A"/>
                </a:solidFill>
                <a:latin typeface="Verdana"/>
                <a:ea typeface="Verdana"/>
                <a:cs typeface="Verdana"/>
              </a:rPr>
              <a:t>Dataset - </a:t>
            </a:r>
            <a:r>
              <a:rPr sz="3200" b="1"/>
              <a:t>Raw Data Source</a:t>
            </a:r>
          </a:p>
        </p:txBody>
      </p:sp>
      <p:sp>
        <p:nvSpPr>
          <p:cNvPr id="30" name="文本框 29">
            <a:extLst>
              <a:ext uri="{FF2B5EF4-FFF2-40B4-BE49-F238E27FC236}">
                <a16:creationId xmlns:a16="http://schemas.microsoft.com/office/drawing/2014/main" id="{1CC8EE03-167B-74E6-46B7-64ECF821B150}"/>
              </a:ext>
            </a:extLst>
          </p:cNvPr>
          <p:cNvSpPr>
            <a:spLocks noGrp="1"/>
          </p:cNvSpPr>
          <p:nvPr/>
        </p:nvSpPr>
        <p:spPr>
          <a:xfrm>
            <a:off x="990598" y="1633568"/>
            <a:ext cx="13828987" cy="923330"/>
          </a:xfrm>
          <a:prstGeom prst="rect">
            <a:avLst/>
          </a:prstGeom>
          <a:noFill/>
        </p:spPr>
        <p:txBody>
          <a:bodyPr wrap="square">
            <a:spAutoFit/>
          </a:bodyPr>
          <a:lstStyle/>
          <a:p>
            <a:r>
              <a:rPr>
                <a:latin typeface="Verdana"/>
                <a:ea typeface="Verdana"/>
                <a:cs typeface="Verdana"/>
              </a:rPr>
              <a:t>The dataset provides customer review text and product metadata from multiple Amazon product categories. This project uses five selected categories to keep the training and dashboard scope manageable while still covering different product types and complaint styles.</a:t>
            </a:r>
          </a:p>
        </p:txBody>
      </p:sp>
      <p:graphicFrame>
        <p:nvGraphicFramePr>
          <p:cNvPr id="31" name="表格 30"/>
          <p:cNvGraphicFramePr/>
          <p:nvPr/>
        </p:nvGraphicFramePr>
        <p:xfrm>
          <a:off x="990599" y="4676844"/>
          <a:ext cx="13828988" cy="4600506"/>
        </p:xfrm>
        <a:graphic>
          <a:graphicData uri="http://schemas.openxmlformats.org/drawingml/2006/table">
            <a:tbl>
              <a:tblPr>
                <a:tableStyleId>{5940675A-B579-460E-94D1-54222C63F5DA}</a:tableStyleId>
              </a:tblPr>
              <a:tblGrid>
                <a:gridCol w="6914494">
                  <a:extLst>
                    <a:ext uri="{9D8B030D-6E8A-4147-A177-3AD203B41FA5}">
                      <a16:colId xmlns:a16="http://schemas.microsoft.com/office/drawing/2014/main" val="20000"/>
                    </a:ext>
                  </a:extLst>
                </a:gridCol>
                <a:gridCol w="6914494">
                  <a:extLst>
                    <a:ext uri="{9D8B030D-6E8A-4147-A177-3AD203B41FA5}">
                      <a16:colId xmlns:a16="http://schemas.microsoft.com/office/drawing/2014/main" val="20001"/>
                    </a:ext>
                  </a:extLst>
                </a:gridCol>
              </a:tblGrid>
              <a:tr h="766751">
                <a:tc>
                  <a:txBody>
                    <a:bodyPr/>
                    <a:lstStyle/>
                    <a:p>
                      <a:pPr>
                        <a:buNone/>
                      </a:pPr>
                      <a:r>
                        <a:rPr b="1">
                          <a:latin typeface="Verdana"/>
                          <a:ea typeface="Verdana"/>
                          <a:cs typeface="Verdana"/>
                        </a:rPr>
                        <a:t>Category</a:t>
                      </a:r>
                    </a:p>
                  </a:txBody>
                  <a:tcPr anchor="ctr"/>
                </a:tc>
                <a:tc>
                  <a:txBody>
                    <a:bodyPr/>
                    <a:lstStyle/>
                    <a:p>
                      <a:pPr>
                        <a:buNone/>
                      </a:pPr>
                      <a:r>
                        <a:rPr b="1">
                          <a:latin typeface="Verdana"/>
                          <a:ea typeface="Verdana"/>
                          <a:cs typeface="Verdana"/>
                        </a:rPr>
                        <a:t>Description</a:t>
                      </a:r>
                    </a:p>
                  </a:txBody>
                  <a:tcPr anchor="ctr"/>
                </a:tc>
                <a:extLst>
                  <a:ext uri="{0D108BD9-81ED-4DB2-BD59-A6C34878D82A}">
                    <a16:rowId xmlns:a16="http://schemas.microsoft.com/office/drawing/2014/main" val="10000"/>
                  </a:ext>
                </a:extLst>
              </a:tr>
              <a:tr h="766751">
                <a:tc>
                  <a:txBody>
                    <a:bodyPr/>
                    <a:lstStyle/>
                    <a:p>
                      <a:pPr>
                        <a:buNone/>
                      </a:pPr>
                      <a:r>
                        <a:rPr>
                          <a:latin typeface="Verdana"/>
                          <a:ea typeface="Verdana"/>
                          <a:cs typeface="Verdana"/>
                        </a:rPr>
                        <a:t>All_Beauty</a:t>
                      </a:r>
                    </a:p>
                  </a:txBody>
                  <a:tcPr anchor="ctr"/>
                </a:tc>
                <a:tc>
                  <a:txBody>
                    <a:bodyPr/>
                    <a:lstStyle/>
                    <a:p>
                      <a:pPr>
                        <a:buNone/>
                      </a:pPr>
                      <a:r>
                        <a:rPr>
                          <a:latin typeface="Verdana"/>
                          <a:ea typeface="Verdana"/>
                          <a:cs typeface="Verdana"/>
                        </a:rPr>
                        <a:t>Beauty product reviews</a:t>
                      </a:r>
                    </a:p>
                  </a:txBody>
                  <a:tcPr anchor="ctr"/>
                </a:tc>
                <a:extLst>
                  <a:ext uri="{0D108BD9-81ED-4DB2-BD59-A6C34878D82A}">
                    <a16:rowId xmlns:a16="http://schemas.microsoft.com/office/drawing/2014/main" val="10001"/>
                  </a:ext>
                </a:extLst>
              </a:tr>
              <a:tr h="766751">
                <a:tc>
                  <a:txBody>
                    <a:bodyPr/>
                    <a:lstStyle/>
                    <a:p>
                      <a:pPr>
                        <a:buNone/>
                      </a:pPr>
                      <a:r>
                        <a:rPr>
                          <a:latin typeface="Verdana"/>
                          <a:ea typeface="Verdana"/>
                          <a:cs typeface="Verdana"/>
                        </a:rPr>
                        <a:t>Amazon_Fashion</a:t>
                      </a:r>
                    </a:p>
                  </a:txBody>
                  <a:tcPr anchor="ctr"/>
                </a:tc>
                <a:tc>
                  <a:txBody>
                    <a:bodyPr/>
                    <a:lstStyle/>
                    <a:p>
                      <a:pPr>
                        <a:buNone/>
                      </a:pPr>
                      <a:r>
                        <a:rPr>
                          <a:latin typeface="Verdana"/>
                          <a:ea typeface="Verdana"/>
                          <a:cs typeface="Verdana"/>
                        </a:rPr>
                        <a:t>Fashion and apparel reviews</a:t>
                      </a:r>
                    </a:p>
                  </a:txBody>
                  <a:tcPr anchor="ctr"/>
                </a:tc>
                <a:extLst>
                  <a:ext uri="{0D108BD9-81ED-4DB2-BD59-A6C34878D82A}">
                    <a16:rowId xmlns:a16="http://schemas.microsoft.com/office/drawing/2014/main" val="10002"/>
                  </a:ext>
                </a:extLst>
              </a:tr>
              <a:tr h="766751">
                <a:tc>
                  <a:txBody>
                    <a:bodyPr/>
                    <a:lstStyle/>
                    <a:p>
                      <a:pPr>
                        <a:buNone/>
                      </a:pPr>
                      <a:r>
                        <a:rPr>
                          <a:latin typeface="Verdana"/>
                          <a:ea typeface="Verdana"/>
                          <a:cs typeface="Verdana"/>
                        </a:rPr>
                        <a:t>Appliances</a:t>
                      </a:r>
                    </a:p>
                  </a:txBody>
                  <a:tcPr anchor="ctr"/>
                </a:tc>
                <a:tc>
                  <a:txBody>
                    <a:bodyPr/>
                    <a:lstStyle/>
                    <a:p>
                      <a:pPr>
                        <a:buNone/>
                      </a:pPr>
                      <a:r>
                        <a:rPr>
                          <a:latin typeface="Verdana"/>
                          <a:ea typeface="Verdana"/>
                          <a:cs typeface="Verdana"/>
                        </a:rPr>
                        <a:t>Appliance product reviews</a:t>
                      </a:r>
                    </a:p>
                  </a:txBody>
                  <a:tcPr anchor="ctr"/>
                </a:tc>
                <a:extLst>
                  <a:ext uri="{0D108BD9-81ED-4DB2-BD59-A6C34878D82A}">
                    <a16:rowId xmlns:a16="http://schemas.microsoft.com/office/drawing/2014/main" val="10003"/>
                  </a:ext>
                </a:extLst>
              </a:tr>
              <a:tr h="766751">
                <a:tc>
                  <a:txBody>
                    <a:bodyPr/>
                    <a:lstStyle/>
                    <a:p>
                      <a:pPr>
                        <a:buNone/>
                      </a:pPr>
                      <a:r>
                        <a:rPr>
                          <a:latin typeface="Verdana"/>
                          <a:ea typeface="Verdana"/>
                          <a:cs typeface="Verdana"/>
                        </a:rPr>
                        <a:t>Handmade_Products</a:t>
                      </a:r>
                    </a:p>
                  </a:txBody>
                  <a:tcPr anchor="ctr"/>
                </a:tc>
                <a:tc>
                  <a:txBody>
                    <a:bodyPr/>
                    <a:lstStyle/>
                    <a:p>
                      <a:pPr>
                        <a:buNone/>
                      </a:pPr>
                      <a:r>
                        <a:rPr>
                          <a:latin typeface="Verdana"/>
                          <a:ea typeface="Verdana"/>
                          <a:cs typeface="Verdana"/>
                        </a:rPr>
                        <a:t>Handmade product reviews</a:t>
                      </a:r>
                    </a:p>
                  </a:txBody>
                  <a:tcPr anchor="ctr"/>
                </a:tc>
                <a:extLst>
                  <a:ext uri="{0D108BD9-81ED-4DB2-BD59-A6C34878D82A}">
                    <a16:rowId xmlns:a16="http://schemas.microsoft.com/office/drawing/2014/main" val="10004"/>
                  </a:ext>
                </a:extLst>
              </a:tr>
              <a:tr h="766751">
                <a:tc>
                  <a:txBody>
                    <a:bodyPr/>
                    <a:lstStyle/>
                    <a:p>
                      <a:pPr>
                        <a:buNone/>
                      </a:pPr>
                      <a:r>
                        <a:rPr>
                          <a:latin typeface="Verdana"/>
                          <a:ea typeface="Verdana"/>
                          <a:cs typeface="Verdana"/>
                        </a:rPr>
                        <a:t>Health_and_Personal_Care</a:t>
                      </a:r>
                    </a:p>
                  </a:txBody>
                  <a:tcPr anchor="ctr"/>
                </a:tc>
                <a:tc>
                  <a:txBody>
                    <a:bodyPr/>
                    <a:lstStyle/>
                    <a:p>
                      <a:pPr>
                        <a:buNone/>
                      </a:pPr>
                      <a:r>
                        <a:rPr>
                          <a:latin typeface="Verdana"/>
                          <a:ea typeface="Verdana"/>
                          <a:cs typeface="Verdana"/>
                        </a:rPr>
                        <a:t>Health and personal care reviews</a:t>
                      </a:r>
                    </a:p>
                  </a:txBody>
                  <a:tcPr anchor="ctr"/>
                </a:tc>
                <a:extLst>
                  <a:ext uri="{0D108BD9-81ED-4DB2-BD59-A6C34878D82A}">
                    <a16:rowId xmlns:a16="http://schemas.microsoft.com/office/drawing/2014/main" val="10005"/>
                  </a:ext>
                </a:extLst>
              </a:tr>
            </a:tbl>
          </a:graphicData>
        </a:graphic>
      </p:graphicFrame>
      <p:sp>
        <p:nvSpPr>
          <p:cNvPr id="33" name="Rectangle 2">
            <a:extLst>
              <a:ext uri="{FF2B5EF4-FFF2-40B4-BE49-F238E27FC236}">
                <a16:creationId xmlns:a16="http://schemas.microsoft.com/office/drawing/2014/main" id="{B86E13BD-00C7-409C-0837-96BD304DB815}"/>
              </a:ext>
            </a:extLst>
          </p:cNvPr>
          <p:cNvSpPr>
            <a:spLocks noGrp="1"/>
          </p:cNvSpPr>
          <p:nvPr/>
        </p:nvSpPr>
        <p:spPr>
          <a:xfrm>
            <a:off x="990598" y="2863437"/>
            <a:ext cx="13939347" cy="1200329"/>
          </a:xfrm>
          <a:prstGeom prst="rect">
            <a:avLst/>
          </a:prstGeom>
          <a:noFill/>
          <a:ln>
            <a:noFill/>
          </a:ln>
        </p:spPr>
        <p:txBody>
          <a:bodyPr vert="horz" wrap="square" lIns="91440" tIns="45720" rIns="91440" bIns="45720" anchor="ctr">
            <a:spAutoFit/>
          </a:bodyPr>
          <a:lstStyle>
            <a:lvl1pPr>
              <a:spcBef>
                <a:spcPts val="0"/>
              </a:spcBef>
              <a:spcAft>
                <a:spcPts val="0"/>
              </a:spcAft>
              <a:buNone/>
              <a:defRPr>
                <a:solidFill>
                  <a:schemeClr val="tx1"/>
                </a:solidFill>
                <a:latin typeface="Arial"/>
                <a:ea typeface="Arial"/>
                <a:cs typeface="Arial"/>
              </a:defRPr>
            </a:lvl1pPr>
            <a:lvl2pPr>
              <a:spcBef>
                <a:spcPts val="0"/>
              </a:spcBef>
              <a:spcAft>
                <a:spcPts val="0"/>
              </a:spcAft>
              <a:buNone/>
              <a:defRPr>
                <a:solidFill>
                  <a:schemeClr val="tx1"/>
                </a:solidFill>
                <a:latin typeface="Arial"/>
                <a:ea typeface="Arial"/>
                <a:cs typeface="Arial"/>
              </a:defRPr>
            </a:lvl2pPr>
            <a:lvl3pPr>
              <a:spcBef>
                <a:spcPts val="0"/>
              </a:spcBef>
              <a:spcAft>
                <a:spcPts val="0"/>
              </a:spcAft>
              <a:buNone/>
              <a:defRPr>
                <a:solidFill>
                  <a:schemeClr val="tx1"/>
                </a:solidFill>
                <a:latin typeface="Arial"/>
                <a:ea typeface="Arial"/>
                <a:cs typeface="Arial"/>
              </a:defRPr>
            </a:lvl3pPr>
            <a:lvl4pPr>
              <a:spcBef>
                <a:spcPts val="0"/>
              </a:spcBef>
              <a:spcAft>
                <a:spcPts val="0"/>
              </a:spcAft>
              <a:buNone/>
              <a:defRPr>
                <a:solidFill>
                  <a:schemeClr val="tx1"/>
                </a:solidFill>
                <a:latin typeface="Arial"/>
                <a:ea typeface="Arial"/>
                <a:cs typeface="Arial"/>
              </a:defRPr>
            </a:lvl4pPr>
            <a:lvl5pPr>
              <a:spcBef>
                <a:spcPts val="0"/>
              </a:spcBef>
              <a:spcAft>
                <a:spcPts val="0"/>
              </a:spcAft>
              <a:buNone/>
              <a:defRPr>
                <a:solidFill>
                  <a:schemeClr val="tx1"/>
                </a:solidFill>
                <a:latin typeface="Arial"/>
                <a:ea typeface="Arial"/>
                <a:cs typeface="Arial"/>
              </a:defRPr>
            </a:lvl5pPr>
            <a:lvl6pPr>
              <a:spcBef>
                <a:spcPts val="0"/>
              </a:spcBef>
              <a:spcAft>
                <a:spcPts val="0"/>
              </a:spcAft>
              <a:buNone/>
              <a:defRPr>
                <a:solidFill>
                  <a:schemeClr val="tx1"/>
                </a:solidFill>
                <a:latin typeface="Arial"/>
                <a:ea typeface="Arial"/>
                <a:cs typeface="Arial"/>
              </a:defRPr>
            </a:lvl6pPr>
            <a:lvl7pPr>
              <a:spcBef>
                <a:spcPts val="0"/>
              </a:spcBef>
              <a:spcAft>
                <a:spcPts val="0"/>
              </a:spcAft>
              <a:buNone/>
              <a:defRPr>
                <a:solidFill>
                  <a:schemeClr val="tx1"/>
                </a:solidFill>
                <a:latin typeface="Arial"/>
                <a:ea typeface="Arial"/>
                <a:cs typeface="Arial"/>
              </a:defRPr>
            </a:lvl7pPr>
            <a:lvl8pPr>
              <a:spcBef>
                <a:spcPts val="0"/>
              </a:spcBef>
              <a:spcAft>
                <a:spcPts val="0"/>
              </a:spcAft>
              <a:buNone/>
              <a:defRPr>
                <a:solidFill>
                  <a:schemeClr val="tx1"/>
                </a:solidFill>
                <a:latin typeface="Arial"/>
                <a:ea typeface="Arial"/>
                <a:cs typeface="Arial"/>
              </a:defRPr>
            </a:lvl8pPr>
            <a:lvl9pPr>
              <a:spcBef>
                <a:spcPts val="0"/>
              </a:spcBef>
              <a:spcAft>
                <a:spcPts val="0"/>
              </a:spcAft>
              <a:buNone/>
              <a:defRPr>
                <a:solidFill>
                  <a:schemeClr val="tx1"/>
                </a:solidFill>
                <a:latin typeface="Arial"/>
                <a:ea typeface="Arial"/>
                <a:cs typeface="Arial"/>
              </a:defRPr>
            </a:lvl9pPr>
          </a:lstStyle>
          <a:p>
            <a:pPr marL="0" indent="0" algn="l">
              <a:lnSpc>
                <a:spcPct val="100000"/>
              </a:lnSpc>
              <a:spcBef>
                <a:spcPts val="0"/>
              </a:spcBef>
              <a:spcAft>
                <a:spcPts val="0"/>
              </a:spcAft>
              <a:buNone/>
            </a:pPr>
            <a:r>
              <a:rPr sz="2400" b="1" i="0" u="none">
                <a:solidFill>
                  <a:srgbClr val="000000"/>
                </a:solidFill>
                <a:latin typeface="Verdana"/>
                <a:ea typeface="Verdana"/>
                <a:cs typeface="Verdana"/>
              </a:rPr>
              <a:t>Fields used</a:t>
            </a:r>
          </a:p>
          <a:p>
            <a:pPr marL="0" indent="0" algn="l">
              <a:lnSpc>
                <a:spcPct val="100000"/>
              </a:lnSpc>
              <a:spcBef>
                <a:spcPts val="0"/>
              </a:spcBef>
              <a:spcAft>
                <a:spcPts val="0"/>
              </a:spcAft>
              <a:buNone/>
            </a:pPr>
            <a:r>
              <a:rPr sz="2400" b="0" i="0" u="none">
                <a:solidFill>
                  <a:srgbClr val="000000"/>
                </a:solidFill>
                <a:latin typeface="Verdana"/>
                <a:ea typeface="Verdana"/>
                <a:cs typeface="Verdana"/>
              </a:rPr>
              <a:t>review text · review title · rating · helpful votes · verified purchase ·product ID · product title · category</a:t>
            </a:r>
          </a:p>
        </p:txBody>
      </p:sp>
    </p:spTree>
    <p:extLst>
      <p:ext uri="{BB962C8B-B14F-4D97-AF65-F5344CB8AC3E}">
        <p14:creationId xmlns:p14="http://schemas.microsoft.com/office/powerpoint/2010/main" val="249838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kicker">
            <a:extLst>
              <a:ext uri="{FF2B5EF4-FFF2-40B4-BE49-F238E27FC236}">
                <a16:creationId xmlns:a16="http://schemas.microsoft.com/office/drawing/2014/main" id="{381E2C2B-1A4A-28F4-0DEF-3E120848EB1C}"/>
              </a:ext>
            </a:extLst>
          </p:cNvPr>
          <p:cNvSpPr>
            <a:spLocks noGrp="1"/>
          </p:cNvSpPr>
          <p:nvPr/>
        </p:nvSpPr>
        <p:spPr>
          <a:xfrm>
            <a:off x="990600" y="666750"/>
            <a:ext cx="838200" cy="342900"/>
          </a:xfrm>
          <a:prstGeom prst="rect">
            <a:avLst/>
          </a:prstGeom>
        </p:spPr>
        <p:txBody>
          <a:bodyPr lIns="0" tIns="0" rIns="0" bIns="0"/>
          <a:lstStyle/>
          <a:p>
            <a:pPr algn="l">
              <a:buNone/>
              <a:defRPr sz="1350" b="1">
                <a:solidFill>
                  <a:srgbClr val="1E5B7A"/>
                </a:solidFill>
                <a:latin typeface="Verdana"/>
                <a:ea typeface="Verdana"/>
                <a:cs typeface="Verdana"/>
              </a:defRPr>
            </a:pPr>
            <a:endParaRPr/>
          </a:p>
        </p:txBody>
      </p:sp>
      <p:sp>
        <p:nvSpPr>
          <p:cNvPr id="28" name="slide-kicker">
            <a:extLst>
              <a:ext uri="{FF2B5EF4-FFF2-40B4-BE49-F238E27FC236}">
                <a16:creationId xmlns:a16="http://schemas.microsoft.com/office/drawing/2014/main" id="{A70FA75C-A60B-B5E9-C3E3-7E71E2DF5DBC}"/>
              </a:ext>
            </a:extLst>
          </p:cNvPr>
          <p:cNvSpPr>
            <a:spLocks noGrp="1"/>
          </p:cNvSpPr>
          <p:nvPr/>
        </p:nvSpPr>
        <p:spPr>
          <a:xfrm>
            <a:off x="990599" y="603130"/>
            <a:ext cx="7144408" cy="552450"/>
          </a:xfrm>
          <a:prstGeom prst="rect">
            <a:avLst/>
          </a:prstGeom>
        </p:spPr>
        <p:txBody>
          <a:bodyPr lIns="0" tIns="0" rIns="0" bIns="0"/>
          <a:lstStyle/>
          <a:p>
            <a:pPr>
              <a:buNone/>
              <a:defRPr sz="1350" b="1">
                <a:solidFill>
                  <a:srgbClr val="1E5B7A"/>
                </a:solidFill>
                <a:latin typeface="Verdana"/>
                <a:ea typeface="Verdana"/>
                <a:cs typeface="Verdana"/>
              </a:defRPr>
            </a:pPr>
            <a:r>
              <a:rPr sz="3200">
                <a:solidFill>
                  <a:srgbClr val="1E5B7A"/>
                </a:solidFill>
                <a:latin typeface="Verdana"/>
                <a:ea typeface="Verdana"/>
                <a:cs typeface="Verdana"/>
              </a:rPr>
              <a:t>Dataset - </a:t>
            </a:r>
            <a:r>
              <a:rPr sz="3200" b="1"/>
              <a:t>Preprocessed</a:t>
            </a:r>
          </a:p>
        </p:txBody>
      </p:sp>
      <p:pic>
        <p:nvPicPr>
          <p:cNvPr id="29" name="图片 4"/>
          <p:cNvPicPr>
            <a:picLocks noChangeAspect="1"/>
          </p:cNvPicPr>
          <p:nvPr/>
        </p:nvPicPr>
        <p:blipFill>
          <a:blip r:embed="rId3"/>
          <a:stretch>
            <a:fillRect/>
          </a:stretch>
        </p:blipFill>
        <p:spPr>
          <a:xfrm>
            <a:off x="990599" y="2239935"/>
            <a:ext cx="13941251" cy="3942256"/>
          </a:xfrm>
          <a:prstGeom prst="rect">
            <a:avLst/>
          </a:prstGeom>
        </p:spPr>
      </p:pic>
      <p:sp>
        <p:nvSpPr>
          <p:cNvPr id="6" name="Rectangle 1">
            <a:extLst>
              <a:ext uri="{FF2B5EF4-FFF2-40B4-BE49-F238E27FC236}">
                <a16:creationId xmlns:a16="http://schemas.microsoft.com/office/drawing/2014/main" id="{DC4C24CB-A923-1EE9-BBB0-CD10FCA6C121}"/>
              </a:ext>
            </a:extLst>
          </p:cNvPr>
          <p:cNvSpPr>
            <a:spLocks noGrp="1"/>
          </p:cNvSpPr>
          <p:nvPr/>
        </p:nvSpPr>
        <p:spPr>
          <a:xfrm>
            <a:off x="990599" y="1466925"/>
            <a:ext cx="11398469" cy="461665"/>
          </a:xfrm>
          <a:prstGeom prst="rect">
            <a:avLst/>
          </a:prstGeom>
          <a:noFill/>
          <a:ln>
            <a:noFill/>
          </a:ln>
        </p:spPr>
        <p:txBody>
          <a:bodyPr vert="horz" wrap="square" lIns="91440" tIns="45720" rIns="91440" bIns="45720" anchor="ctr">
            <a:spAutoFit/>
          </a:bodyPr>
          <a:lstStyle>
            <a:lvl1pPr>
              <a:spcBef>
                <a:spcPts val="0"/>
              </a:spcBef>
              <a:spcAft>
                <a:spcPts val="0"/>
              </a:spcAft>
              <a:buNone/>
              <a:defRPr>
                <a:solidFill>
                  <a:schemeClr val="tx1"/>
                </a:solidFill>
                <a:latin typeface="Arial"/>
                <a:ea typeface="Arial"/>
                <a:cs typeface="Arial"/>
              </a:defRPr>
            </a:lvl1pPr>
            <a:lvl2pPr>
              <a:spcBef>
                <a:spcPts val="0"/>
              </a:spcBef>
              <a:spcAft>
                <a:spcPts val="0"/>
              </a:spcAft>
              <a:buNone/>
              <a:defRPr>
                <a:solidFill>
                  <a:schemeClr val="tx1"/>
                </a:solidFill>
                <a:latin typeface="Arial"/>
                <a:ea typeface="Arial"/>
                <a:cs typeface="Arial"/>
              </a:defRPr>
            </a:lvl2pPr>
            <a:lvl3pPr>
              <a:spcBef>
                <a:spcPts val="0"/>
              </a:spcBef>
              <a:spcAft>
                <a:spcPts val="0"/>
              </a:spcAft>
              <a:buNone/>
              <a:defRPr>
                <a:solidFill>
                  <a:schemeClr val="tx1"/>
                </a:solidFill>
                <a:latin typeface="Arial"/>
                <a:ea typeface="Arial"/>
                <a:cs typeface="Arial"/>
              </a:defRPr>
            </a:lvl3pPr>
            <a:lvl4pPr>
              <a:spcBef>
                <a:spcPts val="0"/>
              </a:spcBef>
              <a:spcAft>
                <a:spcPts val="0"/>
              </a:spcAft>
              <a:buNone/>
              <a:defRPr>
                <a:solidFill>
                  <a:schemeClr val="tx1"/>
                </a:solidFill>
                <a:latin typeface="Arial"/>
                <a:ea typeface="Arial"/>
                <a:cs typeface="Arial"/>
              </a:defRPr>
            </a:lvl4pPr>
            <a:lvl5pPr>
              <a:spcBef>
                <a:spcPts val="0"/>
              </a:spcBef>
              <a:spcAft>
                <a:spcPts val="0"/>
              </a:spcAft>
              <a:buNone/>
              <a:defRPr>
                <a:solidFill>
                  <a:schemeClr val="tx1"/>
                </a:solidFill>
                <a:latin typeface="Arial"/>
                <a:ea typeface="Arial"/>
                <a:cs typeface="Arial"/>
              </a:defRPr>
            </a:lvl5pPr>
            <a:lvl6pPr>
              <a:spcBef>
                <a:spcPts val="0"/>
              </a:spcBef>
              <a:spcAft>
                <a:spcPts val="0"/>
              </a:spcAft>
              <a:buNone/>
              <a:defRPr>
                <a:solidFill>
                  <a:schemeClr val="tx1"/>
                </a:solidFill>
                <a:latin typeface="Arial"/>
                <a:ea typeface="Arial"/>
                <a:cs typeface="Arial"/>
              </a:defRPr>
            </a:lvl6pPr>
            <a:lvl7pPr>
              <a:spcBef>
                <a:spcPts val="0"/>
              </a:spcBef>
              <a:spcAft>
                <a:spcPts val="0"/>
              </a:spcAft>
              <a:buNone/>
              <a:defRPr>
                <a:solidFill>
                  <a:schemeClr val="tx1"/>
                </a:solidFill>
                <a:latin typeface="Arial"/>
                <a:ea typeface="Arial"/>
                <a:cs typeface="Arial"/>
              </a:defRPr>
            </a:lvl7pPr>
            <a:lvl8pPr>
              <a:spcBef>
                <a:spcPts val="0"/>
              </a:spcBef>
              <a:spcAft>
                <a:spcPts val="0"/>
              </a:spcAft>
              <a:buNone/>
              <a:defRPr>
                <a:solidFill>
                  <a:schemeClr val="tx1"/>
                </a:solidFill>
                <a:latin typeface="Arial"/>
                <a:ea typeface="Arial"/>
                <a:cs typeface="Arial"/>
              </a:defRPr>
            </a:lvl8pPr>
            <a:lvl9pPr>
              <a:spcBef>
                <a:spcPts val="0"/>
              </a:spcBef>
              <a:spcAft>
                <a:spcPts val="0"/>
              </a:spcAft>
              <a:buNone/>
              <a:defRPr>
                <a:solidFill>
                  <a:schemeClr val="tx1"/>
                </a:solidFill>
                <a:latin typeface="Arial"/>
                <a:ea typeface="Arial"/>
                <a:cs typeface="Arial"/>
              </a:defRPr>
            </a:lvl9pPr>
          </a:lstStyle>
          <a:p>
            <a:r>
              <a:rPr lang="en-US" sz="2400" b="1" dirty="0">
                <a:solidFill>
                  <a:srgbClr val="000000"/>
                </a:solidFill>
              </a:rPr>
              <a:t>Three task-specific datasets support the review workflow</a:t>
            </a:r>
            <a:endParaRPr sz="2400" b="1" i="0" u="none" dirty="0">
              <a:solidFill>
                <a:srgbClr val="000000"/>
              </a:solidFill>
              <a:latin typeface="Arial"/>
              <a:ea typeface="Arial"/>
              <a:cs typeface="Arial"/>
            </a:endParaRPr>
          </a:p>
        </p:txBody>
      </p:sp>
      <p:sp>
        <p:nvSpPr>
          <p:cNvPr id="8" name="Rectangle 2">
            <a:extLst>
              <a:ext uri="{FF2B5EF4-FFF2-40B4-BE49-F238E27FC236}">
                <a16:creationId xmlns:a16="http://schemas.microsoft.com/office/drawing/2014/main" id="{D69E9857-512F-5CEE-CE6C-E10068A46AC7}"/>
              </a:ext>
            </a:extLst>
          </p:cNvPr>
          <p:cNvSpPr>
            <a:spLocks noGrp="1"/>
          </p:cNvSpPr>
          <p:nvPr/>
        </p:nvSpPr>
        <p:spPr>
          <a:xfrm>
            <a:off x="990599" y="6179056"/>
            <a:ext cx="11650717" cy="2585323"/>
          </a:xfrm>
          <a:prstGeom prst="rect">
            <a:avLst/>
          </a:prstGeom>
          <a:noFill/>
          <a:ln>
            <a:noFill/>
          </a:ln>
        </p:spPr>
        <p:txBody>
          <a:bodyPr vert="horz" wrap="square" lIns="91440" tIns="45720" rIns="91440" bIns="45720" anchor="ctr">
            <a:spAutoFit/>
          </a:bodyPr>
          <a:lstStyle/>
          <a:p>
            <a:pPr marL="0" indent="0" algn="l">
              <a:lnSpc>
                <a:spcPct val="100000"/>
              </a:lnSpc>
              <a:spcBef>
                <a:spcPts val="0"/>
              </a:spcBef>
              <a:spcAft>
                <a:spcPts val="0"/>
              </a:spcAft>
              <a:buNone/>
            </a:pPr>
            <a:r>
              <a:rPr sz="2400" b="1" i="0" u="none" dirty="0">
                <a:solidFill>
                  <a:srgbClr val="000000"/>
                </a:solidFill>
                <a:latin typeface="Verdana"/>
                <a:ea typeface="Verdana"/>
                <a:cs typeface="Verdana"/>
              </a:rPr>
              <a:t>Label design</a:t>
            </a:r>
          </a:p>
          <a:p>
            <a:pPr marL="0" indent="0" algn="l">
              <a:lnSpc>
                <a:spcPct val="100000"/>
              </a:lnSpc>
              <a:spcBef>
                <a:spcPts val="0"/>
              </a:spcBef>
              <a:spcAft>
                <a:spcPts val="0"/>
              </a:spcAft>
              <a:buNone/>
            </a:pPr>
            <a:endParaRPr sz="2400" b="1" i="0" u="none" dirty="0">
              <a:solidFill>
                <a:srgbClr val="000000"/>
              </a:solidFill>
              <a:latin typeface="Verdana"/>
              <a:ea typeface="Verdana"/>
              <a:cs typeface="Verdana"/>
            </a:endParaRPr>
          </a:p>
          <a:p>
            <a:pPr marL="0" indent="0" algn="l">
              <a:lnSpc>
                <a:spcPct val="100000"/>
              </a:lnSpc>
              <a:spcBef>
                <a:spcPts val="0"/>
              </a:spcBef>
              <a:spcAft>
                <a:spcPts val="0"/>
              </a:spcAft>
              <a:buChar char="•"/>
            </a:pPr>
            <a:r>
              <a:rPr sz="2000" b="1" i="0" u="none" dirty="0">
                <a:solidFill>
                  <a:srgbClr val="000000"/>
                </a:solidFill>
                <a:latin typeface="Verdana"/>
                <a:ea typeface="Verdana"/>
                <a:cs typeface="Verdana"/>
              </a:rPr>
              <a:t> </a:t>
            </a:r>
            <a:r>
              <a:rPr lang="en-US" sz="2000" b="1" i="0" u="none" dirty="0">
                <a:solidFill>
                  <a:srgbClr val="000000"/>
                </a:solidFill>
                <a:latin typeface="Verdana"/>
                <a:ea typeface="Verdana"/>
                <a:cs typeface="Verdana"/>
              </a:rPr>
              <a:t>Review value:</a:t>
            </a:r>
            <a:r>
              <a:rPr lang="en-US" sz="2000" b="0" i="0" u="none" dirty="0">
                <a:solidFill>
                  <a:srgbClr val="000000"/>
                </a:solidFill>
                <a:latin typeface="Verdana"/>
                <a:ea typeface="Verdana"/>
                <a:cs typeface="Verdana"/>
              </a:rPr>
              <a:t> uses helpful votes as a proxy business-value signal.</a:t>
            </a:r>
          </a:p>
          <a:p>
            <a:pPr marL="0" indent="0" algn="l">
              <a:lnSpc>
                <a:spcPct val="100000"/>
              </a:lnSpc>
              <a:spcBef>
                <a:spcPts val="0"/>
              </a:spcBef>
              <a:spcAft>
                <a:spcPts val="0"/>
              </a:spcAft>
              <a:buChar char="•"/>
            </a:pPr>
            <a:endParaRPr lang="en-US" sz="2000" b="0" i="0" u="none" dirty="0">
              <a:solidFill>
                <a:srgbClr val="000000"/>
              </a:solidFill>
              <a:latin typeface="Verdana"/>
              <a:ea typeface="Verdana"/>
              <a:cs typeface="Verdana"/>
            </a:endParaRPr>
          </a:p>
          <a:p>
            <a:pPr marL="0" indent="0" algn="l">
              <a:lnSpc>
                <a:spcPct val="100000"/>
              </a:lnSpc>
              <a:spcBef>
                <a:spcPts val="0"/>
              </a:spcBef>
              <a:spcAft>
                <a:spcPts val="0"/>
              </a:spcAft>
              <a:buChar char="•"/>
            </a:pPr>
            <a:r>
              <a:rPr lang="en-US" sz="2000" b="1" i="0" u="none" dirty="0">
                <a:solidFill>
                  <a:srgbClr val="000000"/>
                </a:solidFill>
                <a:latin typeface="Verdana"/>
                <a:ea typeface="Verdana"/>
                <a:cs typeface="Verdana"/>
              </a:rPr>
              <a:t> Sentiment:</a:t>
            </a:r>
            <a:r>
              <a:rPr lang="en-US" sz="2000" b="0" i="0" u="none" dirty="0">
                <a:solidFill>
                  <a:srgbClr val="000000"/>
                </a:solidFill>
                <a:latin typeface="Verdana"/>
                <a:ea typeface="Verdana"/>
                <a:cs typeface="Verdana"/>
              </a:rPr>
              <a:t> keeps only high-confidence cases where rating and VADER agree.</a:t>
            </a:r>
          </a:p>
          <a:p>
            <a:pPr marL="0" indent="0" algn="l">
              <a:lnSpc>
                <a:spcPct val="100000"/>
              </a:lnSpc>
              <a:spcBef>
                <a:spcPts val="0"/>
              </a:spcBef>
              <a:spcAft>
                <a:spcPts val="0"/>
              </a:spcAft>
              <a:buChar char="•"/>
            </a:pPr>
            <a:endParaRPr lang="en-US" sz="2000" b="0" i="0" u="none" dirty="0">
              <a:solidFill>
                <a:srgbClr val="000000"/>
              </a:solidFill>
              <a:latin typeface="Verdana"/>
              <a:ea typeface="Verdana"/>
              <a:cs typeface="Verdana"/>
            </a:endParaRPr>
          </a:p>
          <a:p>
            <a:pPr marL="0" indent="0" algn="l">
              <a:lnSpc>
                <a:spcPct val="100000"/>
              </a:lnSpc>
              <a:spcBef>
                <a:spcPts val="0"/>
              </a:spcBef>
              <a:spcAft>
                <a:spcPts val="0"/>
              </a:spcAft>
              <a:buChar char="•"/>
            </a:pPr>
            <a:r>
              <a:rPr lang="en-US" sz="2000" b="1" i="0" u="none" dirty="0">
                <a:solidFill>
                  <a:srgbClr val="000000"/>
                </a:solidFill>
                <a:latin typeface="Verdana"/>
                <a:ea typeface="Verdana"/>
                <a:cs typeface="Verdana"/>
              </a:rPr>
              <a:t> Complaint titles:</a:t>
            </a:r>
            <a:r>
              <a:rPr lang="en-US" sz="2000" b="0" i="0" u="none" dirty="0">
                <a:solidFill>
                  <a:srgbClr val="000000"/>
                </a:solidFill>
                <a:latin typeface="Verdana"/>
                <a:ea typeface="Verdana"/>
                <a:cs typeface="Verdana"/>
              </a:rPr>
              <a:t> uses an LLM teacher to create pseudo labels for negative reviews.</a:t>
            </a:r>
          </a:p>
          <a:p>
            <a:pPr marL="0" indent="0" algn="l">
              <a:lnSpc>
                <a:spcPct val="100000"/>
              </a:lnSpc>
              <a:spcBef>
                <a:spcPts val="0"/>
              </a:spcBef>
              <a:spcAft>
                <a:spcPts val="0"/>
              </a:spcAft>
              <a:buNone/>
            </a:pPr>
            <a:endParaRPr lang="en-US" sz="2000" b="0" i="0" u="none" dirty="0">
              <a:solidFill>
                <a:srgbClr val="000000"/>
              </a:solidFill>
              <a:latin typeface="Verdana"/>
              <a:ea typeface="Verdana"/>
              <a:cs typeface="Verdana"/>
            </a:endParaRPr>
          </a:p>
        </p:txBody>
      </p:sp>
    </p:spTree>
    <p:extLst>
      <p:ext uri="{BB962C8B-B14F-4D97-AF65-F5344CB8AC3E}">
        <p14:creationId xmlns:p14="http://schemas.microsoft.com/office/powerpoint/2010/main" val="302673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kicker">
            <a:extLst>
              <a:ext uri="{FF2B5EF4-FFF2-40B4-BE49-F238E27FC236}">
                <a16:creationId xmlns:a16="http://schemas.microsoft.com/office/drawing/2014/main" id="{D329782F-9672-446B-A696-73C62FCA6C33}"/>
              </a:ext>
            </a:extLst>
          </p:cNvPr>
          <p:cNvSpPr>
            <a:spLocks noGrp="1"/>
          </p:cNvSpPr>
          <p:nvPr/>
        </p:nvSpPr>
        <p:spPr>
          <a:xfrm>
            <a:off x="914400" y="666750"/>
            <a:ext cx="1428750" cy="342900"/>
          </a:xfrm>
          <a:prstGeom prst="rect">
            <a:avLst/>
          </a:prstGeom>
        </p:spPr>
        <p:txBody>
          <a:bodyPr lIns="0" tIns="0" rIns="0" bIns="0"/>
          <a:lstStyle/>
          <a:p>
            <a:pPr algn="l">
              <a:buNone/>
              <a:defRPr sz="1350" b="1">
                <a:solidFill>
                  <a:srgbClr val="1E5B7A"/>
                </a:solidFill>
                <a:latin typeface="Verdana"/>
                <a:ea typeface="Verdana"/>
                <a:cs typeface="Verdana"/>
              </a:defRPr>
            </a:pPr>
            <a:endParaRPr/>
          </a:p>
        </p:txBody>
      </p:sp>
      <p:sp>
        <p:nvSpPr>
          <p:cNvPr id="45" name="footer-rule">
            <a:extLst>
              <a:ext uri="{FF2B5EF4-FFF2-40B4-BE49-F238E27FC236}">
                <a16:creationId xmlns:a16="http://schemas.microsoft.com/office/drawing/2014/main" id="{09745521-E770-49EE-9730-FED86687532B}"/>
              </a:ext>
            </a:extLst>
          </p:cNvPr>
          <p:cNvSpPr>
            <a:spLocks noGrp="1"/>
          </p:cNvSpPr>
          <p:nvPr/>
        </p:nvSpPr>
        <p:spPr>
          <a:xfrm>
            <a:off x="914400" y="9448800"/>
            <a:ext cx="914400" cy="19050"/>
          </a:xfrm>
          <a:prstGeom prst="rect">
            <a:avLst/>
          </a:prstGeom>
          <a:solidFill>
            <a:srgbClr val="A9B8B0"/>
          </a:solidFill>
          <a:ln w="0">
            <a:solidFill>
              <a:srgbClr val="A9B8B0"/>
            </a:solidFill>
            <a:prstDash val="solid"/>
          </a:ln>
        </p:spPr>
        <p:txBody>
          <a:bodyPr/>
          <a:lstStyle/>
          <a:p>
            <a:endParaRPr/>
          </a:p>
        </p:txBody>
      </p:sp>
      <p:sp>
        <p:nvSpPr>
          <p:cNvPr id="46" name="footer-section">
            <a:extLst>
              <a:ext uri="{FF2B5EF4-FFF2-40B4-BE49-F238E27FC236}">
                <a16:creationId xmlns:a16="http://schemas.microsoft.com/office/drawing/2014/main" id="{DDE40AF2-8DD8-4BE9-8DC9-6744E33F0AB6}"/>
              </a:ext>
            </a:extLst>
          </p:cNvPr>
          <p:cNvSpPr>
            <a:spLocks noGrp="1"/>
          </p:cNvSpPr>
          <p:nvPr/>
        </p:nvSpPr>
        <p:spPr>
          <a:xfrm>
            <a:off x="1962150" y="9277350"/>
            <a:ext cx="1123950" cy="342900"/>
          </a:xfrm>
          <a:prstGeom prst="rect">
            <a:avLst/>
          </a:prstGeom>
        </p:spPr>
        <p:txBody>
          <a:bodyPr lIns="0" tIns="0" rIns="0" bIns="0"/>
          <a:lstStyle/>
          <a:p>
            <a:pPr>
              <a:lnSpc>
                <a:spcPct val="110000"/>
              </a:lnSpc>
              <a:buNone/>
              <a:defRPr sz="1200">
                <a:solidFill>
                  <a:srgbClr val="52616B"/>
                </a:solidFill>
                <a:latin typeface="Verdana"/>
                <a:ea typeface="Verdana"/>
                <a:cs typeface="Verdana"/>
              </a:defRPr>
            </a:pPr>
            <a:r>
              <a:rPr sz="1200">
                <a:solidFill>
                  <a:srgbClr val="52616B"/>
                </a:solidFill>
                <a:latin typeface="Verdana"/>
                <a:ea typeface="Verdana"/>
                <a:cs typeface="Verdana"/>
              </a:rPr>
              <a:t>System design</a:t>
            </a:r>
          </a:p>
        </p:txBody>
      </p:sp>
      <p:sp>
        <p:nvSpPr>
          <p:cNvPr id="49" name="slide-kicker">
            <a:extLst>
              <a:ext uri="{FF2B5EF4-FFF2-40B4-BE49-F238E27FC236}">
                <a16:creationId xmlns:a16="http://schemas.microsoft.com/office/drawing/2014/main" id="{7C028095-E6B0-402B-6AED-FA4D566C1361}"/>
              </a:ext>
            </a:extLst>
          </p:cNvPr>
          <p:cNvSpPr>
            <a:spLocks noGrp="1"/>
          </p:cNvSpPr>
          <p:nvPr/>
        </p:nvSpPr>
        <p:spPr>
          <a:xfrm>
            <a:off x="990599" y="603130"/>
            <a:ext cx="5185913" cy="552450"/>
          </a:xfrm>
          <a:prstGeom prst="rect">
            <a:avLst/>
          </a:prstGeom>
        </p:spPr>
        <p:txBody>
          <a:bodyPr lIns="0" tIns="0" rIns="0" bIns="0"/>
          <a:lstStyle/>
          <a:p>
            <a:pPr>
              <a:buNone/>
              <a:defRPr sz="1350" b="1">
                <a:solidFill>
                  <a:srgbClr val="1E5B7A"/>
                </a:solidFill>
                <a:latin typeface="Verdana"/>
                <a:ea typeface="Verdana"/>
                <a:cs typeface="Verdana"/>
              </a:defRPr>
            </a:pPr>
            <a:r>
              <a:rPr sz="3200"/>
              <a:t>System Architecture</a:t>
            </a:r>
          </a:p>
        </p:txBody>
      </p:sp>
      <p:sp>
        <p:nvSpPr>
          <p:cNvPr id="51" name="文本框 50">
            <a:extLst>
              <a:ext uri="{FF2B5EF4-FFF2-40B4-BE49-F238E27FC236}">
                <a16:creationId xmlns:a16="http://schemas.microsoft.com/office/drawing/2014/main" id="{ADFCE075-2FAC-22A0-6328-BABF80FB89B9}"/>
              </a:ext>
            </a:extLst>
          </p:cNvPr>
          <p:cNvSpPr>
            <a:spLocks noGrp="1"/>
          </p:cNvSpPr>
          <p:nvPr/>
        </p:nvSpPr>
        <p:spPr>
          <a:xfrm>
            <a:off x="914400" y="1368238"/>
            <a:ext cx="9144000" cy="369332"/>
          </a:xfrm>
          <a:prstGeom prst="rect">
            <a:avLst/>
          </a:prstGeom>
          <a:noFill/>
        </p:spPr>
        <p:txBody>
          <a:bodyPr wrap="square">
            <a:spAutoFit/>
          </a:bodyPr>
          <a:lstStyle/>
          <a:p>
            <a:r>
              <a:rPr b="1" i="0" u="none">
                <a:solidFill>
                  <a:srgbClr val="000000"/>
                </a:solidFill>
                <a:latin typeface="Verdana"/>
                <a:ea typeface="Verdana"/>
                <a:cs typeface="Verdana"/>
              </a:rPr>
              <a:t>Offline Training Pipeline</a:t>
            </a:r>
          </a:p>
        </p:txBody>
      </p:sp>
      <p:pic>
        <p:nvPicPr>
          <p:cNvPr id="52" name="图片 51"/>
          <p:cNvPicPr>
            <a:picLocks noChangeAspect="1"/>
          </p:cNvPicPr>
          <p:nvPr/>
        </p:nvPicPr>
        <p:blipFill>
          <a:blip r:embed="rId3"/>
          <a:stretch>
            <a:fillRect/>
          </a:stretch>
        </p:blipFill>
        <p:spPr>
          <a:xfrm>
            <a:off x="914400" y="1950228"/>
            <a:ext cx="15790487" cy="4461178"/>
          </a:xfrm>
          <a:prstGeom prst="rect">
            <a:avLst/>
          </a:prstGeom>
        </p:spPr>
      </p:pic>
      <p:sp>
        <p:nvSpPr>
          <p:cNvPr id="53" name="文本框 52">
            <a:extLst>
              <a:ext uri="{FF2B5EF4-FFF2-40B4-BE49-F238E27FC236}">
                <a16:creationId xmlns:a16="http://schemas.microsoft.com/office/drawing/2014/main" id="{463934D8-0724-208D-14E2-405971F52CB6}"/>
              </a:ext>
            </a:extLst>
          </p:cNvPr>
          <p:cNvSpPr>
            <a:spLocks noGrp="1"/>
          </p:cNvSpPr>
          <p:nvPr/>
        </p:nvSpPr>
        <p:spPr>
          <a:xfrm>
            <a:off x="879298" y="6769994"/>
            <a:ext cx="9144000" cy="369332"/>
          </a:xfrm>
          <a:prstGeom prst="rect">
            <a:avLst/>
          </a:prstGeom>
          <a:noFill/>
        </p:spPr>
        <p:txBody>
          <a:bodyPr wrap="square">
            <a:spAutoFit/>
          </a:bodyPr>
          <a:lstStyle/>
          <a:p>
            <a:r>
              <a:rPr b="1" i="0" u="none" dirty="0">
                <a:solidFill>
                  <a:srgbClr val="000000"/>
                </a:solidFill>
                <a:latin typeface="Verdana"/>
                <a:ea typeface="Verdana"/>
                <a:cs typeface="Verdana"/>
              </a:rPr>
              <a:t>Online </a:t>
            </a:r>
            <a:r>
              <a:rPr lang="en-US" altLang="zh-CN" b="1"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Analysis</a:t>
            </a:r>
            <a:r>
              <a:rPr b="1" i="0" u="none" dirty="0">
                <a:solidFill>
                  <a:srgbClr val="000000"/>
                </a:solidFill>
                <a:latin typeface="Verdana"/>
                <a:ea typeface="Verdana"/>
                <a:cs typeface="Verdana"/>
              </a:rPr>
              <a:t> Pipeline</a:t>
            </a:r>
          </a:p>
        </p:txBody>
      </p:sp>
      <p:pic>
        <p:nvPicPr>
          <p:cNvPr id="54" name="图片 54"/>
          <p:cNvPicPr>
            <a:picLocks noChangeAspect="1"/>
          </p:cNvPicPr>
          <p:nvPr/>
        </p:nvPicPr>
        <p:blipFill>
          <a:blip r:embed="rId4"/>
          <a:stretch>
            <a:fillRect/>
          </a:stretch>
        </p:blipFill>
        <p:spPr>
          <a:xfrm>
            <a:off x="914400" y="7139326"/>
            <a:ext cx="17210213" cy="1362475"/>
          </a:xfrm>
          <a:prstGeom prst="rect">
            <a:avLst/>
          </a:prstGeom>
        </p:spPr>
      </p:pic>
      <p:sp>
        <p:nvSpPr>
          <p:cNvPr id="57" name="文本框 56">
            <a:extLst>
              <a:ext uri="{FF2B5EF4-FFF2-40B4-BE49-F238E27FC236}">
                <a16:creationId xmlns:a16="http://schemas.microsoft.com/office/drawing/2014/main" id="{88CBE65A-EE42-224B-F491-DA26BF836E0A}"/>
              </a:ext>
            </a:extLst>
          </p:cNvPr>
          <p:cNvSpPr>
            <a:spLocks noGrp="1"/>
          </p:cNvSpPr>
          <p:nvPr/>
        </p:nvSpPr>
        <p:spPr>
          <a:xfrm>
            <a:off x="914400" y="8790634"/>
            <a:ext cx="12551980" cy="369332"/>
          </a:xfrm>
          <a:prstGeom prst="rect">
            <a:avLst/>
          </a:prstGeom>
          <a:noFill/>
        </p:spPr>
        <p:txBody>
          <a:bodyPr wrap="square">
            <a:spAutoFit/>
          </a:bodyPr>
          <a:lstStyle/>
          <a:p>
            <a:r>
              <a:t>The offline pipeline produces evaluated model artifacts; the online pipeline integrates them into a merchant-facing dashboard.</a:t>
            </a:r>
          </a:p>
        </p:txBody>
      </p:sp>
    </p:spTree>
    <p:extLst>
      <p:ext uri="{BB962C8B-B14F-4D97-AF65-F5344CB8AC3E}">
        <p14:creationId xmlns:p14="http://schemas.microsoft.com/office/powerpoint/2010/main" val="1848288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kicker">
            <a:extLst>
              <a:ext uri="{FF2B5EF4-FFF2-40B4-BE49-F238E27FC236}">
                <a16:creationId xmlns:a16="http://schemas.microsoft.com/office/drawing/2014/main" id="{71C0F036-7D83-4AEC-8799-9BD826D53FC9}"/>
              </a:ext>
            </a:extLst>
          </p:cNvPr>
          <p:cNvSpPr>
            <a:spLocks noGrp="1"/>
          </p:cNvSpPr>
          <p:nvPr/>
        </p:nvSpPr>
        <p:spPr>
          <a:xfrm>
            <a:off x="990600" y="666750"/>
            <a:ext cx="1981200" cy="171450"/>
          </a:xfrm>
          <a:prstGeom prst="rect">
            <a:avLst/>
          </a:prstGeom>
        </p:spPr>
        <p:txBody>
          <a:bodyPr lIns="0" tIns="0" rIns="0" bIns="0"/>
          <a:lstStyle/>
          <a:p>
            <a:pPr algn="l">
              <a:buNone/>
              <a:defRPr sz="1350" b="1">
                <a:solidFill>
                  <a:srgbClr val="1E5B7A"/>
                </a:solidFill>
                <a:latin typeface="Verdana"/>
                <a:ea typeface="Verdana"/>
                <a:cs typeface="Verdana"/>
              </a:defRPr>
            </a:pPr>
            <a:endParaRPr/>
          </a:p>
        </p:txBody>
      </p:sp>
      <p:sp>
        <p:nvSpPr>
          <p:cNvPr id="13" name="footer-rule">
            <a:extLst>
              <a:ext uri="{FF2B5EF4-FFF2-40B4-BE49-F238E27FC236}">
                <a16:creationId xmlns:a16="http://schemas.microsoft.com/office/drawing/2014/main" id="{AA343204-BE62-4D3B-A15A-CF40DAAA0BE4}"/>
              </a:ext>
            </a:extLst>
          </p:cNvPr>
          <p:cNvSpPr>
            <a:spLocks noGrp="1"/>
          </p:cNvSpPr>
          <p:nvPr/>
        </p:nvSpPr>
        <p:spPr>
          <a:xfrm>
            <a:off x="990600" y="9544050"/>
            <a:ext cx="914400" cy="19050"/>
          </a:xfrm>
          <a:prstGeom prst="rect">
            <a:avLst/>
          </a:prstGeom>
          <a:solidFill>
            <a:srgbClr val="A9B8B0"/>
          </a:solidFill>
          <a:ln w="0">
            <a:solidFill>
              <a:srgbClr val="A9B8B0"/>
            </a:solidFill>
            <a:prstDash val="solid"/>
          </a:ln>
        </p:spPr>
        <p:txBody>
          <a:bodyPr/>
          <a:lstStyle/>
          <a:p>
            <a:endParaRPr/>
          </a:p>
        </p:txBody>
      </p:sp>
      <p:sp>
        <p:nvSpPr>
          <p:cNvPr id="17" name="slide-kicker">
            <a:extLst>
              <a:ext uri="{FF2B5EF4-FFF2-40B4-BE49-F238E27FC236}">
                <a16:creationId xmlns:a16="http://schemas.microsoft.com/office/drawing/2014/main" id="{99C6F183-321D-2127-830B-40F57E3BAB5F}"/>
              </a:ext>
            </a:extLst>
          </p:cNvPr>
          <p:cNvSpPr>
            <a:spLocks noGrp="1"/>
          </p:cNvSpPr>
          <p:nvPr/>
        </p:nvSpPr>
        <p:spPr>
          <a:xfrm>
            <a:off x="990599" y="603130"/>
            <a:ext cx="8941677" cy="552450"/>
          </a:xfrm>
          <a:prstGeom prst="rect">
            <a:avLst/>
          </a:prstGeom>
        </p:spPr>
        <p:txBody>
          <a:bodyPr lIns="0" tIns="0" rIns="0" bIns="0"/>
          <a:lstStyle/>
          <a:p>
            <a:pPr>
              <a:buNone/>
              <a:defRPr sz="1350" b="1">
                <a:solidFill>
                  <a:srgbClr val="1E5B7A"/>
                </a:solidFill>
                <a:latin typeface="Verdana"/>
                <a:ea typeface="Verdana"/>
                <a:cs typeface="Verdana"/>
              </a:defRPr>
            </a:pPr>
            <a:r>
              <a:rPr sz="3200">
                <a:solidFill>
                  <a:srgbClr val="1E5B7A"/>
                </a:solidFill>
                <a:latin typeface="Verdana"/>
                <a:ea typeface="Verdana"/>
                <a:cs typeface="Verdana"/>
              </a:rPr>
              <a:t>Solution - Review-Value Classification</a:t>
            </a:r>
          </a:p>
        </p:txBody>
      </p:sp>
      <p:sp>
        <p:nvSpPr>
          <p:cNvPr id="18" name="review-value-purpose-label">
            <a:extLst>
              <a:ext uri="{FF2B5EF4-FFF2-40B4-BE49-F238E27FC236}">
                <a16:creationId xmlns:a16="http://schemas.microsoft.com/office/drawing/2014/main" id="{0154E31B-651E-4E24-890F-F6DA429F9F4C}"/>
              </a:ext>
            </a:extLst>
          </p:cNvPr>
          <p:cNvSpPr>
            <a:spLocks noGrp="1"/>
          </p:cNvSpPr>
          <p:nvPr/>
        </p:nvSpPr>
        <p:spPr>
          <a:xfrm>
            <a:off x="990600" y="1333500"/>
            <a:ext cx="8362950" cy="228600"/>
          </a:xfrm>
          <a:prstGeom prst="rect">
            <a:avLst/>
          </a:prstGeom>
        </p:spPr>
        <p:txBody>
          <a:bodyPr lIns="0" tIns="0" rIns="0" bIns="0"/>
          <a:lstStyle/>
          <a:p>
            <a:pPr>
              <a:buNone/>
              <a:defRPr sz="1500" b="1">
                <a:solidFill>
                  <a:srgbClr val="0E5A75"/>
                </a:solidFill>
              </a:defRPr>
            </a:pPr>
            <a:r>
              <a:rPr sz="1600" b="1">
                <a:solidFill>
                  <a:srgbClr val="0E5A75"/>
                </a:solidFill>
              </a:rPr>
              <a:t>Purpose</a:t>
            </a:r>
          </a:p>
        </p:txBody>
      </p:sp>
      <p:sp>
        <p:nvSpPr>
          <p:cNvPr id="19" name="review-value-purpose-text">
            <a:extLst>
              <a:ext uri="{FF2B5EF4-FFF2-40B4-BE49-F238E27FC236}">
                <a16:creationId xmlns:a16="http://schemas.microsoft.com/office/drawing/2014/main" id="{FE633F68-D65E-4F10-92A2-C81DE1F495CA}"/>
              </a:ext>
            </a:extLst>
          </p:cNvPr>
          <p:cNvSpPr>
            <a:spLocks noGrp="1"/>
          </p:cNvSpPr>
          <p:nvPr/>
        </p:nvSpPr>
        <p:spPr>
          <a:xfrm>
            <a:off x="990600" y="1619250"/>
            <a:ext cx="8362950" cy="228600"/>
          </a:xfrm>
          <a:prstGeom prst="rect">
            <a:avLst/>
          </a:prstGeom>
        </p:spPr>
        <p:txBody>
          <a:bodyPr lIns="0" tIns="0" rIns="0" bIns="0"/>
          <a:lstStyle/>
          <a:p>
            <a:pPr>
              <a:buNone/>
              <a:defRPr sz="1500" b="0">
                <a:solidFill>
                  <a:srgbClr val="243746"/>
                </a:solidFill>
              </a:defRPr>
            </a:pPr>
            <a:r>
              <a:rPr sz="1600" b="0">
                <a:solidFill>
                  <a:srgbClr val="243746"/>
                </a:solidFill>
              </a:rPr>
              <a:t>Identify reviews that are more likely to contain useful business information.</a:t>
            </a:r>
          </a:p>
        </p:txBody>
      </p:sp>
      <p:sp>
        <p:nvSpPr>
          <p:cNvPr id="20" name="review-value-method-label">
            <a:extLst>
              <a:ext uri="{FF2B5EF4-FFF2-40B4-BE49-F238E27FC236}">
                <a16:creationId xmlns:a16="http://schemas.microsoft.com/office/drawing/2014/main" id="{07039EA4-EF8B-433C-9A60-8E687E5AC164}"/>
              </a:ext>
            </a:extLst>
          </p:cNvPr>
          <p:cNvSpPr>
            <a:spLocks noGrp="1"/>
          </p:cNvSpPr>
          <p:nvPr/>
        </p:nvSpPr>
        <p:spPr>
          <a:xfrm>
            <a:off x="990600" y="2343150"/>
            <a:ext cx="8362950" cy="228600"/>
          </a:xfrm>
          <a:prstGeom prst="rect">
            <a:avLst/>
          </a:prstGeom>
        </p:spPr>
        <p:txBody>
          <a:bodyPr lIns="0" tIns="0" rIns="0" bIns="0"/>
          <a:lstStyle/>
          <a:p>
            <a:pPr>
              <a:buNone/>
              <a:defRPr sz="1500" b="1">
                <a:solidFill>
                  <a:srgbClr val="0E5A75"/>
                </a:solidFill>
              </a:defRPr>
            </a:pPr>
            <a:r>
              <a:rPr sz="1600" b="1">
                <a:solidFill>
                  <a:srgbClr val="0E5A75"/>
                </a:solidFill>
              </a:rPr>
              <a:t>Method idea</a:t>
            </a:r>
          </a:p>
        </p:txBody>
      </p:sp>
      <p:sp>
        <p:nvSpPr>
          <p:cNvPr id="21" name="review-value-method-pill">
            <a:extLst>
              <a:ext uri="{FF2B5EF4-FFF2-40B4-BE49-F238E27FC236}">
                <a16:creationId xmlns:a16="http://schemas.microsoft.com/office/drawing/2014/main" id="{55B3E949-8D1E-49BB-A4BE-1B4AB969239C}"/>
              </a:ext>
            </a:extLst>
          </p:cNvPr>
          <p:cNvSpPr>
            <a:spLocks noGrp="1"/>
          </p:cNvSpPr>
          <p:nvPr/>
        </p:nvSpPr>
        <p:spPr>
          <a:xfrm>
            <a:off x="990599" y="2781300"/>
            <a:ext cx="8371046" cy="1104900"/>
          </a:xfrm>
          <a:prstGeom prst="roundRect">
            <a:avLst>
              <a:gd name="adj" fmla="val 3448"/>
            </a:avLst>
          </a:prstGeom>
          <a:solidFill>
            <a:srgbClr val="DDECF7"/>
          </a:solidFill>
          <a:ln w="9525">
            <a:solidFill>
              <a:srgbClr val="8BBBD1"/>
            </a:solidFill>
            <a:prstDash val="solid"/>
          </a:ln>
        </p:spPr>
        <p:txBody>
          <a:bodyPr/>
          <a:lstStyle/>
          <a:p>
            <a:endParaRPr/>
          </a:p>
        </p:txBody>
      </p:sp>
      <p:sp>
        <p:nvSpPr>
          <p:cNvPr id="22" name="review-value-method-name">
            <a:extLst>
              <a:ext uri="{FF2B5EF4-FFF2-40B4-BE49-F238E27FC236}">
                <a16:creationId xmlns:a16="http://schemas.microsoft.com/office/drawing/2014/main" id="{0DCBDD74-F61A-4A5D-938C-C4EF1367F682}"/>
              </a:ext>
            </a:extLst>
          </p:cNvPr>
          <p:cNvSpPr>
            <a:spLocks noGrp="1"/>
          </p:cNvSpPr>
          <p:nvPr/>
        </p:nvSpPr>
        <p:spPr>
          <a:xfrm>
            <a:off x="1219199" y="3028950"/>
            <a:ext cx="7905750" cy="323850"/>
          </a:xfrm>
          <a:prstGeom prst="rect">
            <a:avLst/>
          </a:prstGeom>
        </p:spPr>
        <p:txBody>
          <a:bodyPr lIns="0" tIns="0" rIns="0" bIns="0"/>
          <a:lstStyle/>
          <a:p>
            <a:pPr>
              <a:buNone/>
              <a:defRPr sz="2025" b="1">
                <a:solidFill>
                  <a:srgbClr val="123D52"/>
                </a:solidFill>
              </a:defRPr>
            </a:pPr>
            <a:r>
              <a:rPr sz="2025" b="1">
                <a:solidFill>
                  <a:srgbClr val="123D52"/>
                </a:solidFill>
              </a:rPr>
              <a:t>TF-IDF + Logistic Regression</a:t>
            </a:r>
          </a:p>
        </p:txBody>
      </p:sp>
      <p:sp>
        <p:nvSpPr>
          <p:cNvPr id="23" name="review-value-method-copy">
            <a:extLst>
              <a:ext uri="{FF2B5EF4-FFF2-40B4-BE49-F238E27FC236}">
                <a16:creationId xmlns:a16="http://schemas.microsoft.com/office/drawing/2014/main" id="{5D3F35A4-9451-4049-BEF1-10827175DE85}"/>
              </a:ext>
            </a:extLst>
          </p:cNvPr>
          <p:cNvSpPr>
            <a:spLocks noGrp="1"/>
          </p:cNvSpPr>
          <p:nvPr/>
        </p:nvSpPr>
        <p:spPr>
          <a:xfrm>
            <a:off x="1219199" y="3429000"/>
            <a:ext cx="7905750" cy="209550"/>
          </a:xfrm>
          <a:prstGeom prst="rect">
            <a:avLst/>
          </a:prstGeom>
        </p:spPr>
        <p:txBody>
          <a:bodyPr lIns="0" tIns="0" rIns="0" bIns="0"/>
          <a:lstStyle/>
          <a:p>
            <a:pPr>
              <a:buNone/>
              <a:defRPr sz="1365" b="0">
                <a:solidFill>
                  <a:srgbClr val="243746"/>
                </a:solidFill>
              </a:defRPr>
            </a:pPr>
            <a:r>
              <a:rPr sz="1365" b="0" dirty="0">
                <a:solidFill>
                  <a:srgbClr val="243746"/>
                </a:solidFill>
              </a:rPr>
              <a:t>Convert review text into TF-IDF features, then classify high-value vs low-value.</a:t>
            </a:r>
          </a:p>
        </p:txBody>
      </p:sp>
      <p:sp>
        <p:nvSpPr>
          <p:cNvPr id="24" name="review-value-why-panel">
            <a:extLst>
              <a:ext uri="{FF2B5EF4-FFF2-40B4-BE49-F238E27FC236}">
                <a16:creationId xmlns:a16="http://schemas.microsoft.com/office/drawing/2014/main" id="{503B739C-1C99-4966-BF57-F17DE63EB1B0}"/>
              </a:ext>
            </a:extLst>
          </p:cNvPr>
          <p:cNvSpPr>
            <a:spLocks noGrp="1"/>
          </p:cNvSpPr>
          <p:nvPr/>
        </p:nvSpPr>
        <p:spPr>
          <a:xfrm>
            <a:off x="9723596" y="1333500"/>
            <a:ext cx="7573804" cy="2819400"/>
          </a:xfrm>
          <a:prstGeom prst="roundRect">
            <a:avLst>
              <a:gd name="adj" fmla="val 1351"/>
            </a:avLst>
          </a:prstGeom>
          <a:solidFill>
            <a:srgbClr val="FFFFFF"/>
          </a:solidFill>
          <a:ln w="8573">
            <a:solidFill>
              <a:srgbClr val="D7E0E5"/>
            </a:solidFill>
            <a:prstDash val="solid"/>
          </a:ln>
        </p:spPr>
        <p:txBody>
          <a:bodyPr/>
          <a:lstStyle/>
          <a:p>
            <a:endParaRPr/>
          </a:p>
        </p:txBody>
      </p:sp>
      <p:sp>
        <p:nvSpPr>
          <p:cNvPr id="25" name="review-value-why-label">
            <a:extLst>
              <a:ext uri="{FF2B5EF4-FFF2-40B4-BE49-F238E27FC236}">
                <a16:creationId xmlns:a16="http://schemas.microsoft.com/office/drawing/2014/main" id="{163466F1-1B9E-4371-88DD-90FB6BFDA3E9}"/>
              </a:ext>
            </a:extLst>
          </p:cNvPr>
          <p:cNvSpPr>
            <a:spLocks noGrp="1"/>
          </p:cNvSpPr>
          <p:nvPr/>
        </p:nvSpPr>
        <p:spPr>
          <a:xfrm>
            <a:off x="9944100" y="1524000"/>
            <a:ext cx="7124700" cy="247650"/>
          </a:xfrm>
          <a:prstGeom prst="rect">
            <a:avLst/>
          </a:prstGeom>
        </p:spPr>
        <p:txBody>
          <a:bodyPr lIns="0" tIns="0" rIns="0" bIns="0"/>
          <a:lstStyle/>
          <a:p>
            <a:pPr>
              <a:buNone/>
              <a:defRPr sz="1575" b="1">
                <a:solidFill>
                  <a:srgbClr val="0E5A75"/>
                </a:solidFill>
              </a:defRPr>
            </a:pPr>
            <a:r>
              <a:rPr sz="1575" b="1">
                <a:solidFill>
                  <a:srgbClr val="0E5A75"/>
                </a:solidFill>
              </a:rPr>
              <a:t>Why this method?</a:t>
            </a:r>
          </a:p>
        </p:txBody>
      </p:sp>
      <p:sp>
        <p:nvSpPr>
          <p:cNvPr id="26" name="review-value-why-1-num">
            <a:extLst>
              <a:ext uri="{FF2B5EF4-FFF2-40B4-BE49-F238E27FC236}">
                <a16:creationId xmlns:a16="http://schemas.microsoft.com/office/drawing/2014/main" id="{F1DB6ADB-91CB-4D85-9F41-DB7AD32BAA9C}"/>
              </a:ext>
            </a:extLst>
          </p:cNvPr>
          <p:cNvSpPr>
            <a:spLocks noGrp="1"/>
          </p:cNvSpPr>
          <p:nvPr/>
        </p:nvSpPr>
        <p:spPr>
          <a:xfrm>
            <a:off x="9944100" y="1943100"/>
            <a:ext cx="419100" cy="304800"/>
          </a:xfrm>
          <a:prstGeom prst="rect">
            <a:avLst/>
          </a:prstGeom>
        </p:spPr>
        <p:txBody>
          <a:bodyPr lIns="0" tIns="0" rIns="0" bIns="0"/>
          <a:lstStyle/>
          <a:p>
            <a:pPr>
              <a:buNone/>
              <a:defRPr sz="1950" b="1">
                <a:solidFill>
                  <a:srgbClr val="8BBBD1"/>
                </a:solidFill>
              </a:defRPr>
            </a:pPr>
            <a:r>
              <a:rPr sz="1950" b="1">
                <a:solidFill>
                  <a:srgbClr val="8BBBD1"/>
                </a:solidFill>
              </a:rPr>
              <a:t>01</a:t>
            </a:r>
          </a:p>
        </p:txBody>
      </p:sp>
      <p:sp>
        <p:nvSpPr>
          <p:cNvPr id="27" name="review-value-why-1-title">
            <a:extLst>
              <a:ext uri="{FF2B5EF4-FFF2-40B4-BE49-F238E27FC236}">
                <a16:creationId xmlns:a16="http://schemas.microsoft.com/office/drawing/2014/main" id="{020CD457-00E7-4CB2-AFD3-91AE3B8A248D}"/>
              </a:ext>
            </a:extLst>
          </p:cNvPr>
          <p:cNvSpPr>
            <a:spLocks noGrp="1"/>
          </p:cNvSpPr>
          <p:nvPr/>
        </p:nvSpPr>
        <p:spPr>
          <a:xfrm>
            <a:off x="10496550" y="1943100"/>
            <a:ext cx="6572250" cy="228600"/>
          </a:xfrm>
          <a:prstGeom prst="rect">
            <a:avLst/>
          </a:prstGeom>
        </p:spPr>
        <p:txBody>
          <a:bodyPr lIns="0" tIns="0" rIns="0" bIns="0"/>
          <a:lstStyle/>
          <a:p>
            <a:pPr>
              <a:buNone/>
              <a:defRPr sz="1402" b="1">
                <a:solidFill>
                  <a:srgbClr val="123D52"/>
                </a:solidFill>
              </a:defRPr>
            </a:pPr>
            <a:r>
              <a:rPr sz="1402" b="1">
                <a:solidFill>
                  <a:srgbClr val="123D52"/>
                </a:solidFill>
              </a:rPr>
              <a:t>Simple and interpretable</a:t>
            </a:r>
          </a:p>
        </p:txBody>
      </p:sp>
      <p:sp>
        <p:nvSpPr>
          <p:cNvPr id="28" name="review-value-why-1-detail">
            <a:extLst>
              <a:ext uri="{FF2B5EF4-FFF2-40B4-BE49-F238E27FC236}">
                <a16:creationId xmlns:a16="http://schemas.microsoft.com/office/drawing/2014/main" id="{A62DE937-96AE-43F9-976C-DCB8E36CB6BF}"/>
              </a:ext>
            </a:extLst>
          </p:cNvPr>
          <p:cNvSpPr>
            <a:spLocks noGrp="1"/>
          </p:cNvSpPr>
          <p:nvPr/>
        </p:nvSpPr>
        <p:spPr>
          <a:xfrm>
            <a:off x="10496550" y="2190750"/>
            <a:ext cx="6572250" cy="190500"/>
          </a:xfrm>
          <a:prstGeom prst="rect">
            <a:avLst/>
          </a:prstGeom>
        </p:spPr>
        <p:txBody>
          <a:bodyPr lIns="0" tIns="0" rIns="0" bIns="0"/>
          <a:lstStyle/>
          <a:p>
            <a:pPr>
              <a:buNone/>
              <a:defRPr sz="1230">
                <a:solidFill>
                  <a:srgbClr val="5B6975"/>
                </a:solidFill>
              </a:defRPr>
            </a:pPr>
            <a:r>
              <a:rPr sz="1230">
                <a:solidFill>
                  <a:srgbClr val="5B6975"/>
                </a:solidFill>
              </a:rPr>
              <a:t>Fits noisy helpful-vote proxy labels.</a:t>
            </a:r>
          </a:p>
        </p:txBody>
      </p:sp>
      <p:sp>
        <p:nvSpPr>
          <p:cNvPr id="29" name="review-value-why-2-num">
            <a:extLst>
              <a:ext uri="{FF2B5EF4-FFF2-40B4-BE49-F238E27FC236}">
                <a16:creationId xmlns:a16="http://schemas.microsoft.com/office/drawing/2014/main" id="{E7116B9A-1ECD-4D8D-B20E-E7B671FF3E9A}"/>
              </a:ext>
            </a:extLst>
          </p:cNvPr>
          <p:cNvSpPr>
            <a:spLocks noGrp="1"/>
          </p:cNvSpPr>
          <p:nvPr/>
        </p:nvSpPr>
        <p:spPr>
          <a:xfrm>
            <a:off x="9944100" y="2552700"/>
            <a:ext cx="419100" cy="304800"/>
          </a:xfrm>
          <a:prstGeom prst="rect">
            <a:avLst/>
          </a:prstGeom>
        </p:spPr>
        <p:txBody>
          <a:bodyPr lIns="0" tIns="0" rIns="0" bIns="0"/>
          <a:lstStyle/>
          <a:p>
            <a:pPr>
              <a:buNone/>
              <a:defRPr sz="1950" b="1">
                <a:solidFill>
                  <a:srgbClr val="9BBE8B"/>
                </a:solidFill>
              </a:defRPr>
            </a:pPr>
            <a:r>
              <a:rPr sz="1950" b="1">
                <a:solidFill>
                  <a:srgbClr val="9BBE8B"/>
                </a:solidFill>
              </a:rPr>
              <a:t>02</a:t>
            </a:r>
          </a:p>
        </p:txBody>
      </p:sp>
      <p:sp>
        <p:nvSpPr>
          <p:cNvPr id="30" name="review-value-why-2-title">
            <a:extLst>
              <a:ext uri="{FF2B5EF4-FFF2-40B4-BE49-F238E27FC236}">
                <a16:creationId xmlns:a16="http://schemas.microsoft.com/office/drawing/2014/main" id="{54998565-3CDC-4193-A689-AE2D5F5D0FFA}"/>
              </a:ext>
            </a:extLst>
          </p:cNvPr>
          <p:cNvSpPr>
            <a:spLocks noGrp="1"/>
          </p:cNvSpPr>
          <p:nvPr/>
        </p:nvSpPr>
        <p:spPr>
          <a:xfrm>
            <a:off x="10496550" y="2552700"/>
            <a:ext cx="6572250" cy="228600"/>
          </a:xfrm>
          <a:prstGeom prst="rect">
            <a:avLst/>
          </a:prstGeom>
        </p:spPr>
        <p:txBody>
          <a:bodyPr lIns="0" tIns="0" rIns="0" bIns="0"/>
          <a:lstStyle/>
          <a:p>
            <a:pPr>
              <a:buNone/>
              <a:defRPr sz="1402" b="1">
                <a:solidFill>
                  <a:srgbClr val="123D52"/>
                </a:solidFill>
              </a:defRPr>
            </a:pPr>
            <a:r>
              <a:rPr sz="1402" b="1">
                <a:solidFill>
                  <a:srgbClr val="123D52"/>
                </a:solidFill>
              </a:rPr>
              <a:t>Captures useful phrases</a:t>
            </a:r>
          </a:p>
        </p:txBody>
      </p:sp>
      <p:sp>
        <p:nvSpPr>
          <p:cNvPr id="31" name="review-value-why-2-detail">
            <a:extLst>
              <a:ext uri="{FF2B5EF4-FFF2-40B4-BE49-F238E27FC236}">
                <a16:creationId xmlns:a16="http://schemas.microsoft.com/office/drawing/2014/main" id="{4CD5FD6A-DA05-4370-A971-3AC2B7821001}"/>
              </a:ext>
            </a:extLst>
          </p:cNvPr>
          <p:cNvSpPr>
            <a:spLocks noGrp="1"/>
          </p:cNvSpPr>
          <p:nvPr/>
        </p:nvSpPr>
        <p:spPr>
          <a:xfrm>
            <a:off x="10496550" y="2800350"/>
            <a:ext cx="6572250" cy="190500"/>
          </a:xfrm>
          <a:prstGeom prst="rect">
            <a:avLst/>
          </a:prstGeom>
        </p:spPr>
        <p:txBody>
          <a:bodyPr lIns="0" tIns="0" rIns="0" bIns="0"/>
          <a:lstStyle/>
          <a:p>
            <a:pPr>
              <a:buNone/>
              <a:defRPr sz="1230">
                <a:solidFill>
                  <a:srgbClr val="5B6975"/>
                </a:solidFill>
              </a:defRPr>
            </a:pPr>
            <a:r>
              <a:rPr sz="1230">
                <a:solidFill>
                  <a:srgbClr val="5B6975"/>
                </a:solidFill>
              </a:rPr>
              <a:t>Finds defect, delivery, and detailed-experience language.</a:t>
            </a:r>
          </a:p>
        </p:txBody>
      </p:sp>
      <p:sp>
        <p:nvSpPr>
          <p:cNvPr id="32" name="review-value-why-3-num">
            <a:extLst>
              <a:ext uri="{FF2B5EF4-FFF2-40B4-BE49-F238E27FC236}">
                <a16:creationId xmlns:a16="http://schemas.microsoft.com/office/drawing/2014/main" id="{B0D9D6EF-7C40-40C7-AA48-3D393669DD8B}"/>
              </a:ext>
            </a:extLst>
          </p:cNvPr>
          <p:cNvSpPr>
            <a:spLocks noGrp="1"/>
          </p:cNvSpPr>
          <p:nvPr/>
        </p:nvSpPr>
        <p:spPr>
          <a:xfrm>
            <a:off x="9944100" y="3162300"/>
            <a:ext cx="419100" cy="304800"/>
          </a:xfrm>
          <a:prstGeom prst="rect">
            <a:avLst/>
          </a:prstGeom>
        </p:spPr>
        <p:txBody>
          <a:bodyPr lIns="0" tIns="0" rIns="0" bIns="0"/>
          <a:lstStyle/>
          <a:p>
            <a:pPr>
              <a:buNone/>
              <a:defRPr sz="1950" b="1">
                <a:solidFill>
                  <a:srgbClr val="D5A065"/>
                </a:solidFill>
              </a:defRPr>
            </a:pPr>
            <a:r>
              <a:rPr sz="1950" b="1">
                <a:solidFill>
                  <a:srgbClr val="D5A065"/>
                </a:solidFill>
              </a:rPr>
              <a:t>03</a:t>
            </a:r>
          </a:p>
        </p:txBody>
      </p:sp>
      <p:sp>
        <p:nvSpPr>
          <p:cNvPr id="33" name="review-value-why-3-title">
            <a:extLst>
              <a:ext uri="{FF2B5EF4-FFF2-40B4-BE49-F238E27FC236}">
                <a16:creationId xmlns:a16="http://schemas.microsoft.com/office/drawing/2014/main" id="{228238BF-BC21-49D0-8189-3397123DEA44}"/>
              </a:ext>
            </a:extLst>
          </p:cNvPr>
          <p:cNvSpPr>
            <a:spLocks noGrp="1"/>
          </p:cNvSpPr>
          <p:nvPr/>
        </p:nvSpPr>
        <p:spPr>
          <a:xfrm>
            <a:off x="10496550" y="3162300"/>
            <a:ext cx="6572250" cy="228600"/>
          </a:xfrm>
          <a:prstGeom prst="rect">
            <a:avLst/>
          </a:prstGeom>
        </p:spPr>
        <p:txBody>
          <a:bodyPr lIns="0" tIns="0" rIns="0" bIns="0"/>
          <a:lstStyle/>
          <a:p>
            <a:pPr>
              <a:buNone/>
              <a:defRPr sz="1402" b="1">
                <a:solidFill>
                  <a:srgbClr val="123D52"/>
                </a:solidFill>
              </a:defRPr>
            </a:pPr>
            <a:r>
              <a:rPr sz="1402" b="1">
                <a:solidFill>
                  <a:srgbClr val="123D52"/>
                </a:solidFill>
              </a:rPr>
              <a:t>Easy dashboard inference</a:t>
            </a:r>
          </a:p>
        </p:txBody>
      </p:sp>
      <p:sp>
        <p:nvSpPr>
          <p:cNvPr id="34" name="review-value-why-3-detail">
            <a:extLst>
              <a:ext uri="{FF2B5EF4-FFF2-40B4-BE49-F238E27FC236}">
                <a16:creationId xmlns:a16="http://schemas.microsoft.com/office/drawing/2014/main" id="{D91A0AF5-E199-4A41-9213-591514480CE1}"/>
              </a:ext>
            </a:extLst>
          </p:cNvPr>
          <p:cNvSpPr>
            <a:spLocks noGrp="1"/>
          </p:cNvSpPr>
          <p:nvPr/>
        </p:nvSpPr>
        <p:spPr>
          <a:xfrm>
            <a:off x="10496550" y="3409950"/>
            <a:ext cx="6572250" cy="190500"/>
          </a:xfrm>
          <a:prstGeom prst="rect">
            <a:avLst/>
          </a:prstGeom>
        </p:spPr>
        <p:txBody>
          <a:bodyPr lIns="0" tIns="0" rIns="0" bIns="0"/>
          <a:lstStyle/>
          <a:p>
            <a:pPr>
              <a:buNone/>
              <a:defRPr sz="1230">
                <a:solidFill>
                  <a:srgbClr val="5B6975"/>
                </a:solidFill>
              </a:defRPr>
            </a:pPr>
            <a:r>
              <a:rPr sz="1230">
                <a:solidFill>
                  <a:srgbClr val="5B6975"/>
                </a:solidFill>
              </a:rPr>
              <a:t>Lightweight and stable for interactive use.</a:t>
            </a:r>
          </a:p>
        </p:txBody>
      </p:sp>
      <p:sp>
        <p:nvSpPr>
          <p:cNvPr id="35" name="review-value-flow-area">
            <a:extLst>
              <a:ext uri="{FF2B5EF4-FFF2-40B4-BE49-F238E27FC236}">
                <a16:creationId xmlns:a16="http://schemas.microsoft.com/office/drawing/2014/main" id="{C6238323-D8E7-4561-8D08-E0B7F4AB9D01}"/>
              </a:ext>
            </a:extLst>
          </p:cNvPr>
          <p:cNvSpPr>
            <a:spLocks noGrp="1"/>
          </p:cNvSpPr>
          <p:nvPr/>
        </p:nvSpPr>
        <p:spPr>
          <a:xfrm>
            <a:off x="990599" y="4819650"/>
            <a:ext cx="16306800" cy="2247900"/>
          </a:xfrm>
          <a:prstGeom prst="roundRect">
            <a:avLst>
              <a:gd name="adj" fmla="val 1695"/>
            </a:avLst>
          </a:prstGeom>
          <a:solidFill>
            <a:srgbClr val="FFFFFF"/>
          </a:solidFill>
          <a:ln w="8573">
            <a:solidFill>
              <a:srgbClr val="D7E0E5"/>
            </a:solidFill>
            <a:prstDash val="solid"/>
          </a:ln>
        </p:spPr>
        <p:txBody>
          <a:bodyPr/>
          <a:lstStyle/>
          <a:p>
            <a:endParaRPr/>
          </a:p>
        </p:txBody>
      </p:sp>
      <p:sp>
        <p:nvSpPr>
          <p:cNvPr id="36" name="review-value-flow-mark">
            <a:extLst>
              <a:ext uri="{FF2B5EF4-FFF2-40B4-BE49-F238E27FC236}">
                <a16:creationId xmlns:a16="http://schemas.microsoft.com/office/drawing/2014/main" id="{1AFE1F25-E475-48B9-B9EE-15A6A95C10E0}"/>
              </a:ext>
            </a:extLst>
          </p:cNvPr>
          <p:cNvSpPr>
            <a:spLocks noGrp="1"/>
          </p:cNvSpPr>
          <p:nvPr/>
        </p:nvSpPr>
        <p:spPr>
          <a:xfrm>
            <a:off x="1257299" y="5029200"/>
            <a:ext cx="66675" cy="266700"/>
          </a:xfrm>
          <a:prstGeom prst="rect">
            <a:avLst/>
          </a:prstGeom>
          <a:solidFill>
            <a:srgbClr val="8BBBD1"/>
          </a:solidFill>
          <a:ln w="0">
            <a:solidFill>
              <a:srgbClr val="8BBBD1"/>
            </a:solidFill>
            <a:prstDash val="solid"/>
          </a:ln>
        </p:spPr>
        <p:txBody>
          <a:bodyPr/>
          <a:lstStyle/>
          <a:p>
            <a:endParaRPr/>
          </a:p>
        </p:txBody>
      </p:sp>
      <p:sp>
        <p:nvSpPr>
          <p:cNvPr id="37" name="review-value-flow-title">
            <a:extLst>
              <a:ext uri="{FF2B5EF4-FFF2-40B4-BE49-F238E27FC236}">
                <a16:creationId xmlns:a16="http://schemas.microsoft.com/office/drawing/2014/main" id="{A7FDC873-5E09-4B3A-934C-2DE6DCFB931A}"/>
              </a:ext>
            </a:extLst>
          </p:cNvPr>
          <p:cNvSpPr>
            <a:spLocks noGrp="1"/>
          </p:cNvSpPr>
          <p:nvPr/>
        </p:nvSpPr>
        <p:spPr>
          <a:xfrm>
            <a:off x="1466849" y="5048250"/>
            <a:ext cx="15430500" cy="228600"/>
          </a:xfrm>
          <a:prstGeom prst="rect">
            <a:avLst/>
          </a:prstGeom>
        </p:spPr>
        <p:txBody>
          <a:bodyPr lIns="0" tIns="0" rIns="0" bIns="0"/>
          <a:lstStyle/>
          <a:p>
            <a:pPr>
              <a:buNone/>
              <a:defRPr sz="1613" b="1">
                <a:solidFill>
                  <a:srgbClr val="0E5A75"/>
                </a:solidFill>
              </a:defRPr>
            </a:pPr>
            <a:r>
              <a:rPr sz="1613" b="1">
                <a:solidFill>
                  <a:srgbClr val="0E5A75"/>
                </a:solidFill>
              </a:rPr>
              <a:t>DataFlow</a:t>
            </a:r>
          </a:p>
        </p:txBody>
      </p:sp>
      <p:sp>
        <p:nvSpPr>
          <p:cNvPr id="38" name="review-value-badge-spacer">
            <a:extLst>
              <a:ext uri="{FF2B5EF4-FFF2-40B4-BE49-F238E27FC236}">
                <a16:creationId xmlns:a16="http://schemas.microsoft.com/office/drawing/2014/main" id="{894E0EFE-1194-4754-8F78-85A38FC3C3B2}"/>
              </a:ext>
            </a:extLst>
          </p:cNvPr>
          <p:cNvSpPr>
            <a:spLocks noGrp="1"/>
          </p:cNvSpPr>
          <p:nvPr/>
        </p:nvSpPr>
        <p:spPr>
          <a:xfrm>
            <a:off x="17030699" y="5162550"/>
            <a:ext cx="9525" cy="9525"/>
          </a:xfrm>
          <a:prstGeom prst="rect">
            <a:avLst/>
          </a:prstGeom>
        </p:spPr>
        <p:txBody>
          <a:bodyPr lIns="0" tIns="0" rIns="0" bIns="0"/>
          <a:lstStyle/>
          <a:p>
            <a:endParaRPr/>
          </a:p>
        </p:txBody>
      </p:sp>
      <p:sp>
        <p:nvSpPr>
          <p:cNvPr id="39" name="review-value-flow-node-1">
            <a:extLst>
              <a:ext uri="{FF2B5EF4-FFF2-40B4-BE49-F238E27FC236}">
                <a16:creationId xmlns:a16="http://schemas.microsoft.com/office/drawing/2014/main" id="{714191B8-BD5B-48F1-954F-D0B05B441914}"/>
              </a:ext>
            </a:extLst>
          </p:cNvPr>
          <p:cNvSpPr>
            <a:spLocks noGrp="1"/>
          </p:cNvSpPr>
          <p:nvPr/>
        </p:nvSpPr>
        <p:spPr>
          <a:xfrm>
            <a:off x="1257299" y="5448300"/>
            <a:ext cx="3471863" cy="1543050"/>
          </a:xfrm>
          <a:prstGeom prst="roundRect">
            <a:avLst>
              <a:gd name="adj" fmla="val 2469"/>
            </a:avLst>
          </a:prstGeom>
          <a:solidFill>
            <a:srgbClr val="F7FAFC"/>
          </a:solidFill>
          <a:ln w="10478">
            <a:solidFill>
              <a:srgbClr val="A9B8B0"/>
            </a:solidFill>
            <a:prstDash val="solid"/>
          </a:ln>
        </p:spPr>
        <p:txBody>
          <a:bodyPr/>
          <a:lstStyle/>
          <a:p>
            <a:endParaRPr/>
          </a:p>
        </p:txBody>
      </p:sp>
      <p:sp>
        <p:nvSpPr>
          <p:cNvPr id="40" name="review-value-flow-node-1-title">
            <a:extLst>
              <a:ext uri="{FF2B5EF4-FFF2-40B4-BE49-F238E27FC236}">
                <a16:creationId xmlns:a16="http://schemas.microsoft.com/office/drawing/2014/main" id="{F37DDF51-3E03-4417-8A67-C8455D868B7F}"/>
              </a:ext>
            </a:extLst>
          </p:cNvPr>
          <p:cNvSpPr>
            <a:spLocks noGrp="1"/>
          </p:cNvSpPr>
          <p:nvPr/>
        </p:nvSpPr>
        <p:spPr>
          <a:xfrm>
            <a:off x="1466849" y="5962650"/>
            <a:ext cx="3067050" cy="266700"/>
          </a:xfrm>
          <a:prstGeom prst="rect">
            <a:avLst/>
          </a:prstGeom>
        </p:spPr>
        <p:txBody>
          <a:bodyPr lIns="0" tIns="0" rIns="0" bIns="0"/>
          <a:lstStyle/>
          <a:p>
            <a:pPr>
              <a:buNone/>
              <a:defRPr sz="1710" b="1">
                <a:solidFill>
                  <a:srgbClr val="123D52"/>
                </a:solidFill>
              </a:defRPr>
            </a:pPr>
            <a:r>
              <a:rPr sz="1710" b="1">
                <a:solidFill>
                  <a:srgbClr val="123D52"/>
                </a:solidFill>
              </a:rPr>
              <a:t>Review text</a:t>
            </a:r>
          </a:p>
        </p:txBody>
      </p:sp>
      <p:sp>
        <p:nvSpPr>
          <p:cNvPr id="41" name="review-value-flow-node-1-subtitle">
            <a:extLst>
              <a:ext uri="{FF2B5EF4-FFF2-40B4-BE49-F238E27FC236}">
                <a16:creationId xmlns:a16="http://schemas.microsoft.com/office/drawing/2014/main" id="{94B3B3C9-BDA0-466E-B6D1-3A0D011B35AA}"/>
              </a:ext>
            </a:extLst>
          </p:cNvPr>
          <p:cNvSpPr>
            <a:spLocks noGrp="1"/>
          </p:cNvSpPr>
          <p:nvPr/>
        </p:nvSpPr>
        <p:spPr>
          <a:xfrm>
            <a:off x="1466849" y="6286500"/>
            <a:ext cx="3067050" cy="209550"/>
          </a:xfrm>
          <a:prstGeom prst="rect">
            <a:avLst/>
          </a:prstGeom>
        </p:spPr>
        <p:txBody>
          <a:bodyPr lIns="0" tIns="0" rIns="0" bIns="0"/>
          <a:lstStyle/>
          <a:p>
            <a:pPr>
              <a:buNone/>
              <a:defRPr sz="1290">
                <a:solidFill>
                  <a:srgbClr val="5B6975"/>
                </a:solidFill>
              </a:defRPr>
            </a:pPr>
            <a:r>
              <a:rPr sz="1290">
                <a:solidFill>
                  <a:srgbClr val="5B6975"/>
                </a:solidFill>
              </a:rPr>
              <a:t>clean input</a:t>
            </a:r>
          </a:p>
        </p:txBody>
      </p:sp>
      <p:sp>
        <p:nvSpPr>
          <p:cNvPr id="42" name="review-value-flow-arrow-1">
            <a:extLst>
              <a:ext uri="{FF2B5EF4-FFF2-40B4-BE49-F238E27FC236}">
                <a16:creationId xmlns:a16="http://schemas.microsoft.com/office/drawing/2014/main" id="{AA471C82-C13E-4DFE-862A-9F90DF162AFF}"/>
              </a:ext>
            </a:extLst>
          </p:cNvPr>
          <p:cNvSpPr>
            <a:spLocks noGrp="1"/>
          </p:cNvSpPr>
          <p:nvPr/>
        </p:nvSpPr>
        <p:spPr>
          <a:xfrm>
            <a:off x="4857749" y="6019800"/>
            <a:ext cx="361950" cy="381000"/>
          </a:xfrm>
          <a:prstGeom prst="rect">
            <a:avLst/>
          </a:prstGeom>
        </p:spPr>
        <p:txBody>
          <a:bodyPr lIns="0" tIns="0" rIns="0" bIns="0"/>
          <a:lstStyle/>
          <a:p>
            <a:pPr>
              <a:buNone/>
              <a:defRPr sz="2400" b="1">
                <a:solidFill>
                  <a:srgbClr val="A9B8B0"/>
                </a:solidFill>
              </a:defRPr>
            </a:pPr>
            <a:r>
              <a:rPr sz="2400" b="1">
                <a:solidFill>
                  <a:srgbClr val="A9B8B0"/>
                </a:solidFill>
              </a:rPr>
              <a:t>-&gt;</a:t>
            </a:r>
          </a:p>
        </p:txBody>
      </p:sp>
      <p:sp>
        <p:nvSpPr>
          <p:cNvPr id="43" name="review-value-flow-node-2">
            <a:extLst>
              <a:ext uri="{FF2B5EF4-FFF2-40B4-BE49-F238E27FC236}">
                <a16:creationId xmlns:a16="http://schemas.microsoft.com/office/drawing/2014/main" id="{ED954D33-D5B8-4917-A5FB-3D61A8DD3BF5}"/>
              </a:ext>
            </a:extLst>
          </p:cNvPr>
          <p:cNvSpPr>
            <a:spLocks noGrp="1"/>
          </p:cNvSpPr>
          <p:nvPr/>
        </p:nvSpPr>
        <p:spPr>
          <a:xfrm>
            <a:off x="5357812" y="5448300"/>
            <a:ext cx="3471863" cy="1543050"/>
          </a:xfrm>
          <a:prstGeom prst="roundRect">
            <a:avLst>
              <a:gd name="adj" fmla="val 2469"/>
            </a:avLst>
          </a:prstGeom>
          <a:solidFill>
            <a:srgbClr val="DDECF7"/>
          </a:solidFill>
          <a:ln w="20955">
            <a:solidFill>
              <a:srgbClr val="8BBBD1"/>
            </a:solidFill>
            <a:prstDash val="solid"/>
          </a:ln>
        </p:spPr>
        <p:txBody>
          <a:bodyPr/>
          <a:lstStyle/>
          <a:p>
            <a:endParaRPr/>
          </a:p>
        </p:txBody>
      </p:sp>
      <p:sp>
        <p:nvSpPr>
          <p:cNvPr id="44" name="review-value-flow-node-2-title">
            <a:extLst>
              <a:ext uri="{FF2B5EF4-FFF2-40B4-BE49-F238E27FC236}">
                <a16:creationId xmlns:a16="http://schemas.microsoft.com/office/drawing/2014/main" id="{9BE1C352-B7DA-4BA6-AFC1-F474DFCFD800}"/>
              </a:ext>
            </a:extLst>
          </p:cNvPr>
          <p:cNvSpPr>
            <a:spLocks noGrp="1"/>
          </p:cNvSpPr>
          <p:nvPr/>
        </p:nvSpPr>
        <p:spPr>
          <a:xfrm>
            <a:off x="5562599" y="5943600"/>
            <a:ext cx="3067050" cy="285750"/>
          </a:xfrm>
          <a:prstGeom prst="rect">
            <a:avLst/>
          </a:prstGeom>
        </p:spPr>
        <p:txBody>
          <a:bodyPr lIns="0" tIns="0" rIns="0" bIns="0"/>
          <a:lstStyle/>
          <a:p>
            <a:pPr>
              <a:buNone/>
              <a:defRPr sz="1875" b="1">
                <a:solidFill>
                  <a:srgbClr val="123D52"/>
                </a:solidFill>
              </a:defRPr>
            </a:pPr>
            <a:r>
              <a:rPr sz="1875" b="1">
                <a:solidFill>
                  <a:srgbClr val="123D52"/>
                </a:solidFill>
              </a:rPr>
              <a:t>TF-IDF features</a:t>
            </a:r>
          </a:p>
        </p:txBody>
      </p:sp>
      <p:sp>
        <p:nvSpPr>
          <p:cNvPr id="45" name="review-value-flow-node-2-subtitle">
            <a:extLst>
              <a:ext uri="{FF2B5EF4-FFF2-40B4-BE49-F238E27FC236}">
                <a16:creationId xmlns:a16="http://schemas.microsoft.com/office/drawing/2014/main" id="{31F6E5E9-9AA8-4972-AF4E-3E22AAEDF5C5}"/>
              </a:ext>
            </a:extLst>
          </p:cNvPr>
          <p:cNvSpPr>
            <a:spLocks noGrp="1"/>
          </p:cNvSpPr>
          <p:nvPr/>
        </p:nvSpPr>
        <p:spPr>
          <a:xfrm>
            <a:off x="5562599" y="6305550"/>
            <a:ext cx="3067050" cy="209550"/>
          </a:xfrm>
          <a:prstGeom prst="rect">
            <a:avLst/>
          </a:prstGeom>
        </p:spPr>
        <p:txBody>
          <a:bodyPr lIns="0" tIns="0" rIns="0" bIns="0"/>
          <a:lstStyle/>
          <a:p>
            <a:pPr>
              <a:buNone/>
              <a:defRPr sz="1290">
                <a:solidFill>
                  <a:srgbClr val="5B6975"/>
                </a:solidFill>
              </a:defRPr>
            </a:pPr>
            <a:r>
              <a:rPr sz="1290">
                <a:solidFill>
                  <a:srgbClr val="5B6975"/>
                </a:solidFill>
              </a:rPr>
              <a:t>words + phrases</a:t>
            </a:r>
          </a:p>
        </p:txBody>
      </p:sp>
      <p:sp>
        <p:nvSpPr>
          <p:cNvPr id="46" name="review-value-flow-arrow-2">
            <a:extLst>
              <a:ext uri="{FF2B5EF4-FFF2-40B4-BE49-F238E27FC236}">
                <a16:creationId xmlns:a16="http://schemas.microsoft.com/office/drawing/2014/main" id="{8D209179-A36C-413A-92D4-5D7F9EEAF822}"/>
              </a:ext>
            </a:extLst>
          </p:cNvPr>
          <p:cNvSpPr>
            <a:spLocks noGrp="1"/>
          </p:cNvSpPr>
          <p:nvPr/>
        </p:nvSpPr>
        <p:spPr>
          <a:xfrm>
            <a:off x="8972549" y="6019800"/>
            <a:ext cx="361950" cy="381000"/>
          </a:xfrm>
          <a:prstGeom prst="rect">
            <a:avLst/>
          </a:prstGeom>
        </p:spPr>
        <p:txBody>
          <a:bodyPr lIns="0" tIns="0" rIns="0" bIns="0"/>
          <a:lstStyle/>
          <a:p>
            <a:pPr>
              <a:buNone/>
              <a:defRPr sz="2400" b="1">
                <a:solidFill>
                  <a:srgbClr val="A9B8B0"/>
                </a:solidFill>
              </a:defRPr>
            </a:pPr>
            <a:r>
              <a:rPr sz="2400" b="1">
                <a:solidFill>
                  <a:srgbClr val="A9B8B0"/>
                </a:solidFill>
              </a:rPr>
              <a:t>-&gt;</a:t>
            </a:r>
          </a:p>
        </p:txBody>
      </p:sp>
      <p:sp>
        <p:nvSpPr>
          <p:cNvPr id="47" name="review-value-flow-node-3">
            <a:extLst>
              <a:ext uri="{FF2B5EF4-FFF2-40B4-BE49-F238E27FC236}">
                <a16:creationId xmlns:a16="http://schemas.microsoft.com/office/drawing/2014/main" id="{32C58AD6-C286-4465-87AF-36DAA72B8DAB}"/>
              </a:ext>
            </a:extLst>
          </p:cNvPr>
          <p:cNvSpPr>
            <a:spLocks noGrp="1"/>
          </p:cNvSpPr>
          <p:nvPr/>
        </p:nvSpPr>
        <p:spPr>
          <a:xfrm>
            <a:off x="9458324" y="5448300"/>
            <a:ext cx="3471863" cy="1543050"/>
          </a:xfrm>
          <a:prstGeom prst="roundRect">
            <a:avLst>
              <a:gd name="adj" fmla="val 2469"/>
            </a:avLst>
          </a:prstGeom>
          <a:solidFill>
            <a:srgbClr val="E4F1DC"/>
          </a:solidFill>
          <a:ln w="20955">
            <a:solidFill>
              <a:srgbClr val="9BBE8B"/>
            </a:solidFill>
            <a:prstDash val="solid"/>
          </a:ln>
        </p:spPr>
        <p:txBody>
          <a:bodyPr/>
          <a:lstStyle/>
          <a:p>
            <a:endParaRPr/>
          </a:p>
        </p:txBody>
      </p:sp>
      <p:sp>
        <p:nvSpPr>
          <p:cNvPr id="48" name="review-value-flow-node-3-title">
            <a:extLst>
              <a:ext uri="{FF2B5EF4-FFF2-40B4-BE49-F238E27FC236}">
                <a16:creationId xmlns:a16="http://schemas.microsoft.com/office/drawing/2014/main" id="{00479691-A4A4-4AD6-B4DD-A8CA1B860AA7}"/>
              </a:ext>
            </a:extLst>
          </p:cNvPr>
          <p:cNvSpPr>
            <a:spLocks noGrp="1"/>
          </p:cNvSpPr>
          <p:nvPr/>
        </p:nvSpPr>
        <p:spPr>
          <a:xfrm>
            <a:off x="9658349" y="5943600"/>
            <a:ext cx="3067050" cy="285750"/>
          </a:xfrm>
          <a:prstGeom prst="rect">
            <a:avLst/>
          </a:prstGeom>
        </p:spPr>
        <p:txBody>
          <a:bodyPr lIns="0" tIns="0" rIns="0" bIns="0"/>
          <a:lstStyle/>
          <a:p>
            <a:pPr>
              <a:buNone/>
              <a:defRPr sz="1875" b="1">
                <a:solidFill>
                  <a:srgbClr val="123D52"/>
                </a:solidFill>
              </a:defRPr>
            </a:pPr>
            <a:r>
              <a:rPr sz="1875" b="1">
                <a:solidFill>
                  <a:srgbClr val="123D52"/>
                </a:solidFill>
              </a:rPr>
              <a:t>Logistic Regression</a:t>
            </a:r>
          </a:p>
        </p:txBody>
      </p:sp>
      <p:sp>
        <p:nvSpPr>
          <p:cNvPr id="49" name="review-value-flow-node-3-subtitle">
            <a:extLst>
              <a:ext uri="{FF2B5EF4-FFF2-40B4-BE49-F238E27FC236}">
                <a16:creationId xmlns:a16="http://schemas.microsoft.com/office/drawing/2014/main" id="{69686FB1-DE37-4E3B-9910-C198CA1B127F}"/>
              </a:ext>
            </a:extLst>
          </p:cNvPr>
          <p:cNvSpPr>
            <a:spLocks noGrp="1"/>
          </p:cNvSpPr>
          <p:nvPr/>
        </p:nvSpPr>
        <p:spPr>
          <a:xfrm>
            <a:off x="9658349" y="6305550"/>
            <a:ext cx="3067050" cy="209550"/>
          </a:xfrm>
          <a:prstGeom prst="rect">
            <a:avLst/>
          </a:prstGeom>
        </p:spPr>
        <p:txBody>
          <a:bodyPr lIns="0" tIns="0" rIns="0" bIns="0"/>
          <a:lstStyle/>
          <a:p>
            <a:pPr>
              <a:buNone/>
              <a:defRPr sz="1290">
                <a:solidFill>
                  <a:srgbClr val="5B6975"/>
                </a:solidFill>
              </a:defRPr>
            </a:pPr>
            <a:r>
              <a:rPr sz="1290">
                <a:solidFill>
                  <a:srgbClr val="5B6975"/>
                </a:solidFill>
              </a:rPr>
              <a:t>binary classifier</a:t>
            </a:r>
          </a:p>
        </p:txBody>
      </p:sp>
      <p:sp>
        <p:nvSpPr>
          <p:cNvPr id="50" name="review-value-flow-arrow-3">
            <a:extLst>
              <a:ext uri="{FF2B5EF4-FFF2-40B4-BE49-F238E27FC236}">
                <a16:creationId xmlns:a16="http://schemas.microsoft.com/office/drawing/2014/main" id="{D6FE65CA-82D3-489F-A587-9CCDAF786331}"/>
              </a:ext>
            </a:extLst>
          </p:cNvPr>
          <p:cNvSpPr>
            <a:spLocks noGrp="1"/>
          </p:cNvSpPr>
          <p:nvPr/>
        </p:nvSpPr>
        <p:spPr>
          <a:xfrm>
            <a:off x="13068299" y="6019800"/>
            <a:ext cx="361950" cy="381000"/>
          </a:xfrm>
          <a:prstGeom prst="rect">
            <a:avLst/>
          </a:prstGeom>
        </p:spPr>
        <p:txBody>
          <a:bodyPr lIns="0" tIns="0" rIns="0" bIns="0"/>
          <a:lstStyle/>
          <a:p>
            <a:pPr>
              <a:buNone/>
              <a:defRPr sz="2400" b="1">
                <a:solidFill>
                  <a:srgbClr val="A9B8B0"/>
                </a:solidFill>
              </a:defRPr>
            </a:pPr>
            <a:r>
              <a:rPr sz="2400" b="1">
                <a:solidFill>
                  <a:srgbClr val="A9B8B0"/>
                </a:solidFill>
              </a:rPr>
              <a:t>-&gt;</a:t>
            </a:r>
          </a:p>
        </p:txBody>
      </p:sp>
      <p:sp>
        <p:nvSpPr>
          <p:cNvPr id="51" name="review-value-flow-node-4">
            <a:extLst>
              <a:ext uri="{FF2B5EF4-FFF2-40B4-BE49-F238E27FC236}">
                <a16:creationId xmlns:a16="http://schemas.microsoft.com/office/drawing/2014/main" id="{9E7C8FEB-D6E8-4D78-8B76-E0A44B32032E}"/>
              </a:ext>
            </a:extLst>
          </p:cNvPr>
          <p:cNvSpPr>
            <a:spLocks noGrp="1"/>
          </p:cNvSpPr>
          <p:nvPr/>
        </p:nvSpPr>
        <p:spPr>
          <a:xfrm>
            <a:off x="13558837" y="5448300"/>
            <a:ext cx="3471863" cy="1543050"/>
          </a:xfrm>
          <a:prstGeom prst="roundRect">
            <a:avLst>
              <a:gd name="adj" fmla="val 2469"/>
            </a:avLst>
          </a:prstGeom>
          <a:solidFill>
            <a:srgbClr val="FBE8D2"/>
          </a:solidFill>
          <a:ln w="10478">
            <a:solidFill>
              <a:srgbClr val="D5A065"/>
            </a:solidFill>
            <a:prstDash val="solid"/>
          </a:ln>
        </p:spPr>
        <p:txBody>
          <a:bodyPr/>
          <a:lstStyle/>
          <a:p>
            <a:endParaRPr/>
          </a:p>
        </p:txBody>
      </p:sp>
      <p:sp>
        <p:nvSpPr>
          <p:cNvPr id="52" name="review-value-flow-node-4-title">
            <a:extLst>
              <a:ext uri="{FF2B5EF4-FFF2-40B4-BE49-F238E27FC236}">
                <a16:creationId xmlns:a16="http://schemas.microsoft.com/office/drawing/2014/main" id="{3D661AD9-9985-4118-AAE2-8E4213080398}"/>
              </a:ext>
            </a:extLst>
          </p:cNvPr>
          <p:cNvSpPr>
            <a:spLocks noGrp="1"/>
          </p:cNvSpPr>
          <p:nvPr/>
        </p:nvSpPr>
        <p:spPr>
          <a:xfrm>
            <a:off x="13754099" y="5962650"/>
            <a:ext cx="3067050" cy="266700"/>
          </a:xfrm>
          <a:prstGeom prst="rect">
            <a:avLst/>
          </a:prstGeom>
        </p:spPr>
        <p:txBody>
          <a:bodyPr lIns="0" tIns="0" rIns="0" bIns="0"/>
          <a:lstStyle/>
          <a:p>
            <a:pPr>
              <a:buNone/>
              <a:defRPr sz="1710" b="1">
                <a:solidFill>
                  <a:srgbClr val="123D52"/>
                </a:solidFill>
              </a:defRPr>
            </a:pPr>
            <a:r>
              <a:rPr sz="1710" b="1">
                <a:solidFill>
                  <a:srgbClr val="123D52"/>
                </a:solidFill>
              </a:rPr>
              <a:t>High / Low value</a:t>
            </a:r>
          </a:p>
        </p:txBody>
      </p:sp>
      <p:sp>
        <p:nvSpPr>
          <p:cNvPr id="53" name="review-value-flow-node-4-subtitle">
            <a:extLst>
              <a:ext uri="{FF2B5EF4-FFF2-40B4-BE49-F238E27FC236}">
                <a16:creationId xmlns:a16="http://schemas.microsoft.com/office/drawing/2014/main" id="{2FB8BC95-9F41-4A41-8EB5-92714673B023}"/>
              </a:ext>
            </a:extLst>
          </p:cNvPr>
          <p:cNvSpPr>
            <a:spLocks noGrp="1"/>
          </p:cNvSpPr>
          <p:nvPr/>
        </p:nvSpPr>
        <p:spPr>
          <a:xfrm>
            <a:off x="13754099" y="6286500"/>
            <a:ext cx="3067050" cy="209550"/>
          </a:xfrm>
          <a:prstGeom prst="rect">
            <a:avLst/>
          </a:prstGeom>
        </p:spPr>
        <p:txBody>
          <a:bodyPr lIns="0" tIns="0" rIns="0" bIns="0"/>
          <a:lstStyle/>
          <a:p>
            <a:pPr>
              <a:buNone/>
              <a:defRPr sz="1290">
                <a:solidFill>
                  <a:srgbClr val="5B6975"/>
                </a:solidFill>
              </a:defRPr>
            </a:pPr>
            <a:r>
              <a:rPr sz="1290">
                <a:solidFill>
                  <a:srgbClr val="5B6975"/>
                </a:solidFill>
              </a:rPr>
              <a:t>priority signal</a:t>
            </a:r>
          </a:p>
        </p:txBody>
      </p:sp>
      <p:sp>
        <p:nvSpPr>
          <p:cNvPr id="54" name="review-value-role">
            <a:extLst>
              <a:ext uri="{FF2B5EF4-FFF2-40B4-BE49-F238E27FC236}">
                <a16:creationId xmlns:a16="http://schemas.microsoft.com/office/drawing/2014/main" id="{72B49371-1174-439A-94A9-FD403BD99F22}"/>
              </a:ext>
            </a:extLst>
          </p:cNvPr>
          <p:cNvSpPr>
            <a:spLocks noGrp="1"/>
          </p:cNvSpPr>
          <p:nvPr/>
        </p:nvSpPr>
        <p:spPr>
          <a:xfrm>
            <a:off x="990599" y="7829550"/>
            <a:ext cx="7325591" cy="781050"/>
          </a:xfrm>
          <a:prstGeom prst="roundRect">
            <a:avLst>
              <a:gd name="adj" fmla="val 4878"/>
            </a:avLst>
          </a:prstGeom>
          <a:solidFill>
            <a:srgbClr val="FFFFFF"/>
          </a:solidFill>
          <a:ln w="8573">
            <a:solidFill>
              <a:srgbClr val="A9B8B0"/>
            </a:solidFill>
            <a:prstDash val="solid"/>
          </a:ln>
        </p:spPr>
        <p:txBody>
          <a:bodyPr/>
          <a:lstStyle/>
          <a:p>
            <a:endParaRPr/>
          </a:p>
        </p:txBody>
      </p:sp>
      <p:sp>
        <p:nvSpPr>
          <p:cNvPr id="55" name="review-value-role-title">
            <a:extLst>
              <a:ext uri="{FF2B5EF4-FFF2-40B4-BE49-F238E27FC236}">
                <a16:creationId xmlns:a16="http://schemas.microsoft.com/office/drawing/2014/main" id="{438856D5-85AA-4C6C-8200-600B0A6D2B1C}"/>
              </a:ext>
            </a:extLst>
          </p:cNvPr>
          <p:cNvSpPr>
            <a:spLocks noGrp="1"/>
          </p:cNvSpPr>
          <p:nvPr/>
        </p:nvSpPr>
        <p:spPr>
          <a:xfrm>
            <a:off x="1162049" y="8115300"/>
            <a:ext cx="1066800" cy="228600"/>
          </a:xfrm>
          <a:prstGeom prst="rect">
            <a:avLst/>
          </a:prstGeom>
        </p:spPr>
        <p:txBody>
          <a:bodyPr lIns="0" tIns="0" rIns="0" bIns="0"/>
          <a:lstStyle/>
          <a:p>
            <a:pPr>
              <a:buNone/>
              <a:defRPr sz="1388" b="1">
                <a:solidFill>
                  <a:srgbClr val="0E5A75"/>
                </a:solidFill>
              </a:defRPr>
            </a:pPr>
            <a:r>
              <a:rPr sz="1388" b="1">
                <a:solidFill>
                  <a:srgbClr val="0E5A75"/>
                </a:solidFill>
              </a:rPr>
              <a:t>Role</a:t>
            </a:r>
          </a:p>
        </p:txBody>
      </p:sp>
      <p:sp>
        <p:nvSpPr>
          <p:cNvPr id="56" name="review-value-role-detail">
            <a:extLst>
              <a:ext uri="{FF2B5EF4-FFF2-40B4-BE49-F238E27FC236}">
                <a16:creationId xmlns:a16="http://schemas.microsoft.com/office/drawing/2014/main" id="{3697347B-32E1-400D-B881-C0BFCA1C6791}"/>
              </a:ext>
            </a:extLst>
          </p:cNvPr>
          <p:cNvSpPr>
            <a:spLocks noGrp="1"/>
          </p:cNvSpPr>
          <p:nvPr/>
        </p:nvSpPr>
        <p:spPr>
          <a:xfrm>
            <a:off x="2381249" y="8134350"/>
            <a:ext cx="5772150" cy="190500"/>
          </a:xfrm>
          <a:prstGeom prst="rect">
            <a:avLst/>
          </a:prstGeom>
        </p:spPr>
        <p:txBody>
          <a:bodyPr lIns="0" tIns="0" rIns="0" bIns="0"/>
          <a:lstStyle/>
          <a:p>
            <a:pPr>
              <a:buNone/>
              <a:defRPr sz="1238">
                <a:solidFill>
                  <a:srgbClr val="5B6975"/>
                </a:solidFill>
              </a:defRPr>
            </a:pPr>
            <a:r>
              <a:rPr sz="1238">
                <a:solidFill>
                  <a:srgbClr val="5B6975"/>
                </a:solidFill>
              </a:rPr>
              <a:t>Soft prioritisation signal before manual reading.</a:t>
            </a:r>
          </a:p>
        </p:txBody>
      </p:sp>
      <p:sp>
        <p:nvSpPr>
          <p:cNvPr id="57" name="review-value-limitation">
            <a:extLst>
              <a:ext uri="{FF2B5EF4-FFF2-40B4-BE49-F238E27FC236}">
                <a16:creationId xmlns:a16="http://schemas.microsoft.com/office/drawing/2014/main" id="{7F6E04CF-B08C-448E-AD88-5FAC85528015}"/>
              </a:ext>
            </a:extLst>
          </p:cNvPr>
          <p:cNvSpPr>
            <a:spLocks noGrp="1"/>
          </p:cNvSpPr>
          <p:nvPr/>
        </p:nvSpPr>
        <p:spPr>
          <a:xfrm>
            <a:off x="8506690" y="7829550"/>
            <a:ext cx="8790709" cy="781050"/>
          </a:xfrm>
          <a:prstGeom prst="roundRect">
            <a:avLst>
              <a:gd name="adj" fmla="val 4878"/>
            </a:avLst>
          </a:prstGeom>
          <a:solidFill>
            <a:srgbClr val="FFFFFF"/>
          </a:solidFill>
          <a:ln w="8573">
            <a:solidFill>
              <a:srgbClr val="A9B8B0"/>
            </a:solidFill>
            <a:prstDash val="solid"/>
          </a:ln>
        </p:spPr>
        <p:txBody>
          <a:bodyPr/>
          <a:lstStyle/>
          <a:p>
            <a:endParaRPr/>
          </a:p>
        </p:txBody>
      </p:sp>
      <p:sp>
        <p:nvSpPr>
          <p:cNvPr id="58" name="review-value-limitation-title">
            <a:extLst>
              <a:ext uri="{FF2B5EF4-FFF2-40B4-BE49-F238E27FC236}">
                <a16:creationId xmlns:a16="http://schemas.microsoft.com/office/drawing/2014/main" id="{88EF5533-140F-4389-B9FA-BC87E9640A12}"/>
              </a:ext>
            </a:extLst>
          </p:cNvPr>
          <p:cNvSpPr>
            <a:spLocks noGrp="1"/>
          </p:cNvSpPr>
          <p:nvPr/>
        </p:nvSpPr>
        <p:spPr>
          <a:xfrm>
            <a:off x="8686799" y="8115300"/>
            <a:ext cx="1066800" cy="228600"/>
          </a:xfrm>
          <a:prstGeom prst="rect">
            <a:avLst/>
          </a:prstGeom>
        </p:spPr>
        <p:txBody>
          <a:bodyPr lIns="0" tIns="0" rIns="0" bIns="0"/>
          <a:lstStyle/>
          <a:p>
            <a:pPr>
              <a:buNone/>
              <a:defRPr sz="1388" b="1">
                <a:solidFill>
                  <a:srgbClr val="9A5C54"/>
                </a:solidFill>
              </a:defRPr>
            </a:pPr>
            <a:r>
              <a:rPr sz="1388" b="1">
                <a:solidFill>
                  <a:srgbClr val="9A5C54"/>
                </a:solidFill>
              </a:rPr>
              <a:t>Limitation</a:t>
            </a:r>
          </a:p>
        </p:txBody>
      </p:sp>
      <p:sp>
        <p:nvSpPr>
          <p:cNvPr id="59" name="review-value-limitation-detail">
            <a:extLst>
              <a:ext uri="{FF2B5EF4-FFF2-40B4-BE49-F238E27FC236}">
                <a16:creationId xmlns:a16="http://schemas.microsoft.com/office/drawing/2014/main" id="{855F290C-4DD3-4DEA-A7A8-BBCB9C8741DD}"/>
              </a:ext>
            </a:extLst>
          </p:cNvPr>
          <p:cNvSpPr>
            <a:spLocks noGrp="1"/>
          </p:cNvSpPr>
          <p:nvPr/>
        </p:nvSpPr>
        <p:spPr>
          <a:xfrm>
            <a:off x="9905999" y="8134350"/>
            <a:ext cx="7219950" cy="190500"/>
          </a:xfrm>
          <a:prstGeom prst="rect">
            <a:avLst/>
          </a:prstGeom>
        </p:spPr>
        <p:txBody>
          <a:bodyPr lIns="0" tIns="0" rIns="0" bIns="0"/>
          <a:lstStyle/>
          <a:p>
            <a:pPr>
              <a:buNone/>
              <a:defRPr sz="1238">
                <a:solidFill>
                  <a:srgbClr val="5B6975"/>
                </a:solidFill>
              </a:defRPr>
            </a:pPr>
            <a:r>
              <a:rPr sz="1238">
                <a:solidFill>
                  <a:srgbClr val="5B6975"/>
                </a:solidFill>
              </a:rPr>
              <a:t>Helpful votes are not expert business-value labels.</a:t>
            </a:r>
          </a:p>
        </p:txBody>
      </p:sp>
    </p:spTree>
    <p:extLst>
      <p:ext uri="{BB962C8B-B14F-4D97-AF65-F5344CB8AC3E}">
        <p14:creationId xmlns:p14="http://schemas.microsoft.com/office/powerpoint/2010/main" val="1229558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kicker">
            <a:extLst>
              <a:ext uri="{FF2B5EF4-FFF2-40B4-BE49-F238E27FC236}">
                <a16:creationId xmlns:a16="http://schemas.microsoft.com/office/drawing/2014/main" id="{7D89138F-2292-4597-9580-8ACCC14B4B7D}"/>
              </a:ext>
            </a:extLst>
          </p:cNvPr>
          <p:cNvSpPr>
            <a:spLocks noGrp="1"/>
          </p:cNvSpPr>
          <p:nvPr/>
        </p:nvSpPr>
        <p:spPr>
          <a:xfrm>
            <a:off x="990600" y="666750"/>
            <a:ext cx="1981200" cy="171450"/>
          </a:xfrm>
          <a:prstGeom prst="rect">
            <a:avLst/>
          </a:prstGeom>
        </p:spPr>
        <p:txBody>
          <a:bodyPr lIns="0" tIns="0" rIns="0" bIns="0"/>
          <a:lstStyle/>
          <a:p>
            <a:pPr algn="l">
              <a:buNone/>
              <a:defRPr sz="1350" b="1">
                <a:solidFill>
                  <a:srgbClr val="1E5B7A"/>
                </a:solidFill>
                <a:latin typeface="Verdana"/>
                <a:ea typeface="Verdana"/>
                <a:cs typeface="Verdana"/>
              </a:defRPr>
            </a:pPr>
            <a:endParaRPr/>
          </a:p>
        </p:txBody>
      </p:sp>
      <p:sp>
        <p:nvSpPr>
          <p:cNvPr id="13" name="footer-rule">
            <a:extLst>
              <a:ext uri="{FF2B5EF4-FFF2-40B4-BE49-F238E27FC236}">
                <a16:creationId xmlns:a16="http://schemas.microsoft.com/office/drawing/2014/main" id="{8CB82F7F-79C3-AD01-BE4D-A948B07C06CF}"/>
              </a:ext>
            </a:extLst>
          </p:cNvPr>
          <p:cNvSpPr>
            <a:spLocks noGrp="1"/>
          </p:cNvSpPr>
          <p:nvPr/>
        </p:nvSpPr>
        <p:spPr>
          <a:xfrm>
            <a:off x="990600" y="9544050"/>
            <a:ext cx="914400" cy="19050"/>
          </a:xfrm>
          <a:prstGeom prst="rect">
            <a:avLst/>
          </a:prstGeom>
          <a:solidFill>
            <a:srgbClr val="A9B8B0"/>
          </a:solidFill>
          <a:ln w="0">
            <a:solidFill>
              <a:srgbClr val="A9B8B0"/>
            </a:solidFill>
            <a:prstDash val="solid"/>
          </a:ln>
        </p:spPr>
        <p:txBody>
          <a:bodyPr/>
          <a:lstStyle/>
          <a:p>
            <a:endParaRPr/>
          </a:p>
        </p:txBody>
      </p:sp>
      <p:sp>
        <p:nvSpPr>
          <p:cNvPr id="17" name="slide-kicker">
            <a:extLst>
              <a:ext uri="{FF2B5EF4-FFF2-40B4-BE49-F238E27FC236}">
                <a16:creationId xmlns:a16="http://schemas.microsoft.com/office/drawing/2014/main" id="{476A401D-0BFC-0563-2082-C2B0F123DDB4}"/>
              </a:ext>
            </a:extLst>
          </p:cNvPr>
          <p:cNvSpPr>
            <a:spLocks noGrp="1"/>
          </p:cNvSpPr>
          <p:nvPr/>
        </p:nvSpPr>
        <p:spPr>
          <a:xfrm>
            <a:off x="990599" y="603130"/>
            <a:ext cx="8941677" cy="552450"/>
          </a:xfrm>
          <a:prstGeom prst="rect">
            <a:avLst/>
          </a:prstGeom>
        </p:spPr>
        <p:txBody>
          <a:bodyPr lIns="0" tIns="0" rIns="0" bIns="0"/>
          <a:lstStyle/>
          <a:p>
            <a:pPr>
              <a:buNone/>
              <a:defRPr sz="1350" b="1">
                <a:solidFill>
                  <a:srgbClr val="1E5B7A"/>
                </a:solidFill>
                <a:latin typeface="Verdana"/>
                <a:ea typeface="Verdana"/>
                <a:cs typeface="Verdana"/>
              </a:defRPr>
            </a:pPr>
            <a:r>
              <a:rPr sz="3200">
                <a:solidFill>
                  <a:srgbClr val="1E5B7A"/>
                </a:solidFill>
                <a:latin typeface="Verdana"/>
                <a:ea typeface="Verdana"/>
                <a:cs typeface="Verdana"/>
              </a:rPr>
              <a:t>Solution - Sentiment Mining</a:t>
            </a:r>
          </a:p>
        </p:txBody>
      </p:sp>
      <p:sp>
        <p:nvSpPr>
          <p:cNvPr id="18" name="sentiment-purpose-label">
            <a:extLst>
              <a:ext uri="{FF2B5EF4-FFF2-40B4-BE49-F238E27FC236}">
                <a16:creationId xmlns:a16="http://schemas.microsoft.com/office/drawing/2014/main" id="{AF2A4B93-3DCB-484C-A35E-5DA81ED3046C}"/>
              </a:ext>
            </a:extLst>
          </p:cNvPr>
          <p:cNvSpPr>
            <a:spLocks noGrp="1"/>
          </p:cNvSpPr>
          <p:nvPr/>
        </p:nvSpPr>
        <p:spPr>
          <a:xfrm>
            <a:off x="990600" y="1333500"/>
            <a:ext cx="8362950" cy="228600"/>
          </a:xfrm>
          <a:prstGeom prst="rect">
            <a:avLst/>
          </a:prstGeom>
        </p:spPr>
        <p:txBody>
          <a:bodyPr lIns="0" tIns="0" rIns="0" bIns="0"/>
          <a:lstStyle/>
          <a:p>
            <a:pPr>
              <a:buNone/>
              <a:defRPr sz="1500" b="1">
                <a:solidFill>
                  <a:srgbClr val="0E5A75"/>
                </a:solidFill>
              </a:defRPr>
            </a:pPr>
            <a:r>
              <a:rPr sz="1600" b="1">
                <a:solidFill>
                  <a:srgbClr val="0E5A75"/>
                </a:solidFill>
              </a:rPr>
              <a:t>Purpose</a:t>
            </a:r>
          </a:p>
        </p:txBody>
      </p:sp>
      <p:sp>
        <p:nvSpPr>
          <p:cNvPr id="19" name="sentiment-purpose-text">
            <a:extLst>
              <a:ext uri="{FF2B5EF4-FFF2-40B4-BE49-F238E27FC236}">
                <a16:creationId xmlns:a16="http://schemas.microsoft.com/office/drawing/2014/main" id="{4BB494F0-4C50-4BE3-B2F4-1DD55FB780AF}"/>
              </a:ext>
            </a:extLst>
          </p:cNvPr>
          <p:cNvSpPr>
            <a:spLocks noGrp="1"/>
          </p:cNvSpPr>
          <p:nvPr/>
        </p:nvSpPr>
        <p:spPr>
          <a:xfrm>
            <a:off x="990600" y="1619250"/>
            <a:ext cx="8362950" cy="228600"/>
          </a:xfrm>
          <a:prstGeom prst="rect">
            <a:avLst/>
          </a:prstGeom>
        </p:spPr>
        <p:txBody>
          <a:bodyPr lIns="0" tIns="0" rIns="0" bIns="0"/>
          <a:lstStyle/>
          <a:p>
            <a:pPr>
              <a:buNone/>
              <a:defRPr sz="1500" b="0">
                <a:solidFill>
                  <a:srgbClr val="243746"/>
                </a:solidFill>
              </a:defRPr>
            </a:pPr>
            <a:r>
              <a:rPr sz="1600" b="0">
                <a:solidFill>
                  <a:srgbClr val="243746"/>
                </a:solidFill>
              </a:rPr>
              <a:t>Detect negative customer experience so merchants can focus on complaints and product issues.</a:t>
            </a:r>
          </a:p>
        </p:txBody>
      </p:sp>
      <p:sp>
        <p:nvSpPr>
          <p:cNvPr id="20" name="sentiment-method-label">
            <a:extLst>
              <a:ext uri="{FF2B5EF4-FFF2-40B4-BE49-F238E27FC236}">
                <a16:creationId xmlns:a16="http://schemas.microsoft.com/office/drawing/2014/main" id="{2D0A43C3-16FD-4AC9-95D1-2B4A97EBDE90}"/>
              </a:ext>
            </a:extLst>
          </p:cNvPr>
          <p:cNvSpPr>
            <a:spLocks noGrp="1"/>
          </p:cNvSpPr>
          <p:nvPr/>
        </p:nvSpPr>
        <p:spPr>
          <a:xfrm>
            <a:off x="990599" y="2586038"/>
            <a:ext cx="8362950" cy="228600"/>
          </a:xfrm>
          <a:prstGeom prst="rect">
            <a:avLst/>
          </a:prstGeom>
        </p:spPr>
        <p:txBody>
          <a:bodyPr lIns="0" tIns="0" rIns="0" bIns="0"/>
          <a:lstStyle/>
          <a:p>
            <a:pPr>
              <a:buNone/>
              <a:defRPr sz="1500" b="1">
                <a:solidFill>
                  <a:srgbClr val="0E5A75"/>
                </a:solidFill>
              </a:defRPr>
            </a:pPr>
            <a:r>
              <a:rPr sz="1600" b="1">
                <a:solidFill>
                  <a:srgbClr val="0E5A75"/>
                </a:solidFill>
              </a:rPr>
              <a:t>Method idea</a:t>
            </a:r>
          </a:p>
        </p:txBody>
      </p:sp>
      <p:sp>
        <p:nvSpPr>
          <p:cNvPr id="21" name="sentiment-method-pill">
            <a:extLst>
              <a:ext uri="{FF2B5EF4-FFF2-40B4-BE49-F238E27FC236}">
                <a16:creationId xmlns:a16="http://schemas.microsoft.com/office/drawing/2014/main" id="{1312ADE6-0D0A-4AFD-985C-223B2E36FD00}"/>
              </a:ext>
            </a:extLst>
          </p:cNvPr>
          <p:cNvSpPr>
            <a:spLocks noGrp="1"/>
          </p:cNvSpPr>
          <p:nvPr/>
        </p:nvSpPr>
        <p:spPr>
          <a:xfrm>
            <a:off x="990599" y="2871788"/>
            <a:ext cx="8371046" cy="1104900"/>
          </a:xfrm>
          <a:prstGeom prst="roundRect">
            <a:avLst>
              <a:gd name="adj" fmla="val 3448"/>
            </a:avLst>
          </a:prstGeom>
          <a:solidFill>
            <a:srgbClr val="E4F1DC"/>
          </a:solidFill>
          <a:ln w="9525">
            <a:solidFill>
              <a:srgbClr val="9BBE8B"/>
            </a:solidFill>
            <a:prstDash val="solid"/>
          </a:ln>
        </p:spPr>
        <p:txBody>
          <a:bodyPr/>
          <a:lstStyle/>
          <a:p>
            <a:endParaRPr/>
          </a:p>
        </p:txBody>
      </p:sp>
      <p:sp>
        <p:nvSpPr>
          <p:cNvPr id="22" name="sentiment-method-name">
            <a:extLst>
              <a:ext uri="{FF2B5EF4-FFF2-40B4-BE49-F238E27FC236}">
                <a16:creationId xmlns:a16="http://schemas.microsoft.com/office/drawing/2014/main" id="{64AE220F-CC6D-4321-B481-876CA922658E}"/>
              </a:ext>
            </a:extLst>
          </p:cNvPr>
          <p:cNvSpPr>
            <a:spLocks noGrp="1"/>
          </p:cNvSpPr>
          <p:nvPr/>
        </p:nvSpPr>
        <p:spPr>
          <a:xfrm>
            <a:off x="1219199" y="3119438"/>
            <a:ext cx="7905750" cy="323850"/>
          </a:xfrm>
          <a:prstGeom prst="rect">
            <a:avLst/>
          </a:prstGeom>
        </p:spPr>
        <p:txBody>
          <a:bodyPr lIns="0" tIns="0" rIns="0" bIns="0"/>
          <a:lstStyle/>
          <a:p>
            <a:pPr>
              <a:buNone/>
              <a:defRPr sz="2025" b="1">
                <a:solidFill>
                  <a:srgbClr val="123D52"/>
                </a:solidFill>
              </a:defRPr>
            </a:pPr>
            <a:r>
              <a:rPr sz="2025" b="1">
                <a:solidFill>
                  <a:srgbClr val="123D52"/>
                </a:solidFill>
              </a:rPr>
              <a:t>Fine-tuned BERT</a:t>
            </a:r>
          </a:p>
        </p:txBody>
      </p:sp>
      <p:sp>
        <p:nvSpPr>
          <p:cNvPr id="23" name="sentiment-method-copy">
            <a:extLst>
              <a:ext uri="{FF2B5EF4-FFF2-40B4-BE49-F238E27FC236}">
                <a16:creationId xmlns:a16="http://schemas.microsoft.com/office/drawing/2014/main" id="{6441E358-FE1D-4A3D-8286-275AC0C5656A}"/>
              </a:ext>
            </a:extLst>
          </p:cNvPr>
          <p:cNvSpPr>
            <a:spLocks noGrp="1"/>
          </p:cNvSpPr>
          <p:nvPr/>
        </p:nvSpPr>
        <p:spPr>
          <a:xfrm>
            <a:off x="1219199" y="3519488"/>
            <a:ext cx="7905750" cy="209550"/>
          </a:xfrm>
          <a:prstGeom prst="rect">
            <a:avLst/>
          </a:prstGeom>
        </p:spPr>
        <p:txBody>
          <a:bodyPr lIns="0" tIns="0" rIns="0" bIns="0"/>
          <a:lstStyle/>
          <a:p>
            <a:pPr>
              <a:buNone/>
              <a:defRPr sz="1365" b="0">
                <a:solidFill>
                  <a:srgbClr val="243746"/>
                </a:solidFill>
              </a:defRPr>
            </a:pPr>
            <a:r>
              <a:rPr sz="1365" b="0">
                <a:solidFill>
                  <a:srgbClr val="243746"/>
                </a:solidFill>
              </a:rPr>
              <a:t>Pass cleaned review text into BERT, then predict positive vs negative sentiment.</a:t>
            </a:r>
          </a:p>
        </p:txBody>
      </p:sp>
      <p:sp>
        <p:nvSpPr>
          <p:cNvPr id="24" name="sentiment-why-panel">
            <a:extLst>
              <a:ext uri="{FF2B5EF4-FFF2-40B4-BE49-F238E27FC236}">
                <a16:creationId xmlns:a16="http://schemas.microsoft.com/office/drawing/2014/main" id="{87278023-17C2-496B-9EBD-7DA7BFC5B7EB}"/>
              </a:ext>
            </a:extLst>
          </p:cNvPr>
          <p:cNvSpPr>
            <a:spLocks noGrp="1"/>
          </p:cNvSpPr>
          <p:nvPr/>
        </p:nvSpPr>
        <p:spPr>
          <a:xfrm>
            <a:off x="9723596" y="1333500"/>
            <a:ext cx="7573804" cy="2819400"/>
          </a:xfrm>
          <a:prstGeom prst="roundRect">
            <a:avLst>
              <a:gd name="adj" fmla="val 1351"/>
            </a:avLst>
          </a:prstGeom>
          <a:solidFill>
            <a:srgbClr val="FFFFFF"/>
          </a:solidFill>
          <a:ln w="8573">
            <a:solidFill>
              <a:srgbClr val="D7E0E5"/>
            </a:solidFill>
            <a:prstDash val="solid"/>
          </a:ln>
        </p:spPr>
        <p:txBody>
          <a:bodyPr/>
          <a:lstStyle/>
          <a:p>
            <a:endParaRPr/>
          </a:p>
        </p:txBody>
      </p:sp>
      <p:sp>
        <p:nvSpPr>
          <p:cNvPr id="25" name="sentiment-why-label">
            <a:extLst>
              <a:ext uri="{FF2B5EF4-FFF2-40B4-BE49-F238E27FC236}">
                <a16:creationId xmlns:a16="http://schemas.microsoft.com/office/drawing/2014/main" id="{0833B348-92DD-4B5C-B589-AE7D4D69E971}"/>
              </a:ext>
            </a:extLst>
          </p:cNvPr>
          <p:cNvSpPr>
            <a:spLocks noGrp="1"/>
          </p:cNvSpPr>
          <p:nvPr/>
        </p:nvSpPr>
        <p:spPr>
          <a:xfrm>
            <a:off x="9944100" y="1524000"/>
            <a:ext cx="7124700" cy="247650"/>
          </a:xfrm>
          <a:prstGeom prst="rect">
            <a:avLst/>
          </a:prstGeom>
        </p:spPr>
        <p:txBody>
          <a:bodyPr lIns="0" tIns="0" rIns="0" bIns="0"/>
          <a:lstStyle/>
          <a:p>
            <a:pPr>
              <a:buNone/>
              <a:defRPr sz="1575" b="1">
                <a:solidFill>
                  <a:srgbClr val="0E5A75"/>
                </a:solidFill>
              </a:defRPr>
            </a:pPr>
            <a:r>
              <a:rPr sz="1575" b="1">
                <a:solidFill>
                  <a:srgbClr val="0E5A75"/>
                </a:solidFill>
              </a:rPr>
              <a:t>Why this method?</a:t>
            </a:r>
          </a:p>
        </p:txBody>
      </p:sp>
      <p:sp>
        <p:nvSpPr>
          <p:cNvPr id="26" name="sentiment-why-1-num">
            <a:extLst>
              <a:ext uri="{FF2B5EF4-FFF2-40B4-BE49-F238E27FC236}">
                <a16:creationId xmlns:a16="http://schemas.microsoft.com/office/drawing/2014/main" id="{08E426A7-7D3B-40A9-97D6-79228621DCAA}"/>
              </a:ext>
            </a:extLst>
          </p:cNvPr>
          <p:cNvSpPr>
            <a:spLocks noGrp="1"/>
          </p:cNvSpPr>
          <p:nvPr/>
        </p:nvSpPr>
        <p:spPr>
          <a:xfrm>
            <a:off x="9944100" y="1943100"/>
            <a:ext cx="419100" cy="304800"/>
          </a:xfrm>
          <a:prstGeom prst="rect">
            <a:avLst/>
          </a:prstGeom>
        </p:spPr>
        <p:txBody>
          <a:bodyPr lIns="0" tIns="0" rIns="0" bIns="0"/>
          <a:lstStyle/>
          <a:p>
            <a:pPr>
              <a:buNone/>
              <a:defRPr sz="1950" b="1">
                <a:solidFill>
                  <a:srgbClr val="9BBE8B"/>
                </a:solidFill>
              </a:defRPr>
            </a:pPr>
            <a:r>
              <a:rPr sz="1950" b="1">
                <a:solidFill>
                  <a:srgbClr val="9BBE8B"/>
                </a:solidFill>
              </a:rPr>
              <a:t>01</a:t>
            </a:r>
          </a:p>
        </p:txBody>
      </p:sp>
      <p:sp>
        <p:nvSpPr>
          <p:cNvPr id="27" name="sentiment-why-1-title">
            <a:extLst>
              <a:ext uri="{FF2B5EF4-FFF2-40B4-BE49-F238E27FC236}">
                <a16:creationId xmlns:a16="http://schemas.microsoft.com/office/drawing/2014/main" id="{743C7493-FEFE-48DB-B0BE-5892A57C87D5}"/>
              </a:ext>
            </a:extLst>
          </p:cNvPr>
          <p:cNvSpPr>
            <a:spLocks noGrp="1"/>
          </p:cNvSpPr>
          <p:nvPr/>
        </p:nvSpPr>
        <p:spPr>
          <a:xfrm>
            <a:off x="10496550" y="1943100"/>
            <a:ext cx="6572250" cy="228600"/>
          </a:xfrm>
          <a:prstGeom prst="rect">
            <a:avLst/>
          </a:prstGeom>
        </p:spPr>
        <p:txBody>
          <a:bodyPr lIns="0" tIns="0" rIns="0" bIns="0"/>
          <a:lstStyle/>
          <a:p>
            <a:pPr>
              <a:buNone/>
              <a:defRPr sz="1402" b="1">
                <a:solidFill>
                  <a:srgbClr val="123D52"/>
                </a:solidFill>
              </a:defRPr>
            </a:pPr>
            <a:r>
              <a:rPr sz="1402" b="1">
                <a:solidFill>
                  <a:srgbClr val="123D52"/>
                </a:solidFill>
              </a:rPr>
              <a:t>Context matters</a:t>
            </a:r>
          </a:p>
        </p:txBody>
      </p:sp>
      <p:sp>
        <p:nvSpPr>
          <p:cNvPr id="28" name="sentiment-why-1-detail">
            <a:extLst>
              <a:ext uri="{FF2B5EF4-FFF2-40B4-BE49-F238E27FC236}">
                <a16:creationId xmlns:a16="http://schemas.microsoft.com/office/drawing/2014/main" id="{743AD037-B4F6-422C-90F2-128E5D482587}"/>
              </a:ext>
            </a:extLst>
          </p:cNvPr>
          <p:cNvSpPr>
            <a:spLocks noGrp="1"/>
          </p:cNvSpPr>
          <p:nvPr/>
        </p:nvSpPr>
        <p:spPr>
          <a:xfrm>
            <a:off x="10496550" y="2190750"/>
            <a:ext cx="6572250" cy="190500"/>
          </a:xfrm>
          <a:prstGeom prst="rect">
            <a:avLst/>
          </a:prstGeom>
        </p:spPr>
        <p:txBody>
          <a:bodyPr lIns="0" tIns="0" rIns="0" bIns="0"/>
          <a:lstStyle/>
          <a:p>
            <a:pPr>
              <a:buNone/>
              <a:defRPr sz="1230">
                <a:solidFill>
                  <a:srgbClr val="5B6975"/>
                </a:solidFill>
              </a:defRPr>
            </a:pPr>
            <a:r>
              <a:rPr sz="1230">
                <a:solidFill>
                  <a:srgbClr val="5B6975"/>
                </a:solidFill>
              </a:rPr>
              <a:t>Sentiment depends on negation and full review context.</a:t>
            </a:r>
          </a:p>
        </p:txBody>
      </p:sp>
      <p:sp>
        <p:nvSpPr>
          <p:cNvPr id="29" name="sentiment-why-2-num">
            <a:extLst>
              <a:ext uri="{FF2B5EF4-FFF2-40B4-BE49-F238E27FC236}">
                <a16:creationId xmlns:a16="http://schemas.microsoft.com/office/drawing/2014/main" id="{FE526731-589D-4493-8376-00C10A7E9824}"/>
              </a:ext>
            </a:extLst>
          </p:cNvPr>
          <p:cNvSpPr>
            <a:spLocks noGrp="1"/>
          </p:cNvSpPr>
          <p:nvPr/>
        </p:nvSpPr>
        <p:spPr>
          <a:xfrm>
            <a:off x="9944100" y="2552700"/>
            <a:ext cx="419100" cy="304800"/>
          </a:xfrm>
          <a:prstGeom prst="rect">
            <a:avLst/>
          </a:prstGeom>
        </p:spPr>
        <p:txBody>
          <a:bodyPr lIns="0" tIns="0" rIns="0" bIns="0"/>
          <a:lstStyle/>
          <a:p>
            <a:pPr>
              <a:buNone/>
              <a:defRPr sz="1950" b="1">
                <a:solidFill>
                  <a:srgbClr val="8BBBD1"/>
                </a:solidFill>
              </a:defRPr>
            </a:pPr>
            <a:r>
              <a:rPr sz="1950" b="1">
                <a:solidFill>
                  <a:srgbClr val="8BBBD1"/>
                </a:solidFill>
              </a:rPr>
              <a:t>02</a:t>
            </a:r>
          </a:p>
        </p:txBody>
      </p:sp>
      <p:sp>
        <p:nvSpPr>
          <p:cNvPr id="30" name="sentiment-why-2-title">
            <a:extLst>
              <a:ext uri="{FF2B5EF4-FFF2-40B4-BE49-F238E27FC236}">
                <a16:creationId xmlns:a16="http://schemas.microsoft.com/office/drawing/2014/main" id="{68A4914C-38EC-4D6B-96F4-A5F4AB708FE2}"/>
              </a:ext>
            </a:extLst>
          </p:cNvPr>
          <p:cNvSpPr>
            <a:spLocks noGrp="1"/>
          </p:cNvSpPr>
          <p:nvPr/>
        </p:nvSpPr>
        <p:spPr>
          <a:xfrm>
            <a:off x="10496550" y="2552700"/>
            <a:ext cx="6572250" cy="228600"/>
          </a:xfrm>
          <a:prstGeom prst="rect">
            <a:avLst/>
          </a:prstGeom>
        </p:spPr>
        <p:txBody>
          <a:bodyPr lIns="0" tIns="0" rIns="0" bIns="0"/>
          <a:lstStyle/>
          <a:p>
            <a:pPr>
              <a:buNone/>
              <a:defRPr sz="1402" b="1">
                <a:solidFill>
                  <a:srgbClr val="123D52"/>
                </a:solidFill>
              </a:defRPr>
            </a:pPr>
            <a:r>
              <a:rPr sz="1402" b="1">
                <a:solidFill>
                  <a:srgbClr val="123D52"/>
                </a:solidFill>
              </a:rPr>
              <a:t>Better complaint understanding</a:t>
            </a:r>
          </a:p>
        </p:txBody>
      </p:sp>
      <p:sp>
        <p:nvSpPr>
          <p:cNvPr id="31" name="sentiment-why-2-detail">
            <a:extLst>
              <a:ext uri="{FF2B5EF4-FFF2-40B4-BE49-F238E27FC236}">
                <a16:creationId xmlns:a16="http://schemas.microsoft.com/office/drawing/2014/main" id="{CA8DF493-EC71-4A09-97AF-D37D687CF3F6}"/>
              </a:ext>
            </a:extLst>
          </p:cNvPr>
          <p:cNvSpPr>
            <a:spLocks noGrp="1"/>
          </p:cNvSpPr>
          <p:nvPr/>
        </p:nvSpPr>
        <p:spPr>
          <a:xfrm>
            <a:off x="10496550" y="2800350"/>
            <a:ext cx="6572250" cy="190500"/>
          </a:xfrm>
          <a:prstGeom prst="rect">
            <a:avLst/>
          </a:prstGeom>
        </p:spPr>
        <p:txBody>
          <a:bodyPr lIns="0" tIns="0" rIns="0" bIns="0"/>
          <a:lstStyle/>
          <a:p>
            <a:pPr>
              <a:buNone/>
              <a:defRPr sz="1230">
                <a:solidFill>
                  <a:srgbClr val="5B6975"/>
                </a:solidFill>
              </a:defRPr>
            </a:pPr>
            <a:r>
              <a:rPr sz="1230">
                <a:solidFill>
                  <a:srgbClr val="5B6975"/>
                </a:solidFill>
              </a:rPr>
              <a:t>Captures indirect and domain-specific complaint language.</a:t>
            </a:r>
          </a:p>
        </p:txBody>
      </p:sp>
      <p:sp>
        <p:nvSpPr>
          <p:cNvPr id="32" name="sentiment-why-3-num">
            <a:extLst>
              <a:ext uri="{FF2B5EF4-FFF2-40B4-BE49-F238E27FC236}">
                <a16:creationId xmlns:a16="http://schemas.microsoft.com/office/drawing/2014/main" id="{8ED8ED62-B0C8-443C-A8C5-13DA02F2B269}"/>
              </a:ext>
            </a:extLst>
          </p:cNvPr>
          <p:cNvSpPr>
            <a:spLocks noGrp="1"/>
          </p:cNvSpPr>
          <p:nvPr/>
        </p:nvSpPr>
        <p:spPr>
          <a:xfrm>
            <a:off x="9944100" y="3162300"/>
            <a:ext cx="419100" cy="304800"/>
          </a:xfrm>
          <a:prstGeom prst="rect">
            <a:avLst/>
          </a:prstGeom>
        </p:spPr>
        <p:txBody>
          <a:bodyPr lIns="0" tIns="0" rIns="0" bIns="0"/>
          <a:lstStyle/>
          <a:p>
            <a:pPr>
              <a:buNone/>
              <a:defRPr sz="1950" b="1">
                <a:solidFill>
                  <a:srgbClr val="D5A065"/>
                </a:solidFill>
              </a:defRPr>
            </a:pPr>
            <a:r>
              <a:rPr sz="1950" b="1">
                <a:solidFill>
                  <a:srgbClr val="D5A065"/>
                </a:solidFill>
              </a:rPr>
              <a:t>03</a:t>
            </a:r>
          </a:p>
        </p:txBody>
      </p:sp>
      <p:sp>
        <p:nvSpPr>
          <p:cNvPr id="33" name="sentiment-why-3-title">
            <a:extLst>
              <a:ext uri="{FF2B5EF4-FFF2-40B4-BE49-F238E27FC236}">
                <a16:creationId xmlns:a16="http://schemas.microsoft.com/office/drawing/2014/main" id="{A502F8D2-8010-4364-B0D2-41D5C08D287C}"/>
              </a:ext>
            </a:extLst>
          </p:cNvPr>
          <p:cNvSpPr>
            <a:spLocks noGrp="1"/>
          </p:cNvSpPr>
          <p:nvPr/>
        </p:nvSpPr>
        <p:spPr>
          <a:xfrm>
            <a:off x="10496550" y="3162300"/>
            <a:ext cx="6572250" cy="228600"/>
          </a:xfrm>
          <a:prstGeom prst="rect">
            <a:avLst/>
          </a:prstGeom>
        </p:spPr>
        <p:txBody>
          <a:bodyPr lIns="0" tIns="0" rIns="0" bIns="0"/>
          <a:lstStyle/>
          <a:p>
            <a:pPr>
              <a:buNone/>
              <a:defRPr sz="1402" b="1">
                <a:solidFill>
                  <a:srgbClr val="123D52"/>
                </a:solidFill>
              </a:defRPr>
            </a:pPr>
            <a:r>
              <a:rPr sz="1402" b="1">
                <a:solidFill>
                  <a:srgbClr val="123D52"/>
                </a:solidFill>
              </a:rPr>
              <a:t>Practical transfer learning</a:t>
            </a:r>
          </a:p>
        </p:txBody>
      </p:sp>
      <p:sp>
        <p:nvSpPr>
          <p:cNvPr id="34" name="sentiment-why-3-detail">
            <a:extLst>
              <a:ext uri="{FF2B5EF4-FFF2-40B4-BE49-F238E27FC236}">
                <a16:creationId xmlns:a16="http://schemas.microsoft.com/office/drawing/2014/main" id="{57F45013-DCD8-40A9-840E-F5742752E3F7}"/>
              </a:ext>
            </a:extLst>
          </p:cNvPr>
          <p:cNvSpPr>
            <a:spLocks noGrp="1"/>
          </p:cNvSpPr>
          <p:nvPr/>
        </p:nvSpPr>
        <p:spPr>
          <a:xfrm>
            <a:off x="10496550" y="3409950"/>
            <a:ext cx="6572250" cy="190500"/>
          </a:xfrm>
          <a:prstGeom prst="rect">
            <a:avLst/>
          </a:prstGeom>
        </p:spPr>
        <p:txBody>
          <a:bodyPr lIns="0" tIns="0" rIns="0" bIns="0"/>
          <a:lstStyle/>
          <a:p>
            <a:pPr>
              <a:buNone/>
              <a:defRPr sz="1230">
                <a:solidFill>
                  <a:srgbClr val="5B6975"/>
                </a:solidFill>
              </a:defRPr>
            </a:pPr>
            <a:r>
              <a:rPr sz="1230">
                <a:solidFill>
                  <a:srgbClr val="5B6975"/>
                </a:solidFill>
              </a:rPr>
              <a:t>Fine-tuning is more feasible than training from scratch.</a:t>
            </a:r>
          </a:p>
        </p:txBody>
      </p:sp>
      <p:sp>
        <p:nvSpPr>
          <p:cNvPr id="35" name="sentiment-flow-area">
            <a:extLst>
              <a:ext uri="{FF2B5EF4-FFF2-40B4-BE49-F238E27FC236}">
                <a16:creationId xmlns:a16="http://schemas.microsoft.com/office/drawing/2014/main" id="{CF60812F-66E6-4694-BE64-37DA75A29A6A}"/>
              </a:ext>
            </a:extLst>
          </p:cNvPr>
          <p:cNvSpPr>
            <a:spLocks noGrp="1"/>
          </p:cNvSpPr>
          <p:nvPr/>
        </p:nvSpPr>
        <p:spPr>
          <a:xfrm>
            <a:off x="990599" y="5191125"/>
            <a:ext cx="16135350" cy="2343150"/>
          </a:xfrm>
          <a:prstGeom prst="roundRect">
            <a:avLst>
              <a:gd name="adj" fmla="val 1695"/>
            </a:avLst>
          </a:prstGeom>
          <a:solidFill>
            <a:srgbClr val="FFFFFF"/>
          </a:solidFill>
          <a:ln w="8573">
            <a:solidFill>
              <a:srgbClr val="D7E0E5"/>
            </a:solidFill>
            <a:prstDash val="solid"/>
          </a:ln>
        </p:spPr>
        <p:txBody>
          <a:bodyPr/>
          <a:lstStyle/>
          <a:p>
            <a:endParaRPr/>
          </a:p>
        </p:txBody>
      </p:sp>
      <p:sp>
        <p:nvSpPr>
          <p:cNvPr id="36" name="sentiment-flow-mark">
            <a:extLst>
              <a:ext uri="{FF2B5EF4-FFF2-40B4-BE49-F238E27FC236}">
                <a16:creationId xmlns:a16="http://schemas.microsoft.com/office/drawing/2014/main" id="{10A3D58A-B7D1-4FD6-B567-942E1B10329E}"/>
              </a:ext>
            </a:extLst>
          </p:cNvPr>
          <p:cNvSpPr>
            <a:spLocks noGrp="1"/>
          </p:cNvSpPr>
          <p:nvPr/>
        </p:nvSpPr>
        <p:spPr>
          <a:xfrm>
            <a:off x="1257299" y="5476875"/>
            <a:ext cx="66675" cy="266700"/>
          </a:xfrm>
          <a:prstGeom prst="rect">
            <a:avLst/>
          </a:prstGeom>
          <a:solidFill>
            <a:srgbClr val="9BBE8B"/>
          </a:solidFill>
          <a:ln w="0">
            <a:solidFill>
              <a:srgbClr val="9BBE8B"/>
            </a:solidFill>
            <a:prstDash val="solid"/>
          </a:ln>
        </p:spPr>
        <p:txBody>
          <a:bodyPr/>
          <a:lstStyle/>
          <a:p>
            <a:endParaRPr/>
          </a:p>
        </p:txBody>
      </p:sp>
      <p:sp>
        <p:nvSpPr>
          <p:cNvPr id="37" name="sentiment-flow-title">
            <a:extLst>
              <a:ext uri="{FF2B5EF4-FFF2-40B4-BE49-F238E27FC236}">
                <a16:creationId xmlns:a16="http://schemas.microsoft.com/office/drawing/2014/main" id="{7095B53A-27B7-42D9-920F-73C8139597E5}"/>
              </a:ext>
            </a:extLst>
          </p:cNvPr>
          <p:cNvSpPr>
            <a:spLocks noGrp="1"/>
          </p:cNvSpPr>
          <p:nvPr/>
        </p:nvSpPr>
        <p:spPr>
          <a:xfrm>
            <a:off x="1466849" y="5476875"/>
            <a:ext cx="12020550" cy="228600"/>
          </a:xfrm>
          <a:prstGeom prst="rect">
            <a:avLst/>
          </a:prstGeom>
        </p:spPr>
        <p:txBody>
          <a:bodyPr lIns="0" tIns="0" rIns="0" bIns="0"/>
          <a:lstStyle/>
          <a:p>
            <a:pPr>
              <a:buNone/>
              <a:defRPr sz="1613" b="1">
                <a:solidFill>
                  <a:srgbClr val="0E5A75"/>
                </a:solidFill>
              </a:defRPr>
            </a:pPr>
            <a:r>
              <a:rPr sz="1613" b="1">
                <a:solidFill>
                  <a:srgbClr val="0E5A75"/>
                </a:solidFill>
              </a:rPr>
              <a:t>DataFlow</a:t>
            </a:r>
          </a:p>
        </p:txBody>
      </p:sp>
      <p:sp>
        <p:nvSpPr>
          <p:cNvPr id="40" name="sentiment-flow-node-1">
            <a:extLst>
              <a:ext uri="{FF2B5EF4-FFF2-40B4-BE49-F238E27FC236}">
                <a16:creationId xmlns:a16="http://schemas.microsoft.com/office/drawing/2014/main" id="{39C4E3C1-DC2F-45F1-BF58-76B68D1630E3}"/>
              </a:ext>
            </a:extLst>
          </p:cNvPr>
          <p:cNvSpPr>
            <a:spLocks noGrp="1"/>
          </p:cNvSpPr>
          <p:nvPr/>
        </p:nvSpPr>
        <p:spPr>
          <a:xfrm>
            <a:off x="1257299" y="5915025"/>
            <a:ext cx="3471863" cy="1543050"/>
          </a:xfrm>
          <a:prstGeom prst="roundRect">
            <a:avLst>
              <a:gd name="adj" fmla="val 2469"/>
            </a:avLst>
          </a:prstGeom>
          <a:solidFill>
            <a:srgbClr val="F7FAFC"/>
          </a:solidFill>
          <a:ln w="10478">
            <a:solidFill>
              <a:srgbClr val="A9B8B0"/>
            </a:solidFill>
            <a:prstDash val="solid"/>
          </a:ln>
        </p:spPr>
        <p:txBody>
          <a:bodyPr/>
          <a:lstStyle/>
          <a:p>
            <a:endParaRPr/>
          </a:p>
        </p:txBody>
      </p:sp>
      <p:sp>
        <p:nvSpPr>
          <p:cNvPr id="41" name="sentiment-flow-node-1-title">
            <a:extLst>
              <a:ext uri="{FF2B5EF4-FFF2-40B4-BE49-F238E27FC236}">
                <a16:creationId xmlns:a16="http://schemas.microsoft.com/office/drawing/2014/main" id="{D8D42F2D-D1C2-41B1-BD0E-B7825EB84D5B}"/>
              </a:ext>
            </a:extLst>
          </p:cNvPr>
          <p:cNvSpPr>
            <a:spLocks noGrp="1"/>
          </p:cNvSpPr>
          <p:nvPr/>
        </p:nvSpPr>
        <p:spPr>
          <a:xfrm>
            <a:off x="1466849" y="6429375"/>
            <a:ext cx="3067050" cy="266700"/>
          </a:xfrm>
          <a:prstGeom prst="rect">
            <a:avLst/>
          </a:prstGeom>
        </p:spPr>
        <p:txBody>
          <a:bodyPr lIns="0" tIns="0" rIns="0" bIns="0"/>
          <a:lstStyle/>
          <a:p>
            <a:pPr>
              <a:buNone/>
              <a:defRPr sz="1710" b="1">
                <a:solidFill>
                  <a:srgbClr val="123D52"/>
                </a:solidFill>
              </a:defRPr>
            </a:pPr>
            <a:r>
              <a:rPr sz="1710" b="1">
                <a:solidFill>
                  <a:srgbClr val="123D52"/>
                </a:solidFill>
              </a:rPr>
              <a:t>Clean review text</a:t>
            </a:r>
          </a:p>
        </p:txBody>
      </p:sp>
      <p:sp>
        <p:nvSpPr>
          <p:cNvPr id="42" name="sentiment-flow-node-1-subtitle">
            <a:extLst>
              <a:ext uri="{FF2B5EF4-FFF2-40B4-BE49-F238E27FC236}">
                <a16:creationId xmlns:a16="http://schemas.microsoft.com/office/drawing/2014/main" id="{FEABC676-8C96-4FA1-ABE9-5AAE130F68B2}"/>
              </a:ext>
            </a:extLst>
          </p:cNvPr>
          <p:cNvSpPr>
            <a:spLocks noGrp="1"/>
          </p:cNvSpPr>
          <p:nvPr/>
        </p:nvSpPr>
        <p:spPr>
          <a:xfrm>
            <a:off x="1466849" y="6753225"/>
            <a:ext cx="3067050" cy="209550"/>
          </a:xfrm>
          <a:prstGeom prst="rect">
            <a:avLst/>
          </a:prstGeom>
        </p:spPr>
        <p:txBody>
          <a:bodyPr lIns="0" tIns="0" rIns="0" bIns="0"/>
          <a:lstStyle/>
          <a:p>
            <a:pPr>
              <a:buNone/>
              <a:defRPr sz="1290">
                <a:solidFill>
                  <a:srgbClr val="5B6975"/>
                </a:solidFill>
              </a:defRPr>
            </a:pPr>
            <a:r>
              <a:rPr sz="1290">
                <a:solidFill>
                  <a:srgbClr val="5B6975"/>
                </a:solidFill>
              </a:rPr>
              <a:t>input review</a:t>
            </a:r>
          </a:p>
        </p:txBody>
      </p:sp>
      <p:sp>
        <p:nvSpPr>
          <p:cNvPr id="43" name="sentiment-flow-arrow-1">
            <a:extLst>
              <a:ext uri="{FF2B5EF4-FFF2-40B4-BE49-F238E27FC236}">
                <a16:creationId xmlns:a16="http://schemas.microsoft.com/office/drawing/2014/main" id="{BF687AA9-93EB-4717-9B65-B079F9AD907E}"/>
              </a:ext>
            </a:extLst>
          </p:cNvPr>
          <p:cNvSpPr>
            <a:spLocks noGrp="1"/>
          </p:cNvSpPr>
          <p:nvPr/>
        </p:nvSpPr>
        <p:spPr>
          <a:xfrm>
            <a:off x="4857749" y="6486525"/>
            <a:ext cx="361950" cy="381000"/>
          </a:xfrm>
          <a:prstGeom prst="rect">
            <a:avLst/>
          </a:prstGeom>
        </p:spPr>
        <p:txBody>
          <a:bodyPr lIns="0" tIns="0" rIns="0" bIns="0"/>
          <a:lstStyle/>
          <a:p>
            <a:pPr>
              <a:buNone/>
              <a:defRPr sz="2400" b="1">
                <a:solidFill>
                  <a:srgbClr val="A9B8B0"/>
                </a:solidFill>
              </a:defRPr>
            </a:pPr>
            <a:r>
              <a:rPr sz="2400" b="1">
                <a:solidFill>
                  <a:srgbClr val="A9B8B0"/>
                </a:solidFill>
              </a:rPr>
              <a:t>-&gt;</a:t>
            </a:r>
          </a:p>
        </p:txBody>
      </p:sp>
      <p:sp>
        <p:nvSpPr>
          <p:cNvPr id="44" name="sentiment-flow-node-2">
            <a:extLst>
              <a:ext uri="{FF2B5EF4-FFF2-40B4-BE49-F238E27FC236}">
                <a16:creationId xmlns:a16="http://schemas.microsoft.com/office/drawing/2014/main" id="{EB28FCF7-E4E3-4082-BC64-DD62AF478F92}"/>
              </a:ext>
            </a:extLst>
          </p:cNvPr>
          <p:cNvSpPr>
            <a:spLocks noGrp="1"/>
          </p:cNvSpPr>
          <p:nvPr/>
        </p:nvSpPr>
        <p:spPr>
          <a:xfrm>
            <a:off x="5357812" y="5915025"/>
            <a:ext cx="3471863" cy="1543050"/>
          </a:xfrm>
          <a:prstGeom prst="roundRect">
            <a:avLst>
              <a:gd name="adj" fmla="val 2469"/>
            </a:avLst>
          </a:prstGeom>
          <a:solidFill>
            <a:srgbClr val="E4F1DC"/>
          </a:solidFill>
          <a:ln w="20955">
            <a:solidFill>
              <a:srgbClr val="9BBE8B"/>
            </a:solidFill>
            <a:prstDash val="solid"/>
          </a:ln>
        </p:spPr>
        <p:txBody>
          <a:bodyPr/>
          <a:lstStyle/>
          <a:p>
            <a:endParaRPr/>
          </a:p>
        </p:txBody>
      </p:sp>
      <p:sp>
        <p:nvSpPr>
          <p:cNvPr id="45" name="sentiment-flow-node-2-title">
            <a:extLst>
              <a:ext uri="{FF2B5EF4-FFF2-40B4-BE49-F238E27FC236}">
                <a16:creationId xmlns:a16="http://schemas.microsoft.com/office/drawing/2014/main" id="{4678ED3A-A969-4E9B-9FF0-F36A8FFFB5D9}"/>
              </a:ext>
            </a:extLst>
          </p:cNvPr>
          <p:cNvSpPr>
            <a:spLocks noGrp="1"/>
          </p:cNvSpPr>
          <p:nvPr/>
        </p:nvSpPr>
        <p:spPr>
          <a:xfrm>
            <a:off x="5562599" y="6410325"/>
            <a:ext cx="3067050" cy="285750"/>
          </a:xfrm>
          <a:prstGeom prst="rect">
            <a:avLst/>
          </a:prstGeom>
        </p:spPr>
        <p:txBody>
          <a:bodyPr lIns="0" tIns="0" rIns="0" bIns="0"/>
          <a:lstStyle/>
          <a:p>
            <a:pPr>
              <a:buNone/>
              <a:defRPr sz="1875" b="1">
                <a:solidFill>
                  <a:srgbClr val="123D52"/>
                </a:solidFill>
              </a:defRPr>
            </a:pPr>
            <a:r>
              <a:rPr sz="1875" b="1">
                <a:solidFill>
                  <a:srgbClr val="123D52"/>
                </a:solidFill>
              </a:rPr>
              <a:t>Fine-tuned BERT</a:t>
            </a:r>
          </a:p>
        </p:txBody>
      </p:sp>
      <p:sp>
        <p:nvSpPr>
          <p:cNvPr id="46" name="sentiment-flow-node-2-subtitle">
            <a:extLst>
              <a:ext uri="{FF2B5EF4-FFF2-40B4-BE49-F238E27FC236}">
                <a16:creationId xmlns:a16="http://schemas.microsoft.com/office/drawing/2014/main" id="{4E31F3FB-B6B0-4725-BD27-59E9D33434DF}"/>
              </a:ext>
            </a:extLst>
          </p:cNvPr>
          <p:cNvSpPr>
            <a:spLocks noGrp="1"/>
          </p:cNvSpPr>
          <p:nvPr/>
        </p:nvSpPr>
        <p:spPr>
          <a:xfrm>
            <a:off x="5562599" y="6772275"/>
            <a:ext cx="3067050" cy="209550"/>
          </a:xfrm>
          <a:prstGeom prst="rect">
            <a:avLst/>
          </a:prstGeom>
        </p:spPr>
        <p:txBody>
          <a:bodyPr lIns="0" tIns="0" rIns="0" bIns="0"/>
          <a:lstStyle/>
          <a:p>
            <a:pPr>
              <a:buNone/>
              <a:defRPr sz="1290">
                <a:solidFill>
                  <a:srgbClr val="5B6975"/>
                </a:solidFill>
              </a:defRPr>
            </a:pPr>
            <a:r>
              <a:rPr sz="1290">
                <a:solidFill>
                  <a:srgbClr val="5B6975"/>
                </a:solidFill>
              </a:rPr>
              <a:t>context encoder</a:t>
            </a:r>
          </a:p>
        </p:txBody>
      </p:sp>
      <p:sp>
        <p:nvSpPr>
          <p:cNvPr id="47" name="sentiment-flow-arrow-2">
            <a:extLst>
              <a:ext uri="{FF2B5EF4-FFF2-40B4-BE49-F238E27FC236}">
                <a16:creationId xmlns:a16="http://schemas.microsoft.com/office/drawing/2014/main" id="{469250BC-1951-4787-A694-1B58C583E7B2}"/>
              </a:ext>
            </a:extLst>
          </p:cNvPr>
          <p:cNvSpPr>
            <a:spLocks noGrp="1"/>
          </p:cNvSpPr>
          <p:nvPr/>
        </p:nvSpPr>
        <p:spPr>
          <a:xfrm>
            <a:off x="8972549" y="6486525"/>
            <a:ext cx="361950" cy="381000"/>
          </a:xfrm>
          <a:prstGeom prst="rect">
            <a:avLst/>
          </a:prstGeom>
        </p:spPr>
        <p:txBody>
          <a:bodyPr lIns="0" tIns="0" rIns="0" bIns="0"/>
          <a:lstStyle/>
          <a:p>
            <a:pPr>
              <a:buNone/>
              <a:defRPr sz="2400" b="1">
                <a:solidFill>
                  <a:srgbClr val="A9B8B0"/>
                </a:solidFill>
              </a:defRPr>
            </a:pPr>
            <a:r>
              <a:rPr sz="2400" b="1">
                <a:solidFill>
                  <a:srgbClr val="A9B8B0"/>
                </a:solidFill>
              </a:rPr>
              <a:t>-&gt;</a:t>
            </a:r>
          </a:p>
        </p:txBody>
      </p:sp>
      <p:sp>
        <p:nvSpPr>
          <p:cNvPr id="48" name="sentiment-flow-node-3">
            <a:extLst>
              <a:ext uri="{FF2B5EF4-FFF2-40B4-BE49-F238E27FC236}">
                <a16:creationId xmlns:a16="http://schemas.microsoft.com/office/drawing/2014/main" id="{83EB0E1F-DE2C-4CC9-8875-A3385EDBDB81}"/>
              </a:ext>
            </a:extLst>
          </p:cNvPr>
          <p:cNvSpPr>
            <a:spLocks noGrp="1"/>
          </p:cNvSpPr>
          <p:nvPr/>
        </p:nvSpPr>
        <p:spPr>
          <a:xfrm>
            <a:off x="9458324" y="5915025"/>
            <a:ext cx="3471863" cy="1543050"/>
          </a:xfrm>
          <a:prstGeom prst="roundRect">
            <a:avLst>
              <a:gd name="adj" fmla="val 2469"/>
            </a:avLst>
          </a:prstGeom>
          <a:solidFill>
            <a:srgbClr val="DDECF7"/>
          </a:solidFill>
          <a:ln w="10478">
            <a:solidFill>
              <a:srgbClr val="8BBBD1"/>
            </a:solidFill>
            <a:prstDash val="solid"/>
          </a:ln>
        </p:spPr>
        <p:txBody>
          <a:bodyPr/>
          <a:lstStyle/>
          <a:p>
            <a:endParaRPr/>
          </a:p>
        </p:txBody>
      </p:sp>
      <p:sp>
        <p:nvSpPr>
          <p:cNvPr id="49" name="sentiment-flow-node-3-title">
            <a:extLst>
              <a:ext uri="{FF2B5EF4-FFF2-40B4-BE49-F238E27FC236}">
                <a16:creationId xmlns:a16="http://schemas.microsoft.com/office/drawing/2014/main" id="{D5F6FB82-90B3-413A-BFFF-B418FA43B844}"/>
              </a:ext>
            </a:extLst>
          </p:cNvPr>
          <p:cNvSpPr>
            <a:spLocks noGrp="1"/>
          </p:cNvSpPr>
          <p:nvPr/>
        </p:nvSpPr>
        <p:spPr>
          <a:xfrm>
            <a:off x="9658349" y="6429375"/>
            <a:ext cx="3067050" cy="266700"/>
          </a:xfrm>
          <a:prstGeom prst="rect">
            <a:avLst/>
          </a:prstGeom>
        </p:spPr>
        <p:txBody>
          <a:bodyPr lIns="0" tIns="0" rIns="0" bIns="0"/>
          <a:lstStyle/>
          <a:p>
            <a:pPr>
              <a:buNone/>
              <a:defRPr sz="1710" b="1">
                <a:solidFill>
                  <a:srgbClr val="123D52"/>
                </a:solidFill>
              </a:defRPr>
            </a:pPr>
            <a:r>
              <a:rPr sz="1710" b="1">
                <a:solidFill>
                  <a:srgbClr val="123D52"/>
                </a:solidFill>
              </a:rPr>
              <a:t>Sentiment label</a:t>
            </a:r>
          </a:p>
        </p:txBody>
      </p:sp>
      <p:sp>
        <p:nvSpPr>
          <p:cNvPr id="50" name="sentiment-flow-node-3-subtitle">
            <a:extLst>
              <a:ext uri="{FF2B5EF4-FFF2-40B4-BE49-F238E27FC236}">
                <a16:creationId xmlns:a16="http://schemas.microsoft.com/office/drawing/2014/main" id="{52CEDB62-C72F-4E31-9C41-581074048E35}"/>
              </a:ext>
            </a:extLst>
          </p:cNvPr>
          <p:cNvSpPr>
            <a:spLocks noGrp="1"/>
          </p:cNvSpPr>
          <p:nvPr/>
        </p:nvSpPr>
        <p:spPr>
          <a:xfrm>
            <a:off x="9658349" y="6753225"/>
            <a:ext cx="3067050" cy="209550"/>
          </a:xfrm>
          <a:prstGeom prst="rect">
            <a:avLst/>
          </a:prstGeom>
        </p:spPr>
        <p:txBody>
          <a:bodyPr lIns="0" tIns="0" rIns="0" bIns="0"/>
          <a:lstStyle/>
          <a:p>
            <a:pPr>
              <a:buNone/>
              <a:defRPr sz="1290">
                <a:solidFill>
                  <a:srgbClr val="5B6975"/>
                </a:solidFill>
              </a:defRPr>
            </a:pPr>
            <a:r>
              <a:rPr sz="1290">
                <a:solidFill>
                  <a:srgbClr val="5B6975"/>
                </a:solidFill>
              </a:rPr>
              <a:t>positive / negative</a:t>
            </a:r>
          </a:p>
        </p:txBody>
      </p:sp>
      <p:sp>
        <p:nvSpPr>
          <p:cNvPr id="51" name="sentiment-flow-arrow-3">
            <a:extLst>
              <a:ext uri="{FF2B5EF4-FFF2-40B4-BE49-F238E27FC236}">
                <a16:creationId xmlns:a16="http://schemas.microsoft.com/office/drawing/2014/main" id="{08DAC92C-8860-483D-879C-4482B823C6DD}"/>
              </a:ext>
            </a:extLst>
          </p:cNvPr>
          <p:cNvSpPr>
            <a:spLocks noGrp="1"/>
          </p:cNvSpPr>
          <p:nvPr/>
        </p:nvSpPr>
        <p:spPr>
          <a:xfrm>
            <a:off x="13068299" y="6486525"/>
            <a:ext cx="361950" cy="381000"/>
          </a:xfrm>
          <a:prstGeom prst="rect">
            <a:avLst/>
          </a:prstGeom>
        </p:spPr>
        <p:txBody>
          <a:bodyPr lIns="0" tIns="0" rIns="0" bIns="0"/>
          <a:lstStyle/>
          <a:p>
            <a:pPr>
              <a:buNone/>
              <a:defRPr sz="2400" b="1">
                <a:solidFill>
                  <a:srgbClr val="A9B8B0"/>
                </a:solidFill>
              </a:defRPr>
            </a:pPr>
            <a:r>
              <a:rPr sz="2400" b="1">
                <a:solidFill>
                  <a:srgbClr val="A9B8B0"/>
                </a:solidFill>
              </a:rPr>
              <a:t>-&gt;</a:t>
            </a:r>
          </a:p>
        </p:txBody>
      </p:sp>
      <p:sp>
        <p:nvSpPr>
          <p:cNvPr id="52" name="sentiment-flow-node-4">
            <a:extLst>
              <a:ext uri="{FF2B5EF4-FFF2-40B4-BE49-F238E27FC236}">
                <a16:creationId xmlns:a16="http://schemas.microsoft.com/office/drawing/2014/main" id="{27A7A55A-C1C3-437A-AD5D-448F8C53B7F9}"/>
              </a:ext>
            </a:extLst>
          </p:cNvPr>
          <p:cNvSpPr>
            <a:spLocks noGrp="1"/>
          </p:cNvSpPr>
          <p:nvPr/>
        </p:nvSpPr>
        <p:spPr>
          <a:xfrm>
            <a:off x="13558837" y="5915025"/>
            <a:ext cx="3471863" cy="1543050"/>
          </a:xfrm>
          <a:prstGeom prst="roundRect">
            <a:avLst>
              <a:gd name="adj" fmla="val 2469"/>
            </a:avLst>
          </a:prstGeom>
          <a:solidFill>
            <a:srgbClr val="F5DDD8"/>
          </a:solidFill>
          <a:ln w="10478">
            <a:solidFill>
              <a:srgbClr val="C1847A"/>
            </a:solidFill>
            <a:prstDash val="solid"/>
          </a:ln>
        </p:spPr>
        <p:txBody>
          <a:bodyPr/>
          <a:lstStyle/>
          <a:p>
            <a:endParaRPr/>
          </a:p>
        </p:txBody>
      </p:sp>
      <p:sp>
        <p:nvSpPr>
          <p:cNvPr id="53" name="sentiment-flow-node-4-title">
            <a:extLst>
              <a:ext uri="{FF2B5EF4-FFF2-40B4-BE49-F238E27FC236}">
                <a16:creationId xmlns:a16="http://schemas.microsoft.com/office/drawing/2014/main" id="{7FEEEDF2-1240-4543-9EAC-08BC81797BFD}"/>
              </a:ext>
            </a:extLst>
          </p:cNvPr>
          <p:cNvSpPr>
            <a:spLocks noGrp="1"/>
          </p:cNvSpPr>
          <p:nvPr/>
        </p:nvSpPr>
        <p:spPr>
          <a:xfrm>
            <a:off x="13754099" y="6429375"/>
            <a:ext cx="3067050" cy="266700"/>
          </a:xfrm>
          <a:prstGeom prst="rect">
            <a:avLst/>
          </a:prstGeom>
        </p:spPr>
        <p:txBody>
          <a:bodyPr lIns="0" tIns="0" rIns="0" bIns="0"/>
          <a:lstStyle/>
          <a:p>
            <a:pPr>
              <a:buNone/>
              <a:defRPr sz="1710" b="1">
                <a:solidFill>
                  <a:srgbClr val="123D52"/>
                </a:solidFill>
              </a:defRPr>
            </a:pPr>
            <a:r>
              <a:rPr sz="1710" b="1">
                <a:solidFill>
                  <a:srgbClr val="123D52"/>
                </a:solidFill>
              </a:rPr>
              <a:t>Negative pool</a:t>
            </a:r>
          </a:p>
        </p:txBody>
      </p:sp>
      <p:sp>
        <p:nvSpPr>
          <p:cNvPr id="54" name="sentiment-flow-node-4-subtitle">
            <a:extLst>
              <a:ext uri="{FF2B5EF4-FFF2-40B4-BE49-F238E27FC236}">
                <a16:creationId xmlns:a16="http://schemas.microsoft.com/office/drawing/2014/main" id="{F5FE399C-EF18-41C3-9DB2-02544260F2B3}"/>
              </a:ext>
            </a:extLst>
          </p:cNvPr>
          <p:cNvSpPr>
            <a:spLocks noGrp="1"/>
          </p:cNvSpPr>
          <p:nvPr/>
        </p:nvSpPr>
        <p:spPr>
          <a:xfrm>
            <a:off x="13754099" y="6753225"/>
            <a:ext cx="3067050" cy="209550"/>
          </a:xfrm>
          <a:prstGeom prst="rect">
            <a:avLst/>
          </a:prstGeom>
        </p:spPr>
        <p:txBody>
          <a:bodyPr lIns="0" tIns="0" rIns="0" bIns="0"/>
          <a:lstStyle/>
          <a:p>
            <a:pPr>
              <a:buNone/>
              <a:defRPr sz="1290">
                <a:solidFill>
                  <a:srgbClr val="5B6975"/>
                </a:solidFill>
              </a:defRPr>
            </a:pPr>
            <a:r>
              <a:rPr sz="1290">
                <a:solidFill>
                  <a:srgbClr val="5B6975"/>
                </a:solidFill>
              </a:rPr>
              <a:t>issue candidates</a:t>
            </a:r>
          </a:p>
        </p:txBody>
      </p:sp>
      <p:sp>
        <p:nvSpPr>
          <p:cNvPr id="55" name="sentiment-role">
            <a:extLst>
              <a:ext uri="{FF2B5EF4-FFF2-40B4-BE49-F238E27FC236}">
                <a16:creationId xmlns:a16="http://schemas.microsoft.com/office/drawing/2014/main" id="{C54E4BC4-0D81-45CF-AD46-42BF7E6A8063}"/>
              </a:ext>
            </a:extLst>
          </p:cNvPr>
          <p:cNvSpPr>
            <a:spLocks noGrp="1"/>
          </p:cNvSpPr>
          <p:nvPr/>
        </p:nvSpPr>
        <p:spPr>
          <a:xfrm>
            <a:off x="990599" y="8162925"/>
            <a:ext cx="7325591" cy="781050"/>
          </a:xfrm>
          <a:prstGeom prst="roundRect">
            <a:avLst>
              <a:gd name="adj" fmla="val 4878"/>
            </a:avLst>
          </a:prstGeom>
          <a:solidFill>
            <a:srgbClr val="FFFFFF"/>
          </a:solidFill>
          <a:ln w="8573">
            <a:solidFill>
              <a:srgbClr val="A9B8B0"/>
            </a:solidFill>
            <a:prstDash val="solid"/>
          </a:ln>
        </p:spPr>
        <p:txBody>
          <a:bodyPr/>
          <a:lstStyle/>
          <a:p>
            <a:endParaRPr/>
          </a:p>
        </p:txBody>
      </p:sp>
      <p:sp>
        <p:nvSpPr>
          <p:cNvPr id="56" name="sentiment-role-title">
            <a:extLst>
              <a:ext uri="{FF2B5EF4-FFF2-40B4-BE49-F238E27FC236}">
                <a16:creationId xmlns:a16="http://schemas.microsoft.com/office/drawing/2014/main" id="{965E9B9F-1195-485F-A5A8-A33E14CC9AA8}"/>
              </a:ext>
            </a:extLst>
          </p:cNvPr>
          <p:cNvSpPr>
            <a:spLocks noGrp="1"/>
          </p:cNvSpPr>
          <p:nvPr/>
        </p:nvSpPr>
        <p:spPr>
          <a:xfrm>
            <a:off x="1162049" y="8448675"/>
            <a:ext cx="1066800" cy="228600"/>
          </a:xfrm>
          <a:prstGeom prst="rect">
            <a:avLst/>
          </a:prstGeom>
        </p:spPr>
        <p:txBody>
          <a:bodyPr lIns="0" tIns="0" rIns="0" bIns="0"/>
          <a:lstStyle/>
          <a:p>
            <a:pPr>
              <a:buNone/>
              <a:defRPr sz="1388" b="1">
                <a:solidFill>
                  <a:srgbClr val="0E5A75"/>
                </a:solidFill>
              </a:defRPr>
            </a:pPr>
            <a:r>
              <a:rPr sz="1388" b="1">
                <a:solidFill>
                  <a:srgbClr val="0E5A75"/>
                </a:solidFill>
              </a:rPr>
              <a:t>Role</a:t>
            </a:r>
          </a:p>
        </p:txBody>
      </p:sp>
      <p:sp>
        <p:nvSpPr>
          <p:cNvPr id="57" name="sentiment-role-detail">
            <a:extLst>
              <a:ext uri="{FF2B5EF4-FFF2-40B4-BE49-F238E27FC236}">
                <a16:creationId xmlns:a16="http://schemas.microsoft.com/office/drawing/2014/main" id="{50AC69F3-7531-414E-839C-17A99BDA48B3}"/>
              </a:ext>
            </a:extLst>
          </p:cNvPr>
          <p:cNvSpPr>
            <a:spLocks noGrp="1"/>
          </p:cNvSpPr>
          <p:nvPr/>
        </p:nvSpPr>
        <p:spPr>
          <a:xfrm>
            <a:off x="2381249" y="8467725"/>
            <a:ext cx="5772150" cy="190500"/>
          </a:xfrm>
          <a:prstGeom prst="rect">
            <a:avLst/>
          </a:prstGeom>
        </p:spPr>
        <p:txBody>
          <a:bodyPr lIns="0" tIns="0" rIns="0" bIns="0"/>
          <a:lstStyle/>
          <a:p>
            <a:pPr>
              <a:buNone/>
              <a:defRPr sz="1238">
                <a:solidFill>
                  <a:srgbClr val="5B6975"/>
                </a:solidFill>
              </a:defRPr>
            </a:pPr>
            <a:r>
              <a:rPr sz="1238">
                <a:solidFill>
                  <a:srgbClr val="5B6975"/>
                </a:solidFill>
              </a:rPr>
              <a:t>Filters negative reviews for issue exploration and title generation.</a:t>
            </a:r>
          </a:p>
        </p:txBody>
      </p:sp>
      <p:sp>
        <p:nvSpPr>
          <p:cNvPr id="58" name="sentiment-limitation">
            <a:extLst>
              <a:ext uri="{FF2B5EF4-FFF2-40B4-BE49-F238E27FC236}">
                <a16:creationId xmlns:a16="http://schemas.microsoft.com/office/drawing/2014/main" id="{EE2A4AA5-F293-4900-9AA5-7A26BA116612}"/>
              </a:ext>
            </a:extLst>
          </p:cNvPr>
          <p:cNvSpPr>
            <a:spLocks noGrp="1"/>
          </p:cNvSpPr>
          <p:nvPr/>
        </p:nvSpPr>
        <p:spPr>
          <a:xfrm>
            <a:off x="8506690" y="8162925"/>
            <a:ext cx="8790709" cy="781050"/>
          </a:xfrm>
          <a:prstGeom prst="roundRect">
            <a:avLst>
              <a:gd name="adj" fmla="val 4878"/>
            </a:avLst>
          </a:prstGeom>
          <a:solidFill>
            <a:srgbClr val="FFFFFF"/>
          </a:solidFill>
          <a:ln w="8573">
            <a:solidFill>
              <a:srgbClr val="A9B8B0"/>
            </a:solidFill>
            <a:prstDash val="solid"/>
          </a:ln>
        </p:spPr>
        <p:txBody>
          <a:bodyPr/>
          <a:lstStyle/>
          <a:p>
            <a:endParaRPr/>
          </a:p>
        </p:txBody>
      </p:sp>
      <p:sp>
        <p:nvSpPr>
          <p:cNvPr id="59" name="sentiment-limitation-title">
            <a:extLst>
              <a:ext uri="{FF2B5EF4-FFF2-40B4-BE49-F238E27FC236}">
                <a16:creationId xmlns:a16="http://schemas.microsoft.com/office/drawing/2014/main" id="{E1D5181C-1819-4895-8260-397210ED6A76}"/>
              </a:ext>
            </a:extLst>
          </p:cNvPr>
          <p:cNvSpPr>
            <a:spLocks noGrp="1"/>
          </p:cNvSpPr>
          <p:nvPr/>
        </p:nvSpPr>
        <p:spPr>
          <a:xfrm>
            <a:off x="8686799" y="8448675"/>
            <a:ext cx="1066800" cy="228600"/>
          </a:xfrm>
          <a:prstGeom prst="rect">
            <a:avLst/>
          </a:prstGeom>
        </p:spPr>
        <p:txBody>
          <a:bodyPr lIns="0" tIns="0" rIns="0" bIns="0"/>
          <a:lstStyle/>
          <a:p>
            <a:pPr>
              <a:buNone/>
              <a:defRPr sz="1388" b="1">
                <a:solidFill>
                  <a:srgbClr val="9A5C54"/>
                </a:solidFill>
              </a:defRPr>
            </a:pPr>
            <a:r>
              <a:rPr sz="1388" b="1">
                <a:solidFill>
                  <a:srgbClr val="9A5C54"/>
                </a:solidFill>
              </a:rPr>
              <a:t>Limitation</a:t>
            </a:r>
          </a:p>
        </p:txBody>
      </p:sp>
      <p:sp>
        <p:nvSpPr>
          <p:cNvPr id="60" name="sentiment-limitation-detail">
            <a:extLst>
              <a:ext uri="{FF2B5EF4-FFF2-40B4-BE49-F238E27FC236}">
                <a16:creationId xmlns:a16="http://schemas.microsoft.com/office/drawing/2014/main" id="{A145D693-C0FE-49B4-A7CB-C2548FF12867}"/>
              </a:ext>
            </a:extLst>
          </p:cNvPr>
          <p:cNvSpPr>
            <a:spLocks noGrp="1"/>
          </p:cNvSpPr>
          <p:nvPr/>
        </p:nvSpPr>
        <p:spPr>
          <a:xfrm>
            <a:off x="9905999" y="8467725"/>
            <a:ext cx="7219950" cy="190500"/>
          </a:xfrm>
          <a:prstGeom prst="rect">
            <a:avLst/>
          </a:prstGeom>
        </p:spPr>
        <p:txBody>
          <a:bodyPr lIns="0" tIns="0" rIns="0" bIns="0"/>
          <a:lstStyle/>
          <a:p>
            <a:pPr>
              <a:buNone/>
              <a:defRPr sz="1238">
                <a:solidFill>
                  <a:srgbClr val="5B6975"/>
                </a:solidFill>
              </a:defRPr>
            </a:pPr>
            <a:r>
              <a:rPr sz="1238">
                <a:solidFill>
                  <a:srgbClr val="5B6975"/>
                </a:solidFill>
              </a:rPr>
              <a:t>Labels come from rating + VADER calibration, not human annotation.</a:t>
            </a:r>
          </a:p>
        </p:txBody>
      </p:sp>
    </p:spTree>
    <p:extLst>
      <p:ext uri="{BB962C8B-B14F-4D97-AF65-F5344CB8AC3E}">
        <p14:creationId xmlns:p14="http://schemas.microsoft.com/office/powerpoint/2010/main" val="1850495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kicker">
            <a:extLst>
              <a:ext uri="{FF2B5EF4-FFF2-40B4-BE49-F238E27FC236}">
                <a16:creationId xmlns:a16="http://schemas.microsoft.com/office/drawing/2014/main" id="{376246AA-101C-CC36-4151-B8AA3E1480FD}"/>
              </a:ext>
            </a:extLst>
          </p:cNvPr>
          <p:cNvSpPr>
            <a:spLocks noGrp="1"/>
          </p:cNvSpPr>
          <p:nvPr/>
        </p:nvSpPr>
        <p:spPr>
          <a:xfrm>
            <a:off x="990600" y="666750"/>
            <a:ext cx="1981200" cy="171450"/>
          </a:xfrm>
          <a:prstGeom prst="rect">
            <a:avLst/>
          </a:prstGeom>
        </p:spPr>
        <p:txBody>
          <a:bodyPr lIns="0" tIns="0" rIns="0" bIns="0"/>
          <a:lstStyle/>
          <a:p>
            <a:pPr algn="l">
              <a:buNone/>
              <a:defRPr sz="1350" b="1">
                <a:solidFill>
                  <a:srgbClr val="1E5B7A"/>
                </a:solidFill>
                <a:latin typeface="Verdana"/>
                <a:ea typeface="Verdana"/>
                <a:cs typeface="Verdana"/>
              </a:defRPr>
            </a:pPr>
            <a:endParaRPr/>
          </a:p>
        </p:txBody>
      </p:sp>
      <p:sp>
        <p:nvSpPr>
          <p:cNvPr id="13" name="footer-rule">
            <a:extLst>
              <a:ext uri="{FF2B5EF4-FFF2-40B4-BE49-F238E27FC236}">
                <a16:creationId xmlns:a16="http://schemas.microsoft.com/office/drawing/2014/main" id="{7B0B71DD-8EFC-9450-5895-626B0CBA16F1}"/>
              </a:ext>
            </a:extLst>
          </p:cNvPr>
          <p:cNvSpPr>
            <a:spLocks noGrp="1"/>
          </p:cNvSpPr>
          <p:nvPr/>
        </p:nvSpPr>
        <p:spPr>
          <a:xfrm>
            <a:off x="990600" y="9544050"/>
            <a:ext cx="914400" cy="19050"/>
          </a:xfrm>
          <a:prstGeom prst="rect">
            <a:avLst/>
          </a:prstGeom>
          <a:solidFill>
            <a:srgbClr val="A9B8B0"/>
          </a:solidFill>
          <a:ln w="0">
            <a:solidFill>
              <a:srgbClr val="A9B8B0"/>
            </a:solidFill>
            <a:prstDash val="solid"/>
          </a:ln>
        </p:spPr>
        <p:txBody>
          <a:bodyPr/>
          <a:lstStyle/>
          <a:p>
            <a:endParaRPr/>
          </a:p>
        </p:txBody>
      </p:sp>
      <p:sp>
        <p:nvSpPr>
          <p:cNvPr id="17" name="slide-kicker">
            <a:extLst>
              <a:ext uri="{FF2B5EF4-FFF2-40B4-BE49-F238E27FC236}">
                <a16:creationId xmlns:a16="http://schemas.microsoft.com/office/drawing/2014/main" id="{C40FC1D1-FBE5-3B29-2A26-C47BF21EF243}"/>
              </a:ext>
            </a:extLst>
          </p:cNvPr>
          <p:cNvSpPr>
            <a:spLocks noGrp="1"/>
          </p:cNvSpPr>
          <p:nvPr/>
        </p:nvSpPr>
        <p:spPr>
          <a:xfrm>
            <a:off x="990599" y="603130"/>
            <a:ext cx="8941677" cy="552450"/>
          </a:xfrm>
          <a:prstGeom prst="rect">
            <a:avLst/>
          </a:prstGeom>
        </p:spPr>
        <p:txBody>
          <a:bodyPr lIns="0" tIns="0" rIns="0" bIns="0"/>
          <a:lstStyle/>
          <a:p>
            <a:pPr>
              <a:buNone/>
              <a:defRPr sz="1350" b="1">
                <a:solidFill>
                  <a:srgbClr val="1E5B7A"/>
                </a:solidFill>
                <a:latin typeface="Verdana"/>
                <a:ea typeface="Verdana"/>
                <a:cs typeface="Verdana"/>
              </a:defRPr>
            </a:pPr>
            <a:r>
              <a:rPr sz="3200">
                <a:solidFill>
                  <a:srgbClr val="1E5B7A"/>
                </a:solidFill>
                <a:latin typeface="Verdana"/>
                <a:ea typeface="Verdana"/>
                <a:cs typeface="Verdana"/>
              </a:rPr>
              <a:t>Solution - Complaint-Title Generation</a:t>
            </a:r>
          </a:p>
        </p:txBody>
      </p:sp>
      <p:sp>
        <p:nvSpPr>
          <p:cNvPr id="18" name="title-generation-purpose-label">
            <a:extLst>
              <a:ext uri="{FF2B5EF4-FFF2-40B4-BE49-F238E27FC236}">
                <a16:creationId xmlns:a16="http://schemas.microsoft.com/office/drawing/2014/main" id="{A13AD833-0C53-4801-808B-41661A7F60BE}"/>
              </a:ext>
            </a:extLst>
          </p:cNvPr>
          <p:cNvSpPr>
            <a:spLocks noGrp="1"/>
          </p:cNvSpPr>
          <p:nvPr/>
        </p:nvSpPr>
        <p:spPr>
          <a:xfrm>
            <a:off x="990600" y="1333500"/>
            <a:ext cx="8362950" cy="228600"/>
          </a:xfrm>
          <a:prstGeom prst="rect">
            <a:avLst/>
          </a:prstGeom>
        </p:spPr>
        <p:txBody>
          <a:bodyPr lIns="0" tIns="0" rIns="0" bIns="0"/>
          <a:lstStyle/>
          <a:p>
            <a:pPr>
              <a:buNone/>
              <a:defRPr sz="1500" b="1">
                <a:solidFill>
                  <a:srgbClr val="0E5A75"/>
                </a:solidFill>
              </a:defRPr>
            </a:pPr>
            <a:r>
              <a:rPr sz="1600" b="1">
                <a:solidFill>
                  <a:srgbClr val="0E5A75"/>
                </a:solidFill>
              </a:rPr>
              <a:t>Purpose</a:t>
            </a:r>
          </a:p>
        </p:txBody>
      </p:sp>
      <p:sp>
        <p:nvSpPr>
          <p:cNvPr id="19" name="title-generation-purpose-text">
            <a:extLst>
              <a:ext uri="{FF2B5EF4-FFF2-40B4-BE49-F238E27FC236}">
                <a16:creationId xmlns:a16="http://schemas.microsoft.com/office/drawing/2014/main" id="{4BA76A91-4C73-4404-B67D-44D5BC6E3443}"/>
              </a:ext>
            </a:extLst>
          </p:cNvPr>
          <p:cNvSpPr>
            <a:spLocks noGrp="1"/>
          </p:cNvSpPr>
          <p:nvPr/>
        </p:nvSpPr>
        <p:spPr>
          <a:xfrm>
            <a:off x="990600" y="1619250"/>
            <a:ext cx="8362950" cy="228600"/>
          </a:xfrm>
          <a:prstGeom prst="rect">
            <a:avLst/>
          </a:prstGeom>
        </p:spPr>
        <p:txBody>
          <a:bodyPr lIns="0" tIns="0" rIns="0" bIns="0"/>
          <a:lstStyle/>
          <a:p>
            <a:pPr>
              <a:buNone/>
              <a:defRPr sz="1500" b="0">
                <a:solidFill>
                  <a:srgbClr val="243746"/>
                </a:solidFill>
              </a:defRPr>
            </a:pPr>
            <a:r>
              <a:rPr sz="1600" b="0">
                <a:solidFill>
                  <a:srgbClr val="243746"/>
                </a:solidFill>
              </a:rPr>
              <a:t>Summarize a negative review into a short, actionable complaint title.</a:t>
            </a:r>
          </a:p>
        </p:txBody>
      </p:sp>
      <p:sp>
        <p:nvSpPr>
          <p:cNvPr id="20" name="title-generation-method-label">
            <a:extLst>
              <a:ext uri="{FF2B5EF4-FFF2-40B4-BE49-F238E27FC236}">
                <a16:creationId xmlns:a16="http://schemas.microsoft.com/office/drawing/2014/main" id="{C2493157-8D6D-46F1-B1A6-29A2FAAAFEBB}"/>
              </a:ext>
            </a:extLst>
          </p:cNvPr>
          <p:cNvSpPr>
            <a:spLocks noGrp="1"/>
          </p:cNvSpPr>
          <p:nvPr/>
        </p:nvSpPr>
        <p:spPr>
          <a:xfrm>
            <a:off x="990599" y="2431571"/>
            <a:ext cx="8362950" cy="228600"/>
          </a:xfrm>
          <a:prstGeom prst="rect">
            <a:avLst/>
          </a:prstGeom>
        </p:spPr>
        <p:txBody>
          <a:bodyPr lIns="0" tIns="0" rIns="0" bIns="0"/>
          <a:lstStyle/>
          <a:p>
            <a:pPr>
              <a:buNone/>
              <a:defRPr sz="1500" b="1">
                <a:solidFill>
                  <a:srgbClr val="0E5A75"/>
                </a:solidFill>
              </a:defRPr>
            </a:pPr>
            <a:r>
              <a:rPr sz="1600" b="1">
                <a:solidFill>
                  <a:srgbClr val="0E5A75"/>
                </a:solidFill>
              </a:rPr>
              <a:t>Method idea</a:t>
            </a:r>
          </a:p>
        </p:txBody>
      </p:sp>
      <p:sp>
        <p:nvSpPr>
          <p:cNvPr id="21" name="title-generation-method-pill">
            <a:extLst>
              <a:ext uri="{FF2B5EF4-FFF2-40B4-BE49-F238E27FC236}">
                <a16:creationId xmlns:a16="http://schemas.microsoft.com/office/drawing/2014/main" id="{F9758996-CCCF-4F24-8433-B58FA5C43573}"/>
              </a:ext>
            </a:extLst>
          </p:cNvPr>
          <p:cNvSpPr>
            <a:spLocks noGrp="1"/>
          </p:cNvSpPr>
          <p:nvPr/>
        </p:nvSpPr>
        <p:spPr>
          <a:xfrm>
            <a:off x="990599" y="2717321"/>
            <a:ext cx="8371046" cy="1104900"/>
          </a:xfrm>
          <a:prstGeom prst="roundRect">
            <a:avLst>
              <a:gd name="adj" fmla="val 3448"/>
            </a:avLst>
          </a:prstGeom>
          <a:solidFill>
            <a:srgbClr val="FBE8D2"/>
          </a:solidFill>
          <a:ln w="9525">
            <a:solidFill>
              <a:srgbClr val="D5A065"/>
            </a:solidFill>
            <a:prstDash val="solid"/>
          </a:ln>
        </p:spPr>
        <p:txBody>
          <a:bodyPr/>
          <a:lstStyle/>
          <a:p>
            <a:endParaRPr/>
          </a:p>
        </p:txBody>
      </p:sp>
      <p:sp>
        <p:nvSpPr>
          <p:cNvPr id="22" name="title-generation-method-name">
            <a:extLst>
              <a:ext uri="{FF2B5EF4-FFF2-40B4-BE49-F238E27FC236}">
                <a16:creationId xmlns:a16="http://schemas.microsoft.com/office/drawing/2014/main" id="{AFF682F4-988C-450E-BA54-E6D937214426}"/>
              </a:ext>
            </a:extLst>
          </p:cNvPr>
          <p:cNvSpPr>
            <a:spLocks noGrp="1"/>
          </p:cNvSpPr>
          <p:nvPr/>
        </p:nvSpPr>
        <p:spPr>
          <a:xfrm>
            <a:off x="1219199" y="2964971"/>
            <a:ext cx="7905750" cy="323850"/>
          </a:xfrm>
          <a:prstGeom prst="rect">
            <a:avLst/>
          </a:prstGeom>
        </p:spPr>
        <p:txBody>
          <a:bodyPr lIns="0" tIns="0" rIns="0" bIns="0"/>
          <a:lstStyle/>
          <a:p>
            <a:pPr>
              <a:buNone/>
              <a:defRPr sz="2025" b="1">
                <a:solidFill>
                  <a:srgbClr val="123D52"/>
                </a:solidFill>
              </a:defRPr>
            </a:pPr>
            <a:r>
              <a:rPr sz="2025" b="1">
                <a:solidFill>
                  <a:srgbClr val="123D52"/>
                </a:solidFill>
              </a:rPr>
              <a:t>Teacher-student Flan-T5 generation</a:t>
            </a:r>
          </a:p>
        </p:txBody>
      </p:sp>
      <p:sp>
        <p:nvSpPr>
          <p:cNvPr id="23" name="title-generation-method-copy">
            <a:extLst>
              <a:ext uri="{FF2B5EF4-FFF2-40B4-BE49-F238E27FC236}">
                <a16:creationId xmlns:a16="http://schemas.microsoft.com/office/drawing/2014/main" id="{F35037E8-DDFE-46B4-9B0F-0BAEE1F94542}"/>
              </a:ext>
            </a:extLst>
          </p:cNvPr>
          <p:cNvSpPr>
            <a:spLocks noGrp="1"/>
          </p:cNvSpPr>
          <p:nvPr/>
        </p:nvSpPr>
        <p:spPr>
          <a:xfrm>
            <a:off x="1219199" y="3365021"/>
            <a:ext cx="7905750" cy="209550"/>
          </a:xfrm>
          <a:prstGeom prst="rect">
            <a:avLst/>
          </a:prstGeom>
        </p:spPr>
        <p:txBody>
          <a:bodyPr lIns="0" tIns="0" rIns="0" bIns="0"/>
          <a:lstStyle/>
          <a:p>
            <a:pPr>
              <a:buNone/>
              <a:defRPr sz="1365" b="0">
                <a:solidFill>
                  <a:srgbClr val="243746"/>
                </a:solidFill>
              </a:defRPr>
            </a:pPr>
            <a:r>
              <a:rPr sz="1365" b="0">
                <a:solidFill>
                  <a:srgbClr val="243746"/>
                </a:solidFill>
              </a:rPr>
              <a:t>An LLM teacher creates pseudo titles; local Flan-T5 students learn this title style.</a:t>
            </a:r>
          </a:p>
        </p:txBody>
      </p:sp>
      <p:sp>
        <p:nvSpPr>
          <p:cNvPr id="24" name="title-generation-why-panel">
            <a:extLst>
              <a:ext uri="{FF2B5EF4-FFF2-40B4-BE49-F238E27FC236}">
                <a16:creationId xmlns:a16="http://schemas.microsoft.com/office/drawing/2014/main" id="{8504EF4B-8AA3-45DF-AB89-E49DAB9AEF86}"/>
              </a:ext>
            </a:extLst>
          </p:cNvPr>
          <p:cNvSpPr>
            <a:spLocks noGrp="1"/>
          </p:cNvSpPr>
          <p:nvPr/>
        </p:nvSpPr>
        <p:spPr>
          <a:xfrm>
            <a:off x="9723596" y="1333500"/>
            <a:ext cx="7573804" cy="2819400"/>
          </a:xfrm>
          <a:prstGeom prst="roundRect">
            <a:avLst>
              <a:gd name="adj" fmla="val 1351"/>
            </a:avLst>
          </a:prstGeom>
          <a:solidFill>
            <a:srgbClr val="FFFFFF"/>
          </a:solidFill>
          <a:ln w="8573">
            <a:solidFill>
              <a:srgbClr val="D7E0E5"/>
            </a:solidFill>
            <a:prstDash val="solid"/>
          </a:ln>
        </p:spPr>
        <p:txBody>
          <a:bodyPr/>
          <a:lstStyle/>
          <a:p>
            <a:endParaRPr/>
          </a:p>
        </p:txBody>
      </p:sp>
      <p:sp>
        <p:nvSpPr>
          <p:cNvPr id="25" name="title-generation-why-label">
            <a:extLst>
              <a:ext uri="{FF2B5EF4-FFF2-40B4-BE49-F238E27FC236}">
                <a16:creationId xmlns:a16="http://schemas.microsoft.com/office/drawing/2014/main" id="{5110637C-D633-41BB-992A-4A9C263B4307}"/>
              </a:ext>
            </a:extLst>
          </p:cNvPr>
          <p:cNvSpPr>
            <a:spLocks noGrp="1"/>
          </p:cNvSpPr>
          <p:nvPr/>
        </p:nvSpPr>
        <p:spPr>
          <a:xfrm>
            <a:off x="9944100" y="1524000"/>
            <a:ext cx="7124700" cy="247650"/>
          </a:xfrm>
          <a:prstGeom prst="rect">
            <a:avLst/>
          </a:prstGeom>
        </p:spPr>
        <p:txBody>
          <a:bodyPr lIns="0" tIns="0" rIns="0" bIns="0"/>
          <a:lstStyle/>
          <a:p>
            <a:pPr>
              <a:buNone/>
              <a:defRPr sz="1575" b="1">
                <a:solidFill>
                  <a:srgbClr val="0E5A75"/>
                </a:solidFill>
              </a:defRPr>
            </a:pPr>
            <a:r>
              <a:rPr sz="1575" b="1">
                <a:solidFill>
                  <a:srgbClr val="0E5A75"/>
                </a:solidFill>
              </a:rPr>
              <a:t>Why this method?</a:t>
            </a:r>
          </a:p>
        </p:txBody>
      </p:sp>
      <p:sp>
        <p:nvSpPr>
          <p:cNvPr id="26" name="title-generation-why-1-num">
            <a:extLst>
              <a:ext uri="{FF2B5EF4-FFF2-40B4-BE49-F238E27FC236}">
                <a16:creationId xmlns:a16="http://schemas.microsoft.com/office/drawing/2014/main" id="{8E10F511-50AC-4180-B8B8-DCB4F5C6DA03}"/>
              </a:ext>
            </a:extLst>
          </p:cNvPr>
          <p:cNvSpPr>
            <a:spLocks noGrp="1"/>
          </p:cNvSpPr>
          <p:nvPr/>
        </p:nvSpPr>
        <p:spPr>
          <a:xfrm>
            <a:off x="9944100" y="1943100"/>
            <a:ext cx="419100" cy="304800"/>
          </a:xfrm>
          <a:prstGeom prst="rect">
            <a:avLst/>
          </a:prstGeom>
        </p:spPr>
        <p:txBody>
          <a:bodyPr lIns="0" tIns="0" rIns="0" bIns="0"/>
          <a:lstStyle/>
          <a:p>
            <a:pPr>
              <a:buNone/>
              <a:defRPr sz="1950" b="1">
                <a:solidFill>
                  <a:srgbClr val="D5A065"/>
                </a:solidFill>
              </a:defRPr>
            </a:pPr>
            <a:r>
              <a:rPr sz="1950" b="1">
                <a:solidFill>
                  <a:srgbClr val="D5A065"/>
                </a:solidFill>
              </a:rPr>
              <a:t>01</a:t>
            </a:r>
          </a:p>
        </p:txBody>
      </p:sp>
      <p:sp>
        <p:nvSpPr>
          <p:cNvPr id="27" name="title-generation-why-1-title">
            <a:extLst>
              <a:ext uri="{FF2B5EF4-FFF2-40B4-BE49-F238E27FC236}">
                <a16:creationId xmlns:a16="http://schemas.microsoft.com/office/drawing/2014/main" id="{7293F37C-C5E8-4B34-9C9F-28F9D7E14DA8}"/>
              </a:ext>
            </a:extLst>
          </p:cNvPr>
          <p:cNvSpPr>
            <a:spLocks noGrp="1"/>
          </p:cNvSpPr>
          <p:nvPr/>
        </p:nvSpPr>
        <p:spPr>
          <a:xfrm>
            <a:off x="10496550" y="1943100"/>
            <a:ext cx="6572250" cy="228600"/>
          </a:xfrm>
          <a:prstGeom prst="rect">
            <a:avLst/>
          </a:prstGeom>
        </p:spPr>
        <p:txBody>
          <a:bodyPr lIns="0" tIns="0" rIns="0" bIns="0"/>
          <a:lstStyle/>
          <a:p>
            <a:pPr>
              <a:buNone/>
              <a:defRPr sz="1402" b="1">
                <a:solidFill>
                  <a:srgbClr val="123D52"/>
                </a:solidFill>
              </a:defRPr>
            </a:pPr>
            <a:r>
              <a:rPr sz="1402" b="1">
                <a:solidFill>
                  <a:srgbClr val="123D52"/>
                </a:solidFill>
              </a:rPr>
              <a:t>Text-to-text mapping</a:t>
            </a:r>
          </a:p>
        </p:txBody>
      </p:sp>
      <p:sp>
        <p:nvSpPr>
          <p:cNvPr id="28" name="title-generation-why-1-detail">
            <a:extLst>
              <a:ext uri="{FF2B5EF4-FFF2-40B4-BE49-F238E27FC236}">
                <a16:creationId xmlns:a16="http://schemas.microsoft.com/office/drawing/2014/main" id="{A919F5F0-3A4B-47B5-8CDC-CD9EB468381F}"/>
              </a:ext>
            </a:extLst>
          </p:cNvPr>
          <p:cNvSpPr>
            <a:spLocks noGrp="1"/>
          </p:cNvSpPr>
          <p:nvPr/>
        </p:nvSpPr>
        <p:spPr>
          <a:xfrm>
            <a:off x="10496550" y="2190750"/>
            <a:ext cx="6572250" cy="190500"/>
          </a:xfrm>
          <a:prstGeom prst="rect">
            <a:avLst/>
          </a:prstGeom>
        </p:spPr>
        <p:txBody>
          <a:bodyPr lIns="0" tIns="0" rIns="0" bIns="0"/>
          <a:lstStyle/>
          <a:p>
            <a:pPr>
              <a:buNone/>
              <a:defRPr sz="1230">
                <a:solidFill>
                  <a:srgbClr val="5B6975"/>
                </a:solidFill>
              </a:defRPr>
            </a:pPr>
            <a:r>
              <a:rPr sz="1230">
                <a:solidFill>
                  <a:srgbClr val="5B6975"/>
                </a:solidFill>
              </a:rPr>
              <a:t>A review naturally maps to a short issue title.</a:t>
            </a:r>
          </a:p>
        </p:txBody>
      </p:sp>
      <p:sp>
        <p:nvSpPr>
          <p:cNvPr id="29" name="title-generation-why-2-num">
            <a:extLst>
              <a:ext uri="{FF2B5EF4-FFF2-40B4-BE49-F238E27FC236}">
                <a16:creationId xmlns:a16="http://schemas.microsoft.com/office/drawing/2014/main" id="{6C00B25F-4ABE-489D-B0BC-9A4FF1B1FEE1}"/>
              </a:ext>
            </a:extLst>
          </p:cNvPr>
          <p:cNvSpPr>
            <a:spLocks noGrp="1"/>
          </p:cNvSpPr>
          <p:nvPr/>
        </p:nvSpPr>
        <p:spPr>
          <a:xfrm>
            <a:off x="9944100" y="2552700"/>
            <a:ext cx="419100" cy="304800"/>
          </a:xfrm>
          <a:prstGeom prst="rect">
            <a:avLst/>
          </a:prstGeom>
        </p:spPr>
        <p:txBody>
          <a:bodyPr lIns="0" tIns="0" rIns="0" bIns="0"/>
          <a:lstStyle/>
          <a:p>
            <a:pPr>
              <a:buNone/>
              <a:defRPr sz="1950" b="1">
                <a:solidFill>
                  <a:srgbClr val="9BBE8B"/>
                </a:solidFill>
              </a:defRPr>
            </a:pPr>
            <a:r>
              <a:rPr sz="1950" b="1">
                <a:solidFill>
                  <a:srgbClr val="9BBE8B"/>
                </a:solidFill>
              </a:rPr>
              <a:t>02</a:t>
            </a:r>
          </a:p>
        </p:txBody>
      </p:sp>
      <p:sp>
        <p:nvSpPr>
          <p:cNvPr id="30" name="title-generation-why-2-title">
            <a:extLst>
              <a:ext uri="{FF2B5EF4-FFF2-40B4-BE49-F238E27FC236}">
                <a16:creationId xmlns:a16="http://schemas.microsoft.com/office/drawing/2014/main" id="{06D640E9-4DD5-49DE-B1ED-22457601236A}"/>
              </a:ext>
            </a:extLst>
          </p:cNvPr>
          <p:cNvSpPr>
            <a:spLocks noGrp="1"/>
          </p:cNvSpPr>
          <p:nvPr/>
        </p:nvSpPr>
        <p:spPr>
          <a:xfrm>
            <a:off x="10496550" y="2552700"/>
            <a:ext cx="6572250" cy="228600"/>
          </a:xfrm>
          <a:prstGeom prst="rect">
            <a:avLst/>
          </a:prstGeom>
        </p:spPr>
        <p:txBody>
          <a:bodyPr lIns="0" tIns="0" rIns="0" bIns="0"/>
          <a:lstStyle/>
          <a:p>
            <a:pPr>
              <a:buNone/>
              <a:defRPr sz="1402" b="1">
                <a:solidFill>
                  <a:srgbClr val="123D52"/>
                </a:solidFill>
              </a:defRPr>
            </a:pPr>
            <a:r>
              <a:rPr sz="1402" b="1">
                <a:solidFill>
                  <a:srgbClr val="123D52"/>
                </a:solidFill>
              </a:rPr>
              <a:t>More fluent than keywords</a:t>
            </a:r>
          </a:p>
        </p:txBody>
      </p:sp>
      <p:sp>
        <p:nvSpPr>
          <p:cNvPr id="31" name="title-generation-why-2-detail">
            <a:extLst>
              <a:ext uri="{FF2B5EF4-FFF2-40B4-BE49-F238E27FC236}">
                <a16:creationId xmlns:a16="http://schemas.microsoft.com/office/drawing/2014/main" id="{258D2761-5240-4ABC-A12F-D5005FB41AFF}"/>
              </a:ext>
            </a:extLst>
          </p:cNvPr>
          <p:cNvSpPr>
            <a:spLocks noGrp="1"/>
          </p:cNvSpPr>
          <p:nvPr/>
        </p:nvSpPr>
        <p:spPr>
          <a:xfrm>
            <a:off x="10496550" y="2800350"/>
            <a:ext cx="6572250" cy="190500"/>
          </a:xfrm>
          <a:prstGeom prst="rect">
            <a:avLst/>
          </a:prstGeom>
        </p:spPr>
        <p:txBody>
          <a:bodyPr lIns="0" tIns="0" rIns="0" bIns="0"/>
          <a:lstStyle/>
          <a:p>
            <a:pPr>
              <a:buNone/>
              <a:defRPr sz="1230">
                <a:solidFill>
                  <a:srgbClr val="5B6975"/>
                </a:solidFill>
              </a:defRPr>
            </a:pPr>
            <a:r>
              <a:rPr sz="1230">
                <a:solidFill>
                  <a:srgbClr val="5B6975"/>
                </a:solidFill>
              </a:rPr>
              <a:t>Flan-T5 summarizes the issue instead of only extracting terms.</a:t>
            </a:r>
          </a:p>
        </p:txBody>
      </p:sp>
      <p:sp>
        <p:nvSpPr>
          <p:cNvPr id="32" name="title-generation-why-3-num">
            <a:extLst>
              <a:ext uri="{FF2B5EF4-FFF2-40B4-BE49-F238E27FC236}">
                <a16:creationId xmlns:a16="http://schemas.microsoft.com/office/drawing/2014/main" id="{1FC3E895-178D-492E-BB38-D053DD461895}"/>
              </a:ext>
            </a:extLst>
          </p:cNvPr>
          <p:cNvSpPr>
            <a:spLocks noGrp="1"/>
          </p:cNvSpPr>
          <p:nvPr/>
        </p:nvSpPr>
        <p:spPr>
          <a:xfrm>
            <a:off x="9944100" y="3162300"/>
            <a:ext cx="419100" cy="304800"/>
          </a:xfrm>
          <a:prstGeom prst="rect">
            <a:avLst/>
          </a:prstGeom>
        </p:spPr>
        <p:txBody>
          <a:bodyPr lIns="0" tIns="0" rIns="0" bIns="0"/>
          <a:lstStyle/>
          <a:p>
            <a:pPr>
              <a:buNone/>
              <a:defRPr sz="1950" b="1">
                <a:solidFill>
                  <a:srgbClr val="8BBBD1"/>
                </a:solidFill>
              </a:defRPr>
            </a:pPr>
            <a:r>
              <a:rPr sz="1950" b="1">
                <a:solidFill>
                  <a:srgbClr val="8BBBD1"/>
                </a:solidFill>
              </a:rPr>
              <a:t>03</a:t>
            </a:r>
          </a:p>
        </p:txBody>
      </p:sp>
      <p:sp>
        <p:nvSpPr>
          <p:cNvPr id="33" name="title-generation-why-3-title">
            <a:extLst>
              <a:ext uri="{FF2B5EF4-FFF2-40B4-BE49-F238E27FC236}">
                <a16:creationId xmlns:a16="http://schemas.microsoft.com/office/drawing/2014/main" id="{BA85377D-5BC4-4CAA-AE9A-8D47F7994B5B}"/>
              </a:ext>
            </a:extLst>
          </p:cNvPr>
          <p:cNvSpPr>
            <a:spLocks noGrp="1"/>
          </p:cNvSpPr>
          <p:nvPr/>
        </p:nvSpPr>
        <p:spPr>
          <a:xfrm>
            <a:off x="10496550" y="3162300"/>
            <a:ext cx="6572250" cy="228600"/>
          </a:xfrm>
          <a:prstGeom prst="rect">
            <a:avLst/>
          </a:prstGeom>
        </p:spPr>
        <p:txBody>
          <a:bodyPr lIns="0" tIns="0" rIns="0" bIns="0"/>
          <a:lstStyle/>
          <a:p>
            <a:pPr>
              <a:buNone/>
              <a:defRPr sz="1402" b="1">
                <a:solidFill>
                  <a:srgbClr val="123D52"/>
                </a:solidFill>
              </a:defRPr>
            </a:pPr>
            <a:r>
              <a:rPr sz="1402" b="1">
                <a:solidFill>
                  <a:srgbClr val="123D52"/>
                </a:solidFill>
              </a:rPr>
              <a:t>Less API dependence</a:t>
            </a:r>
          </a:p>
        </p:txBody>
      </p:sp>
      <p:sp>
        <p:nvSpPr>
          <p:cNvPr id="34" name="title-generation-why-3-detail">
            <a:extLst>
              <a:ext uri="{FF2B5EF4-FFF2-40B4-BE49-F238E27FC236}">
                <a16:creationId xmlns:a16="http://schemas.microsoft.com/office/drawing/2014/main" id="{5F4DE76F-02FE-4386-8ECA-629A4F6E9DB5}"/>
              </a:ext>
            </a:extLst>
          </p:cNvPr>
          <p:cNvSpPr>
            <a:spLocks noGrp="1"/>
          </p:cNvSpPr>
          <p:nvPr/>
        </p:nvSpPr>
        <p:spPr>
          <a:xfrm>
            <a:off x="10496550" y="3409950"/>
            <a:ext cx="6572250" cy="190500"/>
          </a:xfrm>
          <a:prstGeom prst="rect">
            <a:avLst/>
          </a:prstGeom>
        </p:spPr>
        <p:txBody>
          <a:bodyPr lIns="0" tIns="0" rIns="0" bIns="0"/>
          <a:lstStyle/>
          <a:p>
            <a:pPr>
              <a:buNone/>
              <a:defRPr sz="1230">
                <a:solidFill>
                  <a:srgbClr val="5B6975"/>
                </a:solidFill>
              </a:defRPr>
            </a:pPr>
            <a:r>
              <a:rPr sz="1230">
                <a:solidFill>
                  <a:srgbClr val="5B6975"/>
                </a:solidFill>
              </a:rPr>
              <a:t>The local student reduces runtime reliance on external LLMs.</a:t>
            </a:r>
          </a:p>
        </p:txBody>
      </p:sp>
      <p:sp>
        <p:nvSpPr>
          <p:cNvPr id="35" name="title-generation-flow-area">
            <a:extLst>
              <a:ext uri="{FF2B5EF4-FFF2-40B4-BE49-F238E27FC236}">
                <a16:creationId xmlns:a16="http://schemas.microsoft.com/office/drawing/2014/main" id="{AEDC1A9F-73C5-4562-BB09-AA0490B41ABC}"/>
              </a:ext>
            </a:extLst>
          </p:cNvPr>
          <p:cNvSpPr>
            <a:spLocks noGrp="1"/>
          </p:cNvSpPr>
          <p:nvPr/>
        </p:nvSpPr>
        <p:spPr>
          <a:xfrm>
            <a:off x="990600" y="4953000"/>
            <a:ext cx="16306800" cy="2038350"/>
          </a:xfrm>
          <a:prstGeom prst="roundRect">
            <a:avLst>
              <a:gd name="adj" fmla="val 1869"/>
            </a:avLst>
          </a:prstGeom>
          <a:solidFill>
            <a:srgbClr val="FFFFFF"/>
          </a:solidFill>
          <a:ln w="8573">
            <a:solidFill>
              <a:srgbClr val="D7E0E5"/>
            </a:solidFill>
            <a:prstDash val="solid"/>
          </a:ln>
        </p:spPr>
        <p:txBody>
          <a:bodyPr/>
          <a:lstStyle/>
          <a:p>
            <a:endParaRPr/>
          </a:p>
        </p:txBody>
      </p:sp>
      <p:sp>
        <p:nvSpPr>
          <p:cNvPr id="36" name="title-generation-flow-mark">
            <a:extLst>
              <a:ext uri="{FF2B5EF4-FFF2-40B4-BE49-F238E27FC236}">
                <a16:creationId xmlns:a16="http://schemas.microsoft.com/office/drawing/2014/main" id="{A262FD01-0A21-455D-B444-9055B84A14EA}"/>
              </a:ext>
            </a:extLst>
          </p:cNvPr>
          <p:cNvSpPr>
            <a:spLocks noGrp="1"/>
          </p:cNvSpPr>
          <p:nvPr/>
        </p:nvSpPr>
        <p:spPr>
          <a:xfrm>
            <a:off x="1257300" y="5162550"/>
            <a:ext cx="66675" cy="266700"/>
          </a:xfrm>
          <a:prstGeom prst="rect">
            <a:avLst/>
          </a:prstGeom>
          <a:solidFill>
            <a:srgbClr val="D5A065"/>
          </a:solidFill>
          <a:ln w="0">
            <a:solidFill>
              <a:srgbClr val="D5A065"/>
            </a:solidFill>
            <a:prstDash val="solid"/>
          </a:ln>
        </p:spPr>
        <p:txBody>
          <a:bodyPr/>
          <a:lstStyle/>
          <a:p>
            <a:endParaRPr/>
          </a:p>
        </p:txBody>
      </p:sp>
      <p:sp>
        <p:nvSpPr>
          <p:cNvPr id="37" name="title-generation-flow-title">
            <a:extLst>
              <a:ext uri="{FF2B5EF4-FFF2-40B4-BE49-F238E27FC236}">
                <a16:creationId xmlns:a16="http://schemas.microsoft.com/office/drawing/2014/main" id="{E5B8E1F8-4CE8-43AB-B161-97EF0BAACE0D}"/>
              </a:ext>
            </a:extLst>
          </p:cNvPr>
          <p:cNvSpPr>
            <a:spLocks noGrp="1"/>
          </p:cNvSpPr>
          <p:nvPr/>
        </p:nvSpPr>
        <p:spPr>
          <a:xfrm>
            <a:off x="1466850" y="5181600"/>
            <a:ext cx="15430500" cy="228600"/>
          </a:xfrm>
          <a:prstGeom prst="rect">
            <a:avLst/>
          </a:prstGeom>
        </p:spPr>
        <p:txBody>
          <a:bodyPr lIns="0" tIns="0" rIns="0" bIns="0"/>
          <a:lstStyle/>
          <a:p>
            <a:pPr>
              <a:buNone/>
              <a:defRPr sz="1613" b="1">
                <a:solidFill>
                  <a:srgbClr val="0E5A75"/>
                </a:solidFill>
              </a:defRPr>
            </a:pPr>
            <a:r>
              <a:rPr sz="1613" b="1">
                <a:solidFill>
                  <a:srgbClr val="0E5A75"/>
                </a:solidFill>
              </a:rPr>
              <a:t>DataFlow</a:t>
            </a:r>
          </a:p>
        </p:txBody>
      </p:sp>
      <p:sp>
        <p:nvSpPr>
          <p:cNvPr id="38" name="title-generation-badge-spacer">
            <a:extLst>
              <a:ext uri="{FF2B5EF4-FFF2-40B4-BE49-F238E27FC236}">
                <a16:creationId xmlns:a16="http://schemas.microsoft.com/office/drawing/2014/main" id="{8925DB6C-A428-4A2A-9B16-0C66ECFD7BFD}"/>
              </a:ext>
            </a:extLst>
          </p:cNvPr>
          <p:cNvSpPr>
            <a:spLocks noGrp="1"/>
          </p:cNvSpPr>
          <p:nvPr/>
        </p:nvSpPr>
        <p:spPr>
          <a:xfrm>
            <a:off x="17030700" y="5295900"/>
            <a:ext cx="9525" cy="9525"/>
          </a:xfrm>
          <a:prstGeom prst="rect">
            <a:avLst/>
          </a:prstGeom>
        </p:spPr>
        <p:txBody>
          <a:bodyPr lIns="0" tIns="0" rIns="0" bIns="0"/>
          <a:lstStyle/>
          <a:p>
            <a:endParaRPr/>
          </a:p>
        </p:txBody>
      </p:sp>
      <p:sp>
        <p:nvSpPr>
          <p:cNvPr id="39" name="title-generation-flow-node-1">
            <a:extLst>
              <a:ext uri="{FF2B5EF4-FFF2-40B4-BE49-F238E27FC236}">
                <a16:creationId xmlns:a16="http://schemas.microsoft.com/office/drawing/2014/main" id="{51AF97D4-DA0B-4263-B52A-15C6A2F77F28}"/>
              </a:ext>
            </a:extLst>
          </p:cNvPr>
          <p:cNvSpPr>
            <a:spLocks noGrp="1"/>
          </p:cNvSpPr>
          <p:nvPr/>
        </p:nvSpPr>
        <p:spPr>
          <a:xfrm>
            <a:off x="1257300" y="5581650"/>
            <a:ext cx="2712720" cy="1314450"/>
          </a:xfrm>
          <a:prstGeom prst="roundRect">
            <a:avLst>
              <a:gd name="adj" fmla="val 2899"/>
            </a:avLst>
          </a:prstGeom>
          <a:solidFill>
            <a:srgbClr val="F5DDD8"/>
          </a:solidFill>
          <a:ln w="10478">
            <a:solidFill>
              <a:srgbClr val="C1847A"/>
            </a:solidFill>
            <a:prstDash val="solid"/>
          </a:ln>
        </p:spPr>
        <p:txBody>
          <a:bodyPr/>
          <a:lstStyle/>
          <a:p>
            <a:endParaRPr/>
          </a:p>
        </p:txBody>
      </p:sp>
      <p:sp>
        <p:nvSpPr>
          <p:cNvPr id="40" name="title-generation-flow-node-1-title">
            <a:extLst>
              <a:ext uri="{FF2B5EF4-FFF2-40B4-BE49-F238E27FC236}">
                <a16:creationId xmlns:a16="http://schemas.microsoft.com/office/drawing/2014/main" id="{E92A1F97-62B6-41CD-A513-82E55A8A96C5}"/>
              </a:ext>
            </a:extLst>
          </p:cNvPr>
          <p:cNvSpPr>
            <a:spLocks noGrp="1"/>
          </p:cNvSpPr>
          <p:nvPr/>
        </p:nvSpPr>
        <p:spPr>
          <a:xfrm>
            <a:off x="1428750" y="6000750"/>
            <a:ext cx="2381250" cy="247650"/>
          </a:xfrm>
          <a:prstGeom prst="rect">
            <a:avLst/>
          </a:prstGeom>
        </p:spPr>
        <p:txBody>
          <a:bodyPr lIns="0" tIns="0" rIns="0" bIns="0"/>
          <a:lstStyle/>
          <a:p>
            <a:pPr>
              <a:buNone/>
              <a:defRPr sz="1538" b="1">
                <a:solidFill>
                  <a:srgbClr val="123D52"/>
                </a:solidFill>
              </a:defRPr>
            </a:pPr>
            <a:r>
              <a:rPr sz="1538" b="1">
                <a:solidFill>
                  <a:srgbClr val="123D52"/>
                </a:solidFill>
              </a:rPr>
              <a:t>Negative review</a:t>
            </a:r>
          </a:p>
        </p:txBody>
      </p:sp>
      <p:sp>
        <p:nvSpPr>
          <p:cNvPr id="41" name="title-generation-flow-node-1-subtitle">
            <a:extLst>
              <a:ext uri="{FF2B5EF4-FFF2-40B4-BE49-F238E27FC236}">
                <a16:creationId xmlns:a16="http://schemas.microsoft.com/office/drawing/2014/main" id="{CA0E99FD-CCE6-4BAF-B416-8135779DA0A2}"/>
              </a:ext>
            </a:extLst>
          </p:cNvPr>
          <p:cNvSpPr>
            <a:spLocks noGrp="1"/>
          </p:cNvSpPr>
          <p:nvPr/>
        </p:nvSpPr>
        <p:spPr>
          <a:xfrm>
            <a:off x="1428750" y="6305550"/>
            <a:ext cx="2381250" cy="190500"/>
          </a:xfrm>
          <a:prstGeom prst="rect">
            <a:avLst/>
          </a:prstGeom>
        </p:spPr>
        <p:txBody>
          <a:bodyPr lIns="0" tIns="0" rIns="0" bIns="0"/>
          <a:lstStyle/>
          <a:p>
            <a:pPr>
              <a:buNone/>
              <a:defRPr sz="1177">
                <a:solidFill>
                  <a:srgbClr val="5B6975"/>
                </a:solidFill>
              </a:defRPr>
            </a:pPr>
            <a:r>
              <a:rPr sz="1177">
                <a:solidFill>
                  <a:srgbClr val="5B6975"/>
                </a:solidFill>
              </a:rPr>
              <a:t>filtered input</a:t>
            </a:r>
          </a:p>
        </p:txBody>
      </p:sp>
      <p:sp>
        <p:nvSpPr>
          <p:cNvPr id="42" name="title-generation-flow-arrow-1">
            <a:extLst>
              <a:ext uri="{FF2B5EF4-FFF2-40B4-BE49-F238E27FC236}">
                <a16:creationId xmlns:a16="http://schemas.microsoft.com/office/drawing/2014/main" id="{211EF69B-3F61-4AF0-9F0A-EF35400F588C}"/>
              </a:ext>
            </a:extLst>
          </p:cNvPr>
          <p:cNvSpPr>
            <a:spLocks noGrp="1"/>
          </p:cNvSpPr>
          <p:nvPr/>
        </p:nvSpPr>
        <p:spPr>
          <a:xfrm>
            <a:off x="4057650" y="6076950"/>
            <a:ext cx="361950" cy="304800"/>
          </a:xfrm>
          <a:prstGeom prst="rect">
            <a:avLst/>
          </a:prstGeom>
        </p:spPr>
        <p:txBody>
          <a:bodyPr lIns="0" tIns="0" rIns="0" bIns="0"/>
          <a:lstStyle/>
          <a:p>
            <a:pPr>
              <a:buNone/>
              <a:defRPr sz="2025" b="1">
                <a:solidFill>
                  <a:srgbClr val="A9B8B0"/>
                </a:solidFill>
              </a:defRPr>
            </a:pPr>
            <a:r>
              <a:rPr sz="2025" b="1">
                <a:solidFill>
                  <a:srgbClr val="A9B8B0"/>
                </a:solidFill>
              </a:rPr>
              <a:t>-&gt;</a:t>
            </a:r>
          </a:p>
        </p:txBody>
      </p:sp>
      <p:sp>
        <p:nvSpPr>
          <p:cNvPr id="43" name="title-generation-flow-node-2">
            <a:extLst>
              <a:ext uri="{FF2B5EF4-FFF2-40B4-BE49-F238E27FC236}">
                <a16:creationId xmlns:a16="http://schemas.microsoft.com/office/drawing/2014/main" id="{6E0CF467-EC37-4642-A3DA-2ED222187C8A}"/>
              </a:ext>
            </a:extLst>
          </p:cNvPr>
          <p:cNvSpPr>
            <a:spLocks noGrp="1"/>
          </p:cNvSpPr>
          <p:nvPr/>
        </p:nvSpPr>
        <p:spPr>
          <a:xfrm>
            <a:off x="4522470" y="5581650"/>
            <a:ext cx="2712720" cy="1314450"/>
          </a:xfrm>
          <a:prstGeom prst="roundRect">
            <a:avLst>
              <a:gd name="adj" fmla="val 2899"/>
            </a:avLst>
          </a:prstGeom>
          <a:solidFill>
            <a:srgbClr val="DDECF7"/>
          </a:solidFill>
          <a:ln w="20955">
            <a:solidFill>
              <a:srgbClr val="8BBBD1"/>
            </a:solidFill>
            <a:prstDash val="solid"/>
          </a:ln>
        </p:spPr>
        <p:txBody>
          <a:bodyPr/>
          <a:lstStyle/>
          <a:p>
            <a:endParaRPr/>
          </a:p>
        </p:txBody>
      </p:sp>
      <p:sp>
        <p:nvSpPr>
          <p:cNvPr id="44" name="title-generation-flow-node-2-title">
            <a:extLst>
              <a:ext uri="{FF2B5EF4-FFF2-40B4-BE49-F238E27FC236}">
                <a16:creationId xmlns:a16="http://schemas.microsoft.com/office/drawing/2014/main" id="{914A962D-E7A7-41E5-AA5F-DFB19E04B4D6}"/>
              </a:ext>
            </a:extLst>
          </p:cNvPr>
          <p:cNvSpPr>
            <a:spLocks noGrp="1"/>
          </p:cNvSpPr>
          <p:nvPr/>
        </p:nvSpPr>
        <p:spPr>
          <a:xfrm>
            <a:off x="4686300" y="5962650"/>
            <a:ext cx="2381250" cy="285750"/>
          </a:xfrm>
          <a:prstGeom prst="rect">
            <a:avLst/>
          </a:prstGeom>
        </p:spPr>
        <p:txBody>
          <a:bodyPr lIns="0" tIns="0" rIns="0" bIns="0"/>
          <a:lstStyle/>
          <a:p>
            <a:pPr>
              <a:buNone/>
              <a:defRPr sz="1875" b="1">
                <a:solidFill>
                  <a:srgbClr val="123D52"/>
                </a:solidFill>
              </a:defRPr>
            </a:pPr>
            <a:r>
              <a:rPr sz="1875" b="1">
                <a:solidFill>
                  <a:srgbClr val="123D52"/>
                </a:solidFill>
              </a:rPr>
              <a:t>LLM teacher</a:t>
            </a:r>
          </a:p>
        </p:txBody>
      </p:sp>
      <p:sp>
        <p:nvSpPr>
          <p:cNvPr id="45" name="title-generation-flow-node-2-subtitle">
            <a:extLst>
              <a:ext uri="{FF2B5EF4-FFF2-40B4-BE49-F238E27FC236}">
                <a16:creationId xmlns:a16="http://schemas.microsoft.com/office/drawing/2014/main" id="{B6FF5E8C-C331-423D-91BF-BFF4E17283B4}"/>
              </a:ext>
            </a:extLst>
          </p:cNvPr>
          <p:cNvSpPr>
            <a:spLocks noGrp="1"/>
          </p:cNvSpPr>
          <p:nvPr/>
        </p:nvSpPr>
        <p:spPr>
          <a:xfrm>
            <a:off x="4686300" y="6324600"/>
            <a:ext cx="2381250" cy="190500"/>
          </a:xfrm>
          <a:prstGeom prst="rect">
            <a:avLst/>
          </a:prstGeom>
        </p:spPr>
        <p:txBody>
          <a:bodyPr lIns="0" tIns="0" rIns="0" bIns="0"/>
          <a:lstStyle/>
          <a:p>
            <a:pPr>
              <a:buNone/>
              <a:defRPr sz="1177">
                <a:solidFill>
                  <a:srgbClr val="5B6975"/>
                </a:solidFill>
              </a:defRPr>
            </a:pPr>
            <a:r>
              <a:rPr sz="1177">
                <a:solidFill>
                  <a:srgbClr val="5B6975"/>
                </a:solidFill>
              </a:rPr>
              <a:t>creates pseudo titles</a:t>
            </a:r>
          </a:p>
        </p:txBody>
      </p:sp>
      <p:sp>
        <p:nvSpPr>
          <p:cNvPr id="46" name="title-generation-flow-arrow-2">
            <a:extLst>
              <a:ext uri="{FF2B5EF4-FFF2-40B4-BE49-F238E27FC236}">
                <a16:creationId xmlns:a16="http://schemas.microsoft.com/office/drawing/2014/main" id="{134EF114-1EB8-4C93-B822-9C72C5E04CF3}"/>
              </a:ext>
            </a:extLst>
          </p:cNvPr>
          <p:cNvSpPr>
            <a:spLocks noGrp="1"/>
          </p:cNvSpPr>
          <p:nvPr/>
        </p:nvSpPr>
        <p:spPr>
          <a:xfrm>
            <a:off x="7334250" y="6076950"/>
            <a:ext cx="361950" cy="304800"/>
          </a:xfrm>
          <a:prstGeom prst="rect">
            <a:avLst/>
          </a:prstGeom>
        </p:spPr>
        <p:txBody>
          <a:bodyPr lIns="0" tIns="0" rIns="0" bIns="0"/>
          <a:lstStyle/>
          <a:p>
            <a:pPr>
              <a:buNone/>
              <a:defRPr sz="2025" b="1">
                <a:solidFill>
                  <a:srgbClr val="A9B8B0"/>
                </a:solidFill>
              </a:defRPr>
            </a:pPr>
            <a:r>
              <a:rPr sz="2025" b="1">
                <a:solidFill>
                  <a:srgbClr val="A9B8B0"/>
                </a:solidFill>
              </a:rPr>
              <a:t>-&gt;</a:t>
            </a:r>
          </a:p>
        </p:txBody>
      </p:sp>
      <p:sp>
        <p:nvSpPr>
          <p:cNvPr id="47" name="title-generation-flow-node-3">
            <a:extLst>
              <a:ext uri="{FF2B5EF4-FFF2-40B4-BE49-F238E27FC236}">
                <a16:creationId xmlns:a16="http://schemas.microsoft.com/office/drawing/2014/main" id="{1C573C6A-130B-4B9D-ABBC-C1CCB3DC751C}"/>
              </a:ext>
            </a:extLst>
          </p:cNvPr>
          <p:cNvSpPr>
            <a:spLocks noGrp="1"/>
          </p:cNvSpPr>
          <p:nvPr/>
        </p:nvSpPr>
        <p:spPr>
          <a:xfrm>
            <a:off x="7787640" y="5581650"/>
            <a:ext cx="2712720" cy="1314450"/>
          </a:xfrm>
          <a:prstGeom prst="roundRect">
            <a:avLst>
              <a:gd name="adj" fmla="val 2899"/>
            </a:avLst>
          </a:prstGeom>
          <a:solidFill>
            <a:srgbClr val="F7FAFC"/>
          </a:solidFill>
          <a:ln w="10478">
            <a:solidFill>
              <a:srgbClr val="A9B8B0"/>
            </a:solidFill>
            <a:prstDash val="solid"/>
          </a:ln>
        </p:spPr>
        <p:txBody>
          <a:bodyPr/>
          <a:lstStyle/>
          <a:p>
            <a:endParaRPr/>
          </a:p>
        </p:txBody>
      </p:sp>
      <p:sp>
        <p:nvSpPr>
          <p:cNvPr id="48" name="title-generation-flow-node-3-title">
            <a:extLst>
              <a:ext uri="{FF2B5EF4-FFF2-40B4-BE49-F238E27FC236}">
                <a16:creationId xmlns:a16="http://schemas.microsoft.com/office/drawing/2014/main" id="{60B63929-4386-40DC-BD96-165BB8208992}"/>
              </a:ext>
            </a:extLst>
          </p:cNvPr>
          <p:cNvSpPr>
            <a:spLocks noGrp="1"/>
          </p:cNvSpPr>
          <p:nvPr/>
        </p:nvSpPr>
        <p:spPr>
          <a:xfrm>
            <a:off x="7943850" y="6000750"/>
            <a:ext cx="2381250" cy="247650"/>
          </a:xfrm>
          <a:prstGeom prst="rect">
            <a:avLst/>
          </a:prstGeom>
        </p:spPr>
        <p:txBody>
          <a:bodyPr lIns="0" tIns="0" rIns="0" bIns="0"/>
          <a:lstStyle/>
          <a:p>
            <a:pPr>
              <a:buNone/>
              <a:defRPr sz="1538" b="1">
                <a:solidFill>
                  <a:srgbClr val="123D52"/>
                </a:solidFill>
              </a:defRPr>
            </a:pPr>
            <a:r>
              <a:rPr sz="1538" b="1">
                <a:solidFill>
                  <a:srgbClr val="123D52"/>
                </a:solidFill>
              </a:rPr>
              <a:t>Pseudo title pairs</a:t>
            </a:r>
          </a:p>
        </p:txBody>
      </p:sp>
      <p:sp>
        <p:nvSpPr>
          <p:cNvPr id="49" name="title-generation-flow-node-3-subtitle">
            <a:extLst>
              <a:ext uri="{FF2B5EF4-FFF2-40B4-BE49-F238E27FC236}">
                <a16:creationId xmlns:a16="http://schemas.microsoft.com/office/drawing/2014/main" id="{FE4814C3-388E-47E9-95B5-36816E09F9BE}"/>
              </a:ext>
            </a:extLst>
          </p:cNvPr>
          <p:cNvSpPr>
            <a:spLocks noGrp="1"/>
          </p:cNvSpPr>
          <p:nvPr/>
        </p:nvSpPr>
        <p:spPr>
          <a:xfrm>
            <a:off x="7943850" y="6305550"/>
            <a:ext cx="2381250" cy="190500"/>
          </a:xfrm>
          <a:prstGeom prst="rect">
            <a:avLst/>
          </a:prstGeom>
        </p:spPr>
        <p:txBody>
          <a:bodyPr lIns="0" tIns="0" rIns="0" bIns="0"/>
          <a:lstStyle/>
          <a:p>
            <a:pPr>
              <a:buNone/>
              <a:defRPr sz="1177">
                <a:solidFill>
                  <a:srgbClr val="5B6975"/>
                </a:solidFill>
              </a:defRPr>
            </a:pPr>
            <a:r>
              <a:rPr sz="1177">
                <a:solidFill>
                  <a:srgbClr val="5B6975"/>
                </a:solidFill>
              </a:rPr>
              <a:t>training signal</a:t>
            </a:r>
          </a:p>
        </p:txBody>
      </p:sp>
      <p:sp>
        <p:nvSpPr>
          <p:cNvPr id="50" name="title-generation-flow-arrow-3">
            <a:extLst>
              <a:ext uri="{FF2B5EF4-FFF2-40B4-BE49-F238E27FC236}">
                <a16:creationId xmlns:a16="http://schemas.microsoft.com/office/drawing/2014/main" id="{59598484-90D8-4518-8D9F-547A5D278750}"/>
              </a:ext>
            </a:extLst>
          </p:cNvPr>
          <p:cNvSpPr>
            <a:spLocks noGrp="1"/>
          </p:cNvSpPr>
          <p:nvPr/>
        </p:nvSpPr>
        <p:spPr>
          <a:xfrm>
            <a:off x="10591800" y="6076950"/>
            <a:ext cx="361950" cy="304800"/>
          </a:xfrm>
          <a:prstGeom prst="rect">
            <a:avLst/>
          </a:prstGeom>
        </p:spPr>
        <p:txBody>
          <a:bodyPr lIns="0" tIns="0" rIns="0" bIns="0"/>
          <a:lstStyle/>
          <a:p>
            <a:pPr>
              <a:buNone/>
              <a:defRPr sz="2025" b="1">
                <a:solidFill>
                  <a:srgbClr val="A9B8B0"/>
                </a:solidFill>
              </a:defRPr>
            </a:pPr>
            <a:r>
              <a:rPr sz="2025" b="1">
                <a:solidFill>
                  <a:srgbClr val="A9B8B0"/>
                </a:solidFill>
              </a:rPr>
              <a:t>-&gt;</a:t>
            </a:r>
          </a:p>
        </p:txBody>
      </p:sp>
      <p:sp>
        <p:nvSpPr>
          <p:cNvPr id="51" name="title-generation-flow-node-4">
            <a:extLst>
              <a:ext uri="{FF2B5EF4-FFF2-40B4-BE49-F238E27FC236}">
                <a16:creationId xmlns:a16="http://schemas.microsoft.com/office/drawing/2014/main" id="{B8FB1ECE-F9BE-4928-A725-F4691C9DF1C8}"/>
              </a:ext>
            </a:extLst>
          </p:cNvPr>
          <p:cNvSpPr>
            <a:spLocks noGrp="1"/>
          </p:cNvSpPr>
          <p:nvPr/>
        </p:nvSpPr>
        <p:spPr>
          <a:xfrm>
            <a:off x="11052810" y="5581650"/>
            <a:ext cx="2712720" cy="1314450"/>
          </a:xfrm>
          <a:prstGeom prst="roundRect">
            <a:avLst>
              <a:gd name="adj" fmla="val 2899"/>
            </a:avLst>
          </a:prstGeom>
          <a:solidFill>
            <a:srgbClr val="E4F1DC"/>
          </a:solidFill>
          <a:ln w="20955">
            <a:solidFill>
              <a:srgbClr val="9BBE8B"/>
            </a:solidFill>
            <a:prstDash val="solid"/>
          </a:ln>
        </p:spPr>
        <p:txBody>
          <a:bodyPr/>
          <a:lstStyle/>
          <a:p>
            <a:endParaRPr/>
          </a:p>
        </p:txBody>
      </p:sp>
      <p:sp>
        <p:nvSpPr>
          <p:cNvPr id="52" name="title-generation-flow-node-4-title">
            <a:extLst>
              <a:ext uri="{FF2B5EF4-FFF2-40B4-BE49-F238E27FC236}">
                <a16:creationId xmlns:a16="http://schemas.microsoft.com/office/drawing/2014/main" id="{E087DC9A-211E-48B2-BCDB-CD731E48F8E1}"/>
              </a:ext>
            </a:extLst>
          </p:cNvPr>
          <p:cNvSpPr>
            <a:spLocks noGrp="1"/>
          </p:cNvSpPr>
          <p:nvPr/>
        </p:nvSpPr>
        <p:spPr>
          <a:xfrm>
            <a:off x="11220450" y="5962650"/>
            <a:ext cx="2381250" cy="285750"/>
          </a:xfrm>
          <a:prstGeom prst="rect">
            <a:avLst/>
          </a:prstGeom>
        </p:spPr>
        <p:txBody>
          <a:bodyPr lIns="0" tIns="0" rIns="0" bIns="0"/>
          <a:lstStyle/>
          <a:p>
            <a:pPr>
              <a:buNone/>
              <a:defRPr sz="1875" b="1">
                <a:solidFill>
                  <a:srgbClr val="123D52"/>
                </a:solidFill>
              </a:defRPr>
            </a:pPr>
            <a:r>
              <a:rPr sz="1875" b="1">
                <a:solidFill>
                  <a:srgbClr val="123D52"/>
                </a:solidFill>
              </a:rPr>
              <a:t>Flan-T5 student</a:t>
            </a:r>
          </a:p>
        </p:txBody>
      </p:sp>
      <p:sp>
        <p:nvSpPr>
          <p:cNvPr id="53" name="title-generation-flow-node-4-subtitle">
            <a:extLst>
              <a:ext uri="{FF2B5EF4-FFF2-40B4-BE49-F238E27FC236}">
                <a16:creationId xmlns:a16="http://schemas.microsoft.com/office/drawing/2014/main" id="{E8252550-3D96-4035-B587-C0900A2CAC23}"/>
              </a:ext>
            </a:extLst>
          </p:cNvPr>
          <p:cNvSpPr>
            <a:spLocks noGrp="1"/>
          </p:cNvSpPr>
          <p:nvPr/>
        </p:nvSpPr>
        <p:spPr>
          <a:xfrm>
            <a:off x="11220450" y="6324600"/>
            <a:ext cx="2381250" cy="190500"/>
          </a:xfrm>
          <a:prstGeom prst="rect">
            <a:avLst/>
          </a:prstGeom>
        </p:spPr>
        <p:txBody>
          <a:bodyPr lIns="0" tIns="0" rIns="0" bIns="0"/>
          <a:lstStyle/>
          <a:p>
            <a:pPr>
              <a:buNone/>
              <a:defRPr sz="1177">
                <a:solidFill>
                  <a:srgbClr val="5B6975"/>
                </a:solidFill>
              </a:defRPr>
            </a:pPr>
            <a:r>
              <a:rPr sz="1177">
                <a:solidFill>
                  <a:srgbClr val="5B6975"/>
                </a:solidFill>
              </a:rPr>
              <a:t>learns title style</a:t>
            </a:r>
          </a:p>
        </p:txBody>
      </p:sp>
      <p:sp>
        <p:nvSpPr>
          <p:cNvPr id="54" name="title-generation-flow-arrow-4">
            <a:extLst>
              <a:ext uri="{FF2B5EF4-FFF2-40B4-BE49-F238E27FC236}">
                <a16:creationId xmlns:a16="http://schemas.microsoft.com/office/drawing/2014/main" id="{0C576F1B-2AF4-4F79-B4CF-E5D1A881BDA3}"/>
              </a:ext>
            </a:extLst>
          </p:cNvPr>
          <p:cNvSpPr>
            <a:spLocks noGrp="1"/>
          </p:cNvSpPr>
          <p:nvPr/>
        </p:nvSpPr>
        <p:spPr>
          <a:xfrm>
            <a:off x="13868400" y="6076950"/>
            <a:ext cx="361950" cy="304800"/>
          </a:xfrm>
          <a:prstGeom prst="rect">
            <a:avLst/>
          </a:prstGeom>
        </p:spPr>
        <p:txBody>
          <a:bodyPr lIns="0" tIns="0" rIns="0" bIns="0"/>
          <a:lstStyle/>
          <a:p>
            <a:pPr>
              <a:buNone/>
              <a:defRPr sz="2025" b="1">
                <a:solidFill>
                  <a:srgbClr val="A9B8B0"/>
                </a:solidFill>
              </a:defRPr>
            </a:pPr>
            <a:r>
              <a:rPr sz="2025" b="1">
                <a:solidFill>
                  <a:srgbClr val="A9B8B0"/>
                </a:solidFill>
              </a:rPr>
              <a:t>-&gt;</a:t>
            </a:r>
          </a:p>
        </p:txBody>
      </p:sp>
      <p:sp>
        <p:nvSpPr>
          <p:cNvPr id="55" name="title-generation-flow-node-5">
            <a:extLst>
              <a:ext uri="{FF2B5EF4-FFF2-40B4-BE49-F238E27FC236}">
                <a16:creationId xmlns:a16="http://schemas.microsoft.com/office/drawing/2014/main" id="{57626987-ED9B-4789-A6FE-0CE480A6A960}"/>
              </a:ext>
            </a:extLst>
          </p:cNvPr>
          <p:cNvSpPr>
            <a:spLocks noGrp="1"/>
          </p:cNvSpPr>
          <p:nvPr/>
        </p:nvSpPr>
        <p:spPr>
          <a:xfrm>
            <a:off x="14317980" y="5581650"/>
            <a:ext cx="2712720" cy="1314450"/>
          </a:xfrm>
          <a:prstGeom prst="roundRect">
            <a:avLst>
              <a:gd name="adj" fmla="val 2899"/>
            </a:avLst>
          </a:prstGeom>
          <a:solidFill>
            <a:srgbClr val="FBE8D2"/>
          </a:solidFill>
          <a:ln w="10478">
            <a:solidFill>
              <a:srgbClr val="D5A065"/>
            </a:solidFill>
            <a:prstDash val="solid"/>
          </a:ln>
        </p:spPr>
        <p:txBody>
          <a:bodyPr/>
          <a:lstStyle/>
          <a:p>
            <a:endParaRPr/>
          </a:p>
        </p:txBody>
      </p:sp>
      <p:sp>
        <p:nvSpPr>
          <p:cNvPr id="56" name="title-generation-flow-node-5-title">
            <a:extLst>
              <a:ext uri="{FF2B5EF4-FFF2-40B4-BE49-F238E27FC236}">
                <a16:creationId xmlns:a16="http://schemas.microsoft.com/office/drawing/2014/main" id="{B947378B-5A75-4E74-9023-3E0694BFD03F}"/>
              </a:ext>
            </a:extLst>
          </p:cNvPr>
          <p:cNvSpPr>
            <a:spLocks noGrp="1"/>
          </p:cNvSpPr>
          <p:nvPr/>
        </p:nvSpPr>
        <p:spPr>
          <a:xfrm>
            <a:off x="14478000" y="6000750"/>
            <a:ext cx="2381250" cy="247650"/>
          </a:xfrm>
          <a:prstGeom prst="rect">
            <a:avLst/>
          </a:prstGeom>
        </p:spPr>
        <p:txBody>
          <a:bodyPr lIns="0" tIns="0" rIns="0" bIns="0"/>
          <a:lstStyle/>
          <a:p>
            <a:pPr>
              <a:buNone/>
              <a:defRPr sz="1538" b="1">
                <a:solidFill>
                  <a:srgbClr val="123D52"/>
                </a:solidFill>
              </a:defRPr>
            </a:pPr>
            <a:r>
              <a:rPr sz="1538" b="1">
                <a:solidFill>
                  <a:srgbClr val="123D52"/>
                </a:solidFill>
              </a:rPr>
              <a:t>Complaint title</a:t>
            </a:r>
          </a:p>
        </p:txBody>
      </p:sp>
      <p:sp>
        <p:nvSpPr>
          <p:cNvPr id="57" name="title-generation-flow-node-5-subtitle">
            <a:extLst>
              <a:ext uri="{FF2B5EF4-FFF2-40B4-BE49-F238E27FC236}">
                <a16:creationId xmlns:a16="http://schemas.microsoft.com/office/drawing/2014/main" id="{A387E77D-A647-42AF-AA2D-3D7BECA35B8E}"/>
              </a:ext>
            </a:extLst>
          </p:cNvPr>
          <p:cNvSpPr>
            <a:spLocks noGrp="1"/>
          </p:cNvSpPr>
          <p:nvPr/>
        </p:nvSpPr>
        <p:spPr>
          <a:xfrm>
            <a:off x="14478000" y="6305550"/>
            <a:ext cx="2381250" cy="190500"/>
          </a:xfrm>
          <a:prstGeom prst="rect">
            <a:avLst/>
          </a:prstGeom>
        </p:spPr>
        <p:txBody>
          <a:bodyPr lIns="0" tIns="0" rIns="0" bIns="0"/>
          <a:lstStyle/>
          <a:p>
            <a:pPr>
              <a:buNone/>
              <a:defRPr sz="1177">
                <a:solidFill>
                  <a:srgbClr val="5B6975"/>
                </a:solidFill>
              </a:defRPr>
            </a:pPr>
            <a:r>
              <a:rPr sz="1177">
                <a:solidFill>
                  <a:srgbClr val="5B6975"/>
                </a:solidFill>
              </a:rPr>
              <a:t>local short issue label</a:t>
            </a:r>
          </a:p>
        </p:txBody>
      </p:sp>
      <p:sp>
        <p:nvSpPr>
          <p:cNvPr id="58" name="title-generation-example">
            <a:extLst>
              <a:ext uri="{FF2B5EF4-FFF2-40B4-BE49-F238E27FC236}">
                <a16:creationId xmlns:a16="http://schemas.microsoft.com/office/drawing/2014/main" id="{F820D5F1-D179-4696-909D-B4AFE2361EC1}"/>
              </a:ext>
            </a:extLst>
          </p:cNvPr>
          <p:cNvSpPr>
            <a:spLocks noGrp="1"/>
          </p:cNvSpPr>
          <p:nvPr/>
        </p:nvSpPr>
        <p:spPr>
          <a:xfrm>
            <a:off x="990600" y="7162800"/>
            <a:ext cx="16306800" cy="685800"/>
          </a:xfrm>
          <a:prstGeom prst="roundRect">
            <a:avLst>
              <a:gd name="adj" fmla="val 5556"/>
            </a:avLst>
          </a:prstGeom>
          <a:solidFill>
            <a:srgbClr val="FFF8ED"/>
          </a:solidFill>
          <a:ln w="9525">
            <a:solidFill>
              <a:srgbClr val="D5A065"/>
            </a:solidFill>
            <a:prstDash val="solid"/>
          </a:ln>
        </p:spPr>
        <p:txBody>
          <a:bodyPr/>
          <a:lstStyle/>
          <a:p>
            <a:endParaRPr/>
          </a:p>
        </p:txBody>
      </p:sp>
      <p:sp>
        <p:nvSpPr>
          <p:cNvPr id="59" name="title-generation-example-label">
            <a:extLst>
              <a:ext uri="{FF2B5EF4-FFF2-40B4-BE49-F238E27FC236}">
                <a16:creationId xmlns:a16="http://schemas.microsoft.com/office/drawing/2014/main" id="{2DC27CD2-E9BB-47ED-A9D0-86E714C8CBA3}"/>
              </a:ext>
            </a:extLst>
          </p:cNvPr>
          <p:cNvSpPr>
            <a:spLocks noGrp="1"/>
          </p:cNvSpPr>
          <p:nvPr/>
        </p:nvSpPr>
        <p:spPr>
          <a:xfrm>
            <a:off x="1181100" y="7391400"/>
            <a:ext cx="1123950" cy="228600"/>
          </a:xfrm>
          <a:prstGeom prst="rect">
            <a:avLst/>
          </a:prstGeom>
        </p:spPr>
        <p:txBody>
          <a:bodyPr lIns="0" tIns="0" rIns="0" bIns="0"/>
          <a:lstStyle/>
          <a:p>
            <a:pPr>
              <a:buNone/>
              <a:defRPr sz="1388" b="1">
                <a:solidFill>
                  <a:srgbClr val="0E5A75"/>
                </a:solidFill>
              </a:defRPr>
            </a:pPr>
            <a:r>
              <a:rPr sz="1388" b="1">
                <a:solidFill>
                  <a:srgbClr val="0E5A75"/>
                </a:solidFill>
              </a:rPr>
              <a:t>Example</a:t>
            </a:r>
          </a:p>
        </p:txBody>
      </p:sp>
      <p:sp>
        <p:nvSpPr>
          <p:cNvPr id="60" name="title-generation-example-text">
            <a:extLst>
              <a:ext uri="{FF2B5EF4-FFF2-40B4-BE49-F238E27FC236}">
                <a16:creationId xmlns:a16="http://schemas.microsoft.com/office/drawing/2014/main" id="{895EC9CA-7A95-4C02-AEF5-EE1891FF4C97}"/>
              </a:ext>
            </a:extLst>
          </p:cNvPr>
          <p:cNvSpPr>
            <a:spLocks noGrp="1"/>
          </p:cNvSpPr>
          <p:nvPr/>
        </p:nvSpPr>
        <p:spPr>
          <a:xfrm>
            <a:off x="2457450" y="7410450"/>
            <a:ext cx="14649450" cy="190500"/>
          </a:xfrm>
          <a:prstGeom prst="rect">
            <a:avLst/>
          </a:prstGeom>
        </p:spPr>
        <p:txBody>
          <a:bodyPr lIns="0" tIns="0" rIns="0" bIns="0"/>
          <a:lstStyle/>
          <a:p>
            <a:pPr>
              <a:buNone/>
              <a:defRPr sz="1252">
                <a:solidFill>
                  <a:srgbClr val="243746"/>
                </a:solidFill>
              </a:defRPr>
            </a:pPr>
            <a:r>
              <a:rPr sz="1252">
                <a:solidFill>
                  <a:srgbClr val="243746"/>
                </a:solidFill>
              </a:rPr>
              <a:t>Long review about confusing Miele instructions -&gt; "Incorrect instructions for Miele appliances"</a:t>
            </a:r>
          </a:p>
        </p:txBody>
      </p:sp>
      <p:sp>
        <p:nvSpPr>
          <p:cNvPr id="61" name="title-generation-role">
            <a:extLst>
              <a:ext uri="{FF2B5EF4-FFF2-40B4-BE49-F238E27FC236}">
                <a16:creationId xmlns:a16="http://schemas.microsoft.com/office/drawing/2014/main" id="{374CD153-093D-4471-8B86-C5CD84D47585}"/>
              </a:ext>
            </a:extLst>
          </p:cNvPr>
          <p:cNvSpPr>
            <a:spLocks noGrp="1"/>
          </p:cNvSpPr>
          <p:nvPr/>
        </p:nvSpPr>
        <p:spPr>
          <a:xfrm>
            <a:off x="990600" y="8020050"/>
            <a:ext cx="7325591" cy="781050"/>
          </a:xfrm>
          <a:prstGeom prst="roundRect">
            <a:avLst>
              <a:gd name="adj" fmla="val 4878"/>
            </a:avLst>
          </a:prstGeom>
          <a:solidFill>
            <a:srgbClr val="FFFFFF"/>
          </a:solidFill>
          <a:ln w="8573">
            <a:solidFill>
              <a:srgbClr val="A9B8B0"/>
            </a:solidFill>
            <a:prstDash val="solid"/>
          </a:ln>
        </p:spPr>
        <p:txBody>
          <a:bodyPr/>
          <a:lstStyle/>
          <a:p>
            <a:endParaRPr/>
          </a:p>
        </p:txBody>
      </p:sp>
      <p:sp>
        <p:nvSpPr>
          <p:cNvPr id="62" name="title-generation-role-title">
            <a:extLst>
              <a:ext uri="{FF2B5EF4-FFF2-40B4-BE49-F238E27FC236}">
                <a16:creationId xmlns:a16="http://schemas.microsoft.com/office/drawing/2014/main" id="{05C70674-F604-4E20-BF3A-9C2DC0744173}"/>
              </a:ext>
            </a:extLst>
          </p:cNvPr>
          <p:cNvSpPr>
            <a:spLocks noGrp="1"/>
          </p:cNvSpPr>
          <p:nvPr/>
        </p:nvSpPr>
        <p:spPr>
          <a:xfrm>
            <a:off x="1162050" y="8305800"/>
            <a:ext cx="1066800" cy="228600"/>
          </a:xfrm>
          <a:prstGeom prst="rect">
            <a:avLst/>
          </a:prstGeom>
        </p:spPr>
        <p:txBody>
          <a:bodyPr lIns="0" tIns="0" rIns="0" bIns="0"/>
          <a:lstStyle/>
          <a:p>
            <a:pPr>
              <a:buNone/>
              <a:defRPr sz="1388" b="1">
                <a:solidFill>
                  <a:srgbClr val="0E5A75"/>
                </a:solidFill>
              </a:defRPr>
            </a:pPr>
            <a:r>
              <a:rPr sz="1388" b="1">
                <a:solidFill>
                  <a:srgbClr val="0E5A75"/>
                </a:solidFill>
              </a:rPr>
              <a:t>Role</a:t>
            </a:r>
          </a:p>
        </p:txBody>
      </p:sp>
      <p:sp>
        <p:nvSpPr>
          <p:cNvPr id="63" name="title-generation-role-detail">
            <a:extLst>
              <a:ext uri="{FF2B5EF4-FFF2-40B4-BE49-F238E27FC236}">
                <a16:creationId xmlns:a16="http://schemas.microsoft.com/office/drawing/2014/main" id="{140860F2-D04A-4099-AAD6-ED4CC4D7ECF5}"/>
              </a:ext>
            </a:extLst>
          </p:cNvPr>
          <p:cNvSpPr>
            <a:spLocks noGrp="1"/>
          </p:cNvSpPr>
          <p:nvPr/>
        </p:nvSpPr>
        <p:spPr>
          <a:xfrm>
            <a:off x="2381250" y="8324850"/>
            <a:ext cx="5772150" cy="190500"/>
          </a:xfrm>
          <a:prstGeom prst="rect">
            <a:avLst/>
          </a:prstGeom>
        </p:spPr>
        <p:txBody>
          <a:bodyPr lIns="0" tIns="0" rIns="0" bIns="0"/>
          <a:lstStyle/>
          <a:p>
            <a:pPr>
              <a:buNone/>
              <a:defRPr sz="1238">
                <a:solidFill>
                  <a:srgbClr val="5B6975"/>
                </a:solidFill>
              </a:defRPr>
            </a:pPr>
            <a:r>
              <a:rPr sz="1238">
                <a:solidFill>
                  <a:srgbClr val="5B6975"/>
                </a:solidFill>
              </a:rPr>
              <a:t>Turns long negative reviews into scan-friendly issue labels.</a:t>
            </a:r>
          </a:p>
        </p:txBody>
      </p:sp>
      <p:sp>
        <p:nvSpPr>
          <p:cNvPr id="64" name="title-generation-limitation">
            <a:extLst>
              <a:ext uri="{FF2B5EF4-FFF2-40B4-BE49-F238E27FC236}">
                <a16:creationId xmlns:a16="http://schemas.microsoft.com/office/drawing/2014/main" id="{99D4ABE8-0C13-459A-A47E-745AE70948D5}"/>
              </a:ext>
            </a:extLst>
          </p:cNvPr>
          <p:cNvSpPr>
            <a:spLocks noGrp="1"/>
          </p:cNvSpPr>
          <p:nvPr/>
        </p:nvSpPr>
        <p:spPr>
          <a:xfrm>
            <a:off x="8506691" y="8020050"/>
            <a:ext cx="8790709" cy="781050"/>
          </a:xfrm>
          <a:prstGeom prst="roundRect">
            <a:avLst>
              <a:gd name="adj" fmla="val 4878"/>
            </a:avLst>
          </a:prstGeom>
          <a:solidFill>
            <a:srgbClr val="FFFFFF"/>
          </a:solidFill>
          <a:ln w="8573">
            <a:solidFill>
              <a:srgbClr val="A9B8B0"/>
            </a:solidFill>
            <a:prstDash val="solid"/>
          </a:ln>
        </p:spPr>
        <p:txBody>
          <a:bodyPr/>
          <a:lstStyle/>
          <a:p>
            <a:endParaRPr/>
          </a:p>
        </p:txBody>
      </p:sp>
      <p:sp>
        <p:nvSpPr>
          <p:cNvPr id="65" name="title-generation-limitation-title">
            <a:extLst>
              <a:ext uri="{FF2B5EF4-FFF2-40B4-BE49-F238E27FC236}">
                <a16:creationId xmlns:a16="http://schemas.microsoft.com/office/drawing/2014/main" id="{916A8957-B6A4-44A5-BDBB-C6A5A40EF46D}"/>
              </a:ext>
            </a:extLst>
          </p:cNvPr>
          <p:cNvSpPr>
            <a:spLocks noGrp="1"/>
          </p:cNvSpPr>
          <p:nvPr/>
        </p:nvSpPr>
        <p:spPr>
          <a:xfrm>
            <a:off x="8686800" y="8305800"/>
            <a:ext cx="1066800" cy="228600"/>
          </a:xfrm>
          <a:prstGeom prst="rect">
            <a:avLst/>
          </a:prstGeom>
        </p:spPr>
        <p:txBody>
          <a:bodyPr lIns="0" tIns="0" rIns="0" bIns="0"/>
          <a:lstStyle/>
          <a:p>
            <a:pPr>
              <a:buNone/>
              <a:defRPr sz="1388" b="1">
                <a:solidFill>
                  <a:srgbClr val="9A5C54"/>
                </a:solidFill>
              </a:defRPr>
            </a:pPr>
            <a:r>
              <a:rPr sz="1388" b="1">
                <a:solidFill>
                  <a:srgbClr val="9A5C54"/>
                </a:solidFill>
              </a:rPr>
              <a:t>Limitation</a:t>
            </a:r>
          </a:p>
        </p:txBody>
      </p:sp>
      <p:sp>
        <p:nvSpPr>
          <p:cNvPr id="66" name="title-generation-limitation-detail">
            <a:extLst>
              <a:ext uri="{FF2B5EF4-FFF2-40B4-BE49-F238E27FC236}">
                <a16:creationId xmlns:a16="http://schemas.microsoft.com/office/drawing/2014/main" id="{FAFD576F-812E-4835-97E0-D2B199BBF1D5}"/>
              </a:ext>
            </a:extLst>
          </p:cNvPr>
          <p:cNvSpPr>
            <a:spLocks noGrp="1"/>
          </p:cNvSpPr>
          <p:nvPr/>
        </p:nvSpPr>
        <p:spPr>
          <a:xfrm>
            <a:off x="9906000" y="8324850"/>
            <a:ext cx="7219950" cy="190500"/>
          </a:xfrm>
          <a:prstGeom prst="rect">
            <a:avLst/>
          </a:prstGeom>
        </p:spPr>
        <p:txBody>
          <a:bodyPr lIns="0" tIns="0" rIns="0" bIns="0"/>
          <a:lstStyle/>
          <a:p>
            <a:pPr>
              <a:buNone/>
              <a:defRPr sz="1238">
                <a:solidFill>
                  <a:srgbClr val="5B6975"/>
                </a:solidFill>
              </a:defRPr>
            </a:pPr>
            <a:r>
              <a:rPr sz="1238">
                <a:solidFill>
                  <a:srgbClr val="5B6975"/>
                </a:solidFill>
              </a:rPr>
              <a:t>Titles are learned from pseudo labels, not human-written summaries.</a:t>
            </a:r>
          </a:p>
        </p:txBody>
      </p:sp>
    </p:spTree>
    <p:extLst>
      <p:ext uri="{BB962C8B-B14F-4D97-AF65-F5344CB8AC3E}">
        <p14:creationId xmlns:p14="http://schemas.microsoft.com/office/powerpoint/2010/main" val="2967454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sults-title">
            <a:extLst>
              <a:ext uri="{FF2B5EF4-FFF2-40B4-BE49-F238E27FC236}">
                <a16:creationId xmlns:a16="http://schemas.microsoft.com/office/drawing/2014/main" id="{7C48D6FA-D159-427F-A55C-6FE6C2EF9110}"/>
              </a:ext>
            </a:extLst>
          </p:cNvPr>
          <p:cNvSpPr>
            <a:spLocks noGrp="1"/>
          </p:cNvSpPr>
          <p:nvPr/>
        </p:nvSpPr>
        <p:spPr>
          <a:xfrm>
            <a:off x="990600" y="685800"/>
            <a:ext cx="16306800" cy="514350"/>
          </a:xfrm>
          <a:prstGeom prst="rect">
            <a:avLst/>
          </a:prstGeom>
        </p:spPr>
        <p:txBody>
          <a:bodyPr lIns="0" tIns="0" rIns="0" bIns="0"/>
          <a:lstStyle/>
          <a:p>
            <a:pPr>
              <a:defRPr sz="3375" b="1">
                <a:solidFill>
                  <a:srgbClr val="0E5A75"/>
                </a:solidFill>
              </a:defRPr>
            </a:pPr>
            <a:r>
              <a:rPr sz="3375" b="1">
                <a:solidFill>
                  <a:srgbClr val="0E5A75"/>
                </a:solidFill>
              </a:rPr>
              <a:t>Results</a:t>
            </a:r>
          </a:p>
        </p:txBody>
      </p:sp>
      <p:sp>
        <p:nvSpPr>
          <p:cNvPr id="3" name="results-subtitle">
            <a:extLst>
              <a:ext uri="{FF2B5EF4-FFF2-40B4-BE49-F238E27FC236}">
                <a16:creationId xmlns:a16="http://schemas.microsoft.com/office/drawing/2014/main" id="{EF66051C-8A5F-4618-9853-3ADBC13A949B}"/>
              </a:ext>
            </a:extLst>
          </p:cNvPr>
          <p:cNvSpPr>
            <a:spLocks noGrp="1"/>
          </p:cNvSpPr>
          <p:nvPr/>
        </p:nvSpPr>
        <p:spPr>
          <a:xfrm>
            <a:off x="990600" y="1614678"/>
            <a:ext cx="16306800" cy="419100"/>
          </a:xfrm>
          <a:prstGeom prst="rect">
            <a:avLst/>
          </a:prstGeom>
        </p:spPr>
        <p:txBody>
          <a:bodyPr lIns="0" tIns="0" rIns="0" bIns="0"/>
          <a:lstStyle/>
          <a:p>
            <a:pPr>
              <a:defRPr sz="1365" b="0">
                <a:solidFill>
                  <a:srgbClr val="5B6975"/>
                </a:solidFill>
              </a:defRPr>
            </a:pPr>
            <a:r>
              <a:rPr lang="en-US" sz="1600" dirty="0">
                <a:solidFill>
                  <a:srgbClr val="5B6975"/>
                </a:solidFill>
              </a:rPr>
              <a:t>Results are reported on held-out test splits and should be interpreted together with their label sources.</a:t>
            </a:r>
            <a:endParaRPr sz="1600" b="0" dirty="0">
              <a:solidFill>
                <a:srgbClr val="5B6975"/>
              </a:solidFill>
            </a:endParaRPr>
          </a:p>
        </p:txBody>
      </p:sp>
      <p:sp>
        <p:nvSpPr>
          <p:cNvPr id="4" name="readme-results-header-1">
            <a:extLst>
              <a:ext uri="{FF2B5EF4-FFF2-40B4-BE49-F238E27FC236}">
                <a16:creationId xmlns:a16="http://schemas.microsoft.com/office/drawing/2014/main" id="{9D1406AC-E54F-408D-9770-9E6F36083388}"/>
              </a:ext>
            </a:extLst>
          </p:cNvPr>
          <p:cNvSpPr>
            <a:spLocks noGrp="1"/>
          </p:cNvSpPr>
          <p:nvPr/>
        </p:nvSpPr>
        <p:spPr>
          <a:xfrm>
            <a:off x="990600" y="2347722"/>
            <a:ext cx="3714750" cy="552450"/>
          </a:xfrm>
          <a:prstGeom prst="rect">
            <a:avLst/>
          </a:prstGeom>
          <a:solidFill>
            <a:srgbClr val="F7FAFC"/>
          </a:solidFill>
          <a:ln w="7620">
            <a:solidFill>
              <a:srgbClr val="D7E0E5"/>
            </a:solidFill>
            <a:prstDash val="solid"/>
          </a:ln>
        </p:spPr>
        <p:txBody>
          <a:bodyPr/>
          <a:lstStyle/>
          <a:p>
            <a:endParaRPr lang="zh-CN" altLang="en-US"/>
          </a:p>
        </p:txBody>
      </p:sp>
      <p:sp>
        <p:nvSpPr>
          <p:cNvPr id="5" name="readme-results-header-1-text">
            <a:extLst>
              <a:ext uri="{FF2B5EF4-FFF2-40B4-BE49-F238E27FC236}">
                <a16:creationId xmlns:a16="http://schemas.microsoft.com/office/drawing/2014/main" id="{BADF5C88-B719-449E-8940-D544A3186213}"/>
              </a:ext>
            </a:extLst>
          </p:cNvPr>
          <p:cNvSpPr>
            <a:spLocks noGrp="1"/>
          </p:cNvSpPr>
          <p:nvPr/>
        </p:nvSpPr>
        <p:spPr>
          <a:xfrm>
            <a:off x="1162050" y="2495550"/>
            <a:ext cx="3371850" cy="209550"/>
          </a:xfrm>
          <a:prstGeom prst="rect">
            <a:avLst/>
          </a:prstGeom>
        </p:spPr>
        <p:txBody>
          <a:bodyPr lIns="0" tIns="0" rIns="0" bIns="0"/>
          <a:lstStyle/>
          <a:p>
            <a:pPr>
              <a:defRPr sz="1350" b="1">
                <a:solidFill>
                  <a:srgbClr val="123D52"/>
                </a:solidFill>
              </a:defRPr>
            </a:pPr>
            <a:r>
              <a:rPr sz="1600" b="1" dirty="0">
                <a:solidFill>
                  <a:srgbClr val="123D52"/>
                </a:solidFill>
              </a:rPr>
              <a:t>Task</a:t>
            </a:r>
          </a:p>
        </p:txBody>
      </p:sp>
      <p:sp>
        <p:nvSpPr>
          <p:cNvPr id="6" name="readme-results-header-2">
            <a:extLst>
              <a:ext uri="{FF2B5EF4-FFF2-40B4-BE49-F238E27FC236}">
                <a16:creationId xmlns:a16="http://schemas.microsoft.com/office/drawing/2014/main" id="{78C77707-1810-41EA-B26E-A7C098EDFF71}"/>
              </a:ext>
            </a:extLst>
          </p:cNvPr>
          <p:cNvSpPr>
            <a:spLocks noGrp="1"/>
          </p:cNvSpPr>
          <p:nvPr/>
        </p:nvSpPr>
        <p:spPr>
          <a:xfrm>
            <a:off x="4705350" y="2347722"/>
            <a:ext cx="7090669" cy="552450"/>
          </a:xfrm>
          <a:prstGeom prst="rect">
            <a:avLst/>
          </a:prstGeom>
          <a:solidFill>
            <a:srgbClr val="F7FAFC"/>
          </a:solidFill>
          <a:ln w="7620">
            <a:solidFill>
              <a:srgbClr val="D7E0E5"/>
            </a:solidFill>
            <a:prstDash val="solid"/>
          </a:ln>
        </p:spPr>
        <p:txBody>
          <a:bodyPr/>
          <a:lstStyle/>
          <a:p>
            <a:endParaRPr lang="zh-CN" altLang="en-US"/>
          </a:p>
        </p:txBody>
      </p:sp>
      <p:sp>
        <p:nvSpPr>
          <p:cNvPr id="7" name="readme-results-header-2-text">
            <a:extLst>
              <a:ext uri="{FF2B5EF4-FFF2-40B4-BE49-F238E27FC236}">
                <a16:creationId xmlns:a16="http://schemas.microsoft.com/office/drawing/2014/main" id="{7F2B9E6B-19F0-4D6A-806D-20A24DE46EB9}"/>
              </a:ext>
            </a:extLst>
          </p:cNvPr>
          <p:cNvSpPr>
            <a:spLocks noGrp="1"/>
          </p:cNvSpPr>
          <p:nvPr/>
        </p:nvSpPr>
        <p:spPr>
          <a:xfrm>
            <a:off x="4876800" y="2495550"/>
            <a:ext cx="6743700" cy="209550"/>
          </a:xfrm>
          <a:prstGeom prst="rect">
            <a:avLst/>
          </a:prstGeom>
        </p:spPr>
        <p:txBody>
          <a:bodyPr lIns="0" tIns="0" rIns="0" bIns="0"/>
          <a:lstStyle/>
          <a:p>
            <a:pPr>
              <a:defRPr sz="1350" b="1">
                <a:solidFill>
                  <a:srgbClr val="123D52"/>
                </a:solidFill>
              </a:defRPr>
            </a:pPr>
            <a:r>
              <a:rPr sz="1600" b="1">
                <a:solidFill>
                  <a:srgbClr val="123D52"/>
                </a:solidFill>
              </a:rPr>
              <a:t>Test Result</a:t>
            </a:r>
          </a:p>
        </p:txBody>
      </p:sp>
      <p:sp>
        <p:nvSpPr>
          <p:cNvPr id="8" name="readme-results-header-3">
            <a:extLst>
              <a:ext uri="{FF2B5EF4-FFF2-40B4-BE49-F238E27FC236}">
                <a16:creationId xmlns:a16="http://schemas.microsoft.com/office/drawing/2014/main" id="{D8D2B15E-B442-4B3C-8693-53C7291A2E28}"/>
              </a:ext>
            </a:extLst>
          </p:cNvPr>
          <p:cNvSpPr>
            <a:spLocks noGrp="1"/>
          </p:cNvSpPr>
          <p:nvPr/>
        </p:nvSpPr>
        <p:spPr>
          <a:xfrm>
            <a:off x="11796019" y="2347722"/>
            <a:ext cx="5501381" cy="552450"/>
          </a:xfrm>
          <a:prstGeom prst="rect">
            <a:avLst/>
          </a:prstGeom>
          <a:solidFill>
            <a:srgbClr val="F7FAFC"/>
          </a:solidFill>
          <a:ln w="7620">
            <a:solidFill>
              <a:srgbClr val="D7E0E5"/>
            </a:solidFill>
            <a:prstDash val="solid"/>
          </a:ln>
        </p:spPr>
        <p:txBody>
          <a:bodyPr/>
          <a:lstStyle/>
          <a:p>
            <a:endParaRPr lang="zh-CN" altLang="en-US"/>
          </a:p>
        </p:txBody>
      </p:sp>
      <p:sp>
        <p:nvSpPr>
          <p:cNvPr id="9" name="readme-results-header-3-text">
            <a:extLst>
              <a:ext uri="{FF2B5EF4-FFF2-40B4-BE49-F238E27FC236}">
                <a16:creationId xmlns:a16="http://schemas.microsoft.com/office/drawing/2014/main" id="{4122A4FA-6F0B-4C8D-B8AD-CC0303BC0B21}"/>
              </a:ext>
            </a:extLst>
          </p:cNvPr>
          <p:cNvSpPr>
            <a:spLocks noGrp="1"/>
          </p:cNvSpPr>
          <p:nvPr/>
        </p:nvSpPr>
        <p:spPr>
          <a:xfrm>
            <a:off x="11963400" y="2495550"/>
            <a:ext cx="5162550" cy="209550"/>
          </a:xfrm>
          <a:prstGeom prst="rect">
            <a:avLst/>
          </a:prstGeom>
        </p:spPr>
        <p:txBody>
          <a:bodyPr lIns="0" tIns="0" rIns="0" bIns="0"/>
          <a:lstStyle/>
          <a:p>
            <a:pPr>
              <a:defRPr sz="1350" b="1">
                <a:solidFill>
                  <a:srgbClr val="123D52"/>
                </a:solidFill>
              </a:defRPr>
            </a:pPr>
            <a:r>
              <a:rPr sz="1600" b="1">
                <a:solidFill>
                  <a:srgbClr val="123D52"/>
                </a:solidFill>
              </a:rPr>
              <a:t>Notes</a:t>
            </a:r>
          </a:p>
        </p:txBody>
      </p:sp>
      <p:sp>
        <p:nvSpPr>
          <p:cNvPr id="10" name="readme-results-cell-1-1">
            <a:extLst>
              <a:ext uri="{FF2B5EF4-FFF2-40B4-BE49-F238E27FC236}">
                <a16:creationId xmlns:a16="http://schemas.microsoft.com/office/drawing/2014/main" id="{708608B2-7483-47F0-AA1C-8E0EEB64C84E}"/>
              </a:ext>
            </a:extLst>
          </p:cNvPr>
          <p:cNvSpPr>
            <a:spLocks noGrp="1"/>
          </p:cNvSpPr>
          <p:nvPr/>
        </p:nvSpPr>
        <p:spPr>
          <a:xfrm>
            <a:off x="990600" y="2900172"/>
            <a:ext cx="3714750" cy="952500"/>
          </a:xfrm>
          <a:prstGeom prst="rect">
            <a:avLst/>
          </a:prstGeom>
          <a:solidFill>
            <a:srgbClr val="FFFFFF"/>
          </a:solidFill>
          <a:ln w="7620">
            <a:solidFill>
              <a:srgbClr val="D7E0E5"/>
            </a:solidFill>
            <a:prstDash val="solid"/>
          </a:ln>
        </p:spPr>
        <p:txBody>
          <a:bodyPr/>
          <a:lstStyle/>
          <a:p>
            <a:endParaRPr lang="zh-CN" altLang="en-US"/>
          </a:p>
        </p:txBody>
      </p:sp>
      <p:sp>
        <p:nvSpPr>
          <p:cNvPr id="11" name="readme-results-cell-1-1-text">
            <a:extLst>
              <a:ext uri="{FF2B5EF4-FFF2-40B4-BE49-F238E27FC236}">
                <a16:creationId xmlns:a16="http://schemas.microsoft.com/office/drawing/2014/main" id="{1613FBD6-D7D0-48BA-86EE-6649A753E3A1}"/>
              </a:ext>
            </a:extLst>
          </p:cNvPr>
          <p:cNvSpPr>
            <a:spLocks noGrp="1"/>
          </p:cNvSpPr>
          <p:nvPr/>
        </p:nvSpPr>
        <p:spPr>
          <a:xfrm>
            <a:off x="1162050" y="3048000"/>
            <a:ext cx="3371850" cy="209550"/>
          </a:xfrm>
          <a:prstGeom prst="rect">
            <a:avLst/>
          </a:prstGeom>
        </p:spPr>
        <p:txBody>
          <a:bodyPr lIns="0" tIns="0" rIns="0" bIns="0"/>
          <a:lstStyle/>
          <a:p>
            <a:pPr>
              <a:defRPr sz="1260" b="0">
                <a:solidFill>
                  <a:srgbClr val="243746"/>
                </a:solidFill>
              </a:defRPr>
            </a:pPr>
            <a:r>
              <a:rPr sz="1600" b="0">
                <a:solidFill>
                  <a:srgbClr val="243746"/>
                </a:solidFill>
              </a:rPr>
              <a:t>Review value (TF-IDF + LR)</a:t>
            </a:r>
          </a:p>
        </p:txBody>
      </p:sp>
      <p:sp>
        <p:nvSpPr>
          <p:cNvPr id="12" name="readme-results-cell-1-2">
            <a:extLst>
              <a:ext uri="{FF2B5EF4-FFF2-40B4-BE49-F238E27FC236}">
                <a16:creationId xmlns:a16="http://schemas.microsoft.com/office/drawing/2014/main" id="{D7DC2281-9E18-46E2-84AB-C2E4F240F719}"/>
              </a:ext>
            </a:extLst>
          </p:cNvPr>
          <p:cNvSpPr>
            <a:spLocks noGrp="1"/>
          </p:cNvSpPr>
          <p:nvPr/>
        </p:nvSpPr>
        <p:spPr>
          <a:xfrm>
            <a:off x="4705350" y="2900172"/>
            <a:ext cx="7090669" cy="952500"/>
          </a:xfrm>
          <a:prstGeom prst="rect">
            <a:avLst/>
          </a:prstGeom>
          <a:solidFill>
            <a:srgbClr val="FFFFFF"/>
          </a:solidFill>
          <a:ln w="7620">
            <a:solidFill>
              <a:srgbClr val="D7E0E5"/>
            </a:solidFill>
            <a:prstDash val="solid"/>
          </a:ln>
        </p:spPr>
        <p:txBody>
          <a:bodyPr/>
          <a:lstStyle/>
          <a:p>
            <a:endParaRPr lang="zh-CN" altLang="en-US"/>
          </a:p>
        </p:txBody>
      </p:sp>
      <p:sp>
        <p:nvSpPr>
          <p:cNvPr id="13" name="readme-results-cell-1-2-text">
            <a:extLst>
              <a:ext uri="{FF2B5EF4-FFF2-40B4-BE49-F238E27FC236}">
                <a16:creationId xmlns:a16="http://schemas.microsoft.com/office/drawing/2014/main" id="{783521BF-1B98-4236-8002-EA52B8988E8B}"/>
              </a:ext>
            </a:extLst>
          </p:cNvPr>
          <p:cNvSpPr>
            <a:spLocks noGrp="1"/>
          </p:cNvSpPr>
          <p:nvPr/>
        </p:nvSpPr>
        <p:spPr>
          <a:xfrm>
            <a:off x="4876800" y="3048000"/>
            <a:ext cx="6743700" cy="209550"/>
          </a:xfrm>
          <a:prstGeom prst="rect">
            <a:avLst/>
          </a:prstGeom>
        </p:spPr>
        <p:txBody>
          <a:bodyPr lIns="0" tIns="0" rIns="0" bIns="0"/>
          <a:lstStyle/>
          <a:p>
            <a:pPr>
              <a:defRPr sz="1283" b="1">
                <a:solidFill>
                  <a:srgbClr val="0E5A75"/>
                </a:solidFill>
              </a:defRPr>
            </a:pPr>
            <a:r>
              <a:rPr sz="1600" b="1">
                <a:solidFill>
                  <a:srgbClr val="0E5A75"/>
                </a:solidFill>
              </a:rPr>
              <a:t>Accuracy 0.795; Positive F1 0.255</a:t>
            </a:r>
          </a:p>
        </p:txBody>
      </p:sp>
      <p:sp>
        <p:nvSpPr>
          <p:cNvPr id="14" name="readme-results-cell-1-3">
            <a:extLst>
              <a:ext uri="{FF2B5EF4-FFF2-40B4-BE49-F238E27FC236}">
                <a16:creationId xmlns:a16="http://schemas.microsoft.com/office/drawing/2014/main" id="{20BF7F8B-8B65-43F8-A931-C3E1E8655A24}"/>
              </a:ext>
            </a:extLst>
          </p:cNvPr>
          <p:cNvSpPr>
            <a:spLocks noGrp="1"/>
          </p:cNvSpPr>
          <p:nvPr/>
        </p:nvSpPr>
        <p:spPr>
          <a:xfrm>
            <a:off x="11796019" y="2900172"/>
            <a:ext cx="5501381" cy="952500"/>
          </a:xfrm>
          <a:prstGeom prst="rect">
            <a:avLst/>
          </a:prstGeom>
          <a:solidFill>
            <a:srgbClr val="FFFFFF"/>
          </a:solidFill>
          <a:ln w="7620">
            <a:solidFill>
              <a:srgbClr val="D7E0E5"/>
            </a:solidFill>
            <a:prstDash val="solid"/>
          </a:ln>
        </p:spPr>
        <p:txBody>
          <a:bodyPr/>
          <a:lstStyle/>
          <a:p>
            <a:endParaRPr lang="zh-CN" altLang="en-US"/>
          </a:p>
        </p:txBody>
      </p:sp>
      <p:sp>
        <p:nvSpPr>
          <p:cNvPr id="15" name="readme-results-cell-1-3-text">
            <a:extLst>
              <a:ext uri="{FF2B5EF4-FFF2-40B4-BE49-F238E27FC236}">
                <a16:creationId xmlns:a16="http://schemas.microsoft.com/office/drawing/2014/main" id="{063D1D34-D8A7-498B-AC6D-104A0588D3F8}"/>
              </a:ext>
            </a:extLst>
          </p:cNvPr>
          <p:cNvSpPr>
            <a:spLocks noGrp="1"/>
          </p:cNvSpPr>
          <p:nvPr/>
        </p:nvSpPr>
        <p:spPr>
          <a:xfrm>
            <a:off x="11963400" y="3048000"/>
            <a:ext cx="5162550" cy="209550"/>
          </a:xfrm>
          <a:prstGeom prst="rect">
            <a:avLst/>
          </a:prstGeom>
        </p:spPr>
        <p:txBody>
          <a:bodyPr lIns="0" tIns="0" rIns="0" bIns="0"/>
          <a:lstStyle/>
          <a:p>
            <a:pPr>
              <a:defRPr sz="1260" b="0">
                <a:solidFill>
                  <a:srgbClr val="243746"/>
                </a:solidFill>
              </a:defRPr>
            </a:pPr>
            <a:r>
              <a:rPr sz="1600" b="0">
                <a:solidFill>
                  <a:srgbClr val="243746"/>
                </a:solidFill>
              </a:rPr>
              <a:t>Positive-class recall remains the main weakness.</a:t>
            </a:r>
          </a:p>
        </p:txBody>
      </p:sp>
      <p:sp>
        <p:nvSpPr>
          <p:cNvPr id="16" name="readme-results-cell-2-1">
            <a:extLst>
              <a:ext uri="{FF2B5EF4-FFF2-40B4-BE49-F238E27FC236}">
                <a16:creationId xmlns:a16="http://schemas.microsoft.com/office/drawing/2014/main" id="{A417A9BE-EB7B-41F6-8EED-3E7C20AEFC6A}"/>
              </a:ext>
            </a:extLst>
          </p:cNvPr>
          <p:cNvSpPr>
            <a:spLocks noGrp="1"/>
          </p:cNvSpPr>
          <p:nvPr/>
        </p:nvSpPr>
        <p:spPr>
          <a:xfrm>
            <a:off x="990600" y="3852672"/>
            <a:ext cx="3714750" cy="952500"/>
          </a:xfrm>
          <a:prstGeom prst="rect">
            <a:avLst/>
          </a:prstGeom>
          <a:solidFill>
            <a:srgbClr val="FFFFFF"/>
          </a:solidFill>
          <a:ln w="7620">
            <a:solidFill>
              <a:srgbClr val="D7E0E5"/>
            </a:solidFill>
            <a:prstDash val="solid"/>
          </a:ln>
        </p:spPr>
        <p:txBody>
          <a:bodyPr/>
          <a:lstStyle/>
          <a:p>
            <a:endParaRPr lang="zh-CN" altLang="en-US"/>
          </a:p>
        </p:txBody>
      </p:sp>
      <p:sp>
        <p:nvSpPr>
          <p:cNvPr id="17" name="readme-results-cell-2-1-text">
            <a:extLst>
              <a:ext uri="{FF2B5EF4-FFF2-40B4-BE49-F238E27FC236}">
                <a16:creationId xmlns:a16="http://schemas.microsoft.com/office/drawing/2014/main" id="{F5771544-093A-4D57-AF52-F083490D60C4}"/>
              </a:ext>
            </a:extLst>
          </p:cNvPr>
          <p:cNvSpPr>
            <a:spLocks noGrp="1"/>
          </p:cNvSpPr>
          <p:nvPr/>
        </p:nvSpPr>
        <p:spPr>
          <a:xfrm>
            <a:off x="1162050" y="4000500"/>
            <a:ext cx="3371850" cy="209550"/>
          </a:xfrm>
          <a:prstGeom prst="rect">
            <a:avLst/>
          </a:prstGeom>
        </p:spPr>
        <p:txBody>
          <a:bodyPr lIns="0" tIns="0" rIns="0" bIns="0"/>
          <a:lstStyle/>
          <a:p>
            <a:pPr>
              <a:defRPr sz="1260" b="0">
                <a:solidFill>
                  <a:srgbClr val="243746"/>
                </a:solidFill>
              </a:defRPr>
            </a:pPr>
            <a:r>
              <a:rPr sz="1600" b="0">
                <a:solidFill>
                  <a:srgbClr val="243746"/>
                </a:solidFill>
              </a:rPr>
              <a:t>Sentiment (BERT)</a:t>
            </a:r>
          </a:p>
        </p:txBody>
      </p:sp>
      <p:sp>
        <p:nvSpPr>
          <p:cNvPr id="18" name="readme-results-cell-2-2">
            <a:extLst>
              <a:ext uri="{FF2B5EF4-FFF2-40B4-BE49-F238E27FC236}">
                <a16:creationId xmlns:a16="http://schemas.microsoft.com/office/drawing/2014/main" id="{DF8EF25B-B2F7-4A4C-BA8E-42A7EB9E5B7C}"/>
              </a:ext>
            </a:extLst>
          </p:cNvPr>
          <p:cNvSpPr>
            <a:spLocks noGrp="1"/>
          </p:cNvSpPr>
          <p:nvPr/>
        </p:nvSpPr>
        <p:spPr>
          <a:xfrm>
            <a:off x="4705350" y="3852672"/>
            <a:ext cx="7090669" cy="952500"/>
          </a:xfrm>
          <a:prstGeom prst="rect">
            <a:avLst/>
          </a:prstGeom>
          <a:solidFill>
            <a:srgbClr val="FFFFFF"/>
          </a:solidFill>
          <a:ln w="7620">
            <a:solidFill>
              <a:srgbClr val="D7E0E5"/>
            </a:solidFill>
            <a:prstDash val="solid"/>
          </a:ln>
        </p:spPr>
        <p:txBody>
          <a:bodyPr/>
          <a:lstStyle/>
          <a:p>
            <a:endParaRPr lang="zh-CN" altLang="en-US"/>
          </a:p>
        </p:txBody>
      </p:sp>
      <p:sp>
        <p:nvSpPr>
          <p:cNvPr id="19" name="readme-results-cell-2-2-text">
            <a:extLst>
              <a:ext uri="{FF2B5EF4-FFF2-40B4-BE49-F238E27FC236}">
                <a16:creationId xmlns:a16="http://schemas.microsoft.com/office/drawing/2014/main" id="{F0695188-D019-4BFC-A4AA-3931894C76F2}"/>
              </a:ext>
            </a:extLst>
          </p:cNvPr>
          <p:cNvSpPr>
            <a:spLocks noGrp="1"/>
          </p:cNvSpPr>
          <p:nvPr/>
        </p:nvSpPr>
        <p:spPr>
          <a:xfrm>
            <a:off x="4876800" y="4000500"/>
            <a:ext cx="6743700" cy="209550"/>
          </a:xfrm>
          <a:prstGeom prst="rect">
            <a:avLst/>
          </a:prstGeom>
        </p:spPr>
        <p:txBody>
          <a:bodyPr lIns="0" tIns="0" rIns="0" bIns="0"/>
          <a:lstStyle/>
          <a:p>
            <a:pPr>
              <a:defRPr sz="1283" b="1">
                <a:solidFill>
                  <a:srgbClr val="0E5A75"/>
                </a:solidFill>
              </a:defRPr>
            </a:pPr>
            <a:r>
              <a:rPr sz="1600" b="1">
                <a:solidFill>
                  <a:srgbClr val="0E5A75"/>
                </a:solidFill>
              </a:rPr>
              <a:t>Accuracy 0.966; F1 0.981; Macro-F1 0.910</a:t>
            </a:r>
          </a:p>
        </p:txBody>
      </p:sp>
      <p:sp>
        <p:nvSpPr>
          <p:cNvPr id="20" name="readme-results-cell-2-3">
            <a:extLst>
              <a:ext uri="{FF2B5EF4-FFF2-40B4-BE49-F238E27FC236}">
                <a16:creationId xmlns:a16="http://schemas.microsoft.com/office/drawing/2014/main" id="{B86FA2AC-37D7-40E0-B1D5-725350D04456}"/>
              </a:ext>
            </a:extLst>
          </p:cNvPr>
          <p:cNvSpPr>
            <a:spLocks noGrp="1"/>
          </p:cNvSpPr>
          <p:nvPr/>
        </p:nvSpPr>
        <p:spPr>
          <a:xfrm>
            <a:off x="11796019" y="3852672"/>
            <a:ext cx="5501381" cy="952500"/>
          </a:xfrm>
          <a:prstGeom prst="rect">
            <a:avLst/>
          </a:prstGeom>
          <a:solidFill>
            <a:srgbClr val="FFFFFF"/>
          </a:solidFill>
          <a:ln w="7620">
            <a:solidFill>
              <a:srgbClr val="D7E0E5"/>
            </a:solidFill>
            <a:prstDash val="solid"/>
          </a:ln>
        </p:spPr>
        <p:txBody>
          <a:bodyPr/>
          <a:lstStyle/>
          <a:p>
            <a:endParaRPr lang="zh-CN" altLang="en-US"/>
          </a:p>
        </p:txBody>
      </p:sp>
      <p:sp>
        <p:nvSpPr>
          <p:cNvPr id="21" name="readme-results-cell-2-3-text">
            <a:extLst>
              <a:ext uri="{FF2B5EF4-FFF2-40B4-BE49-F238E27FC236}">
                <a16:creationId xmlns:a16="http://schemas.microsoft.com/office/drawing/2014/main" id="{8BD1F006-470B-4D26-BC7B-88CC89E93DD5}"/>
              </a:ext>
            </a:extLst>
          </p:cNvPr>
          <p:cNvSpPr>
            <a:spLocks noGrp="1"/>
          </p:cNvSpPr>
          <p:nvPr/>
        </p:nvSpPr>
        <p:spPr>
          <a:xfrm>
            <a:off x="11963400" y="4000500"/>
            <a:ext cx="5162550" cy="209550"/>
          </a:xfrm>
          <a:prstGeom prst="rect">
            <a:avLst/>
          </a:prstGeom>
        </p:spPr>
        <p:txBody>
          <a:bodyPr lIns="0" tIns="0" rIns="0" bIns="0"/>
          <a:lstStyle/>
          <a:p>
            <a:pPr>
              <a:defRPr sz="1260" b="0">
                <a:solidFill>
                  <a:srgbClr val="243746"/>
                </a:solidFill>
              </a:defRPr>
            </a:pPr>
            <a:r>
              <a:rPr sz="1600" b="0">
                <a:solidFill>
                  <a:srgbClr val="243746"/>
                </a:solidFill>
              </a:rPr>
              <a:t>Strong performance on calibrated labels.</a:t>
            </a:r>
          </a:p>
        </p:txBody>
      </p:sp>
      <p:sp>
        <p:nvSpPr>
          <p:cNvPr id="22" name="readme-results-cell-3-1">
            <a:extLst>
              <a:ext uri="{FF2B5EF4-FFF2-40B4-BE49-F238E27FC236}">
                <a16:creationId xmlns:a16="http://schemas.microsoft.com/office/drawing/2014/main" id="{202BA373-FB34-4FE8-B832-832372AA0045}"/>
              </a:ext>
            </a:extLst>
          </p:cNvPr>
          <p:cNvSpPr>
            <a:spLocks noGrp="1"/>
          </p:cNvSpPr>
          <p:nvPr/>
        </p:nvSpPr>
        <p:spPr>
          <a:xfrm>
            <a:off x="990600" y="4805172"/>
            <a:ext cx="3714750" cy="1066800"/>
          </a:xfrm>
          <a:prstGeom prst="rect">
            <a:avLst/>
          </a:prstGeom>
          <a:solidFill>
            <a:srgbClr val="FFFFFF"/>
          </a:solidFill>
          <a:ln w="7620">
            <a:solidFill>
              <a:srgbClr val="D7E0E5"/>
            </a:solidFill>
            <a:prstDash val="solid"/>
          </a:ln>
        </p:spPr>
        <p:txBody>
          <a:bodyPr/>
          <a:lstStyle/>
          <a:p>
            <a:endParaRPr lang="zh-CN" altLang="en-US"/>
          </a:p>
        </p:txBody>
      </p:sp>
      <p:sp>
        <p:nvSpPr>
          <p:cNvPr id="23" name="readme-results-cell-3-1-text">
            <a:extLst>
              <a:ext uri="{FF2B5EF4-FFF2-40B4-BE49-F238E27FC236}">
                <a16:creationId xmlns:a16="http://schemas.microsoft.com/office/drawing/2014/main" id="{98097A8B-7118-497B-B98F-81E31F304BA7}"/>
              </a:ext>
            </a:extLst>
          </p:cNvPr>
          <p:cNvSpPr>
            <a:spLocks noGrp="1"/>
          </p:cNvSpPr>
          <p:nvPr/>
        </p:nvSpPr>
        <p:spPr>
          <a:xfrm>
            <a:off x="1162050" y="4953000"/>
            <a:ext cx="3371850" cy="209550"/>
          </a:xfrm>
          <a:prstGeom prst="rect">
            <a:avLst/>
          </a:prstGeom>
        </p:spPr>
        <p:txBody>
          <a:bodyPr lIns="0" tIns="0" rIns="0" bIns="0"/>
          <a:lstStyle/>
          <a:p>
            <a:pPr>
              <a:defRPr sz="1260" b="0">
                <a:solidFill>
                  <a:srgbClr val="243746"/>
                </a:solidFill>
              </a:defRPr>
            </a:pPr>
            <a:r>
              <a:rPr sz="1600" b="0">
                <a:solidFill>
                  <a:srgbClr val="243746"/>
                </a:solidFill>
              </a:rPr>
              <a:t>Title generation (Flan-T5-small, tuned)</a:t>
            </a:r>
          </a:p>
        </p:txBody>
      </p:sp>
      <p:sp>
        <p:nvSpPr>
          <p:cNvPr id="24" name="readme-results-cell-3-2">
            <a:extLst>
              <a:ext uri="{FF2B5EF4-FFF2-40B4-BE49-F238E27FC236}">
                <a16:creationId xmlns:a16="http://schemas.microsoft.com/office/drawing/2014/main" id="{F3FD502F-B7A1-4E17-A93A-3D3CD7D3AD4E}"/>
              </a:ext>
            </a:extLst>
          </p:cNvPr>
          <p:cNvSpPr>
            <a:spLocks noGrp="1"/>
          </p:cNvSpPr>
          <p:nvPr/>
        </p:nvSpPr>
        <p:spPr>
          <a:xfrm>
            <a:off x="4705350" y="4805172"/>
            <a:ext cx="7090669" cy="1066800"/>
          </a:xfrm>
          <a:prstGeom prst="rect">
            <a:avLst/>
          </a:prstGeom>
          <a:solidFill>
            <a:srgbClr val="FFFFFF"/>
          </a:solidFill>
          <a:ln w="7620">
            <a:solidFill>
              <a:srgbClr val="D7E0E5"/>
            </a:solidFill>
            <a:prstDash val="solid"/>
          </a:ln>
        </p:spPr>
        <p:txBody>
          <a:bodyPr/>
          <a:lstStyle/>
          <a:p>
            <a:endParaRPr lang="zh-CN" altLang="en-US"/>
          </a:p>
        </p:txBody>
      </p:sp>
      <p:sp>
        <p:nvSpPr>
          <p:cNvPr id="25" name="readme-results-cell-3-2-text">
            <a:extLst>
              <a:ext uri="{FF2B5EF4-FFF2-40B4-BE49-F238E27FC236}">
                <a16:creationId xmlns:a16="http://schemas.microsoft.com/office/drawing/2014/main" id="{F39E4B48-4D52-40EE-B72B-278C704600E3}"/>
              </a:ext>
            </a:extLst>
          </p:cNvPr>
          <p:cNvSpPr>
            <a:spLocks noGrp="1"/>
          </p:cNvSpPr>
          <p:nvPr/>
        </p:nvSpPr>
        <p:spPr>
          <a:xfrm>
            <a:off x="4876800" y="4953000"/>
            <a:ext cx="6743700" cy="209550"/>
          </a:xfrm>
          <a:prstGeom prst="rect">
            <a:avLst/>
          </a:prstGeom>
        </p:spPr>
        <p:txBody>
          <a:bodyPr lIns="0" tIns="0" rIns="0" bIns="0"/>
          <a:lstStyle/>
          <a:p>
            <a:pPr>
              <a:defRPr sz="1283" b="1">
                <a:solidFill>
                  <a:srgbClr val="0E5A75"/>
                </a:solidFill>
              </a:defRPr>
            </a:pPr>
            <a:r>
              <a:rPr sz="1600" b="1">
                <a:solidFill>
                  <a:srgbClr val="0E5A75"/>
                </a:solidFill>
              </a:rPr>
              <a:t>ROUGE-1/2/L: 0.322 / 0.149 / 0.306; BERTScore F1 0.816</a:t>
            </a:r>
          </a:p>
        </p:txBody>
      </p:sp>
      <p:sp>
        <p:nvSpPr>
          <p:cNvPr id="26" name="readme-results-cell-3-3">
            <a:extLst>
              <a:ext uri="{FF2B5EF4-FFF2-40B4-BE49-F238E27FC236}">
                <a16:creationId xmlns:a16="http://schemas.microsoft.com/office/drawing/2014/main" id="{27000051-2012-4F39-A5D8-482E78540D70}"/>
              </a:ext>
            </a:extLst>
          </p:cNvPr>
          <p:cNvSpPr>
            <a:spLocks noGrp="1"/>
          </p:cNvSpPr>
          <p:nvPr/>
        </p:nvSpPr>
        <p:spPr>
          <a:xfrm>
            <a:off x="11796019" y="4805172"/>
            <a:ext cx="5501381" cy="1066800"/>
          </a:xfrm>
          <a:prstGeom prst="rect">
            <a:avLst/>
          </a:prstGeom>
          <a:solidFill>
            <a:srgbClr val="FFFFFF"/>
          </a:solidFill>
          <a:ln w="7620">
            <a:solidFill>
              <a:srgbClr val="D7E0E5"/>
            </a:solidFill>
            <a:prstDash val="solid"/>
          </a:ln>
        </p:spPr>
        <p:txBody>
          <a:bodyPr/>
          <a:lstStyle/>
          <a:p>
            <a:endParaRPr lang="zh-CN" altLang="en-US"/>
          </a:p>
        </p:txBody>
      </p:sp>
      <p:sp>
        <p:nvSpPr>
          <p:cNvPr id="27" name="readme-results-cell-3-3-text">
            <a:extLst>
              <a:ext uri="{FF2B5EF4-FFF2-40B4-BE49-F238E27FC236}">
                <a16:creationId xmlns:a16="http://schemas.microsoft.com/office/drawing/2014/main" id="{D5A7E26E-5D28-4D5B-AA35-E21424ACB5BC}"/>
              </a:ext>
            </a:extLst>
          </p:cNvPr>
          <p:cNvSpPr>
            <a:spLocks noGrp="1"/>
          </p:cNvSpPr>
          <p:nvPr/>
        </p:nvSpPr>
        <p:spPr>
          <a:xfrm>
            <a:off x="11963400" y="4953000"/>
            <a:ext cx="5162550" cy="209550"/>
          </a:xfrm>
          <a:prstGeom prst="rect">
            <a:avLst/>
          </a:prstGeom>
        </p:spPr>
        <p:txBody>
          <a:bodyPr lIns="0" tIns="0" rIns="0" bIns="0"/>
          <a:lstStyle/>
          <a:p>
            <a:pPr>
              <a:defRPr sz="1260" b="0">
                <a:solidFill>
                  <a:srgbClr val="243746"/>
                </a:solidFill>
              </a:defRPr>
            </a:pPr>
            <a:r>
              <a:rPr sz="1600" b="0">
                <a:solidFill>
                  <a:srgbClr val="243746"/>
                </a:solidFill>
              </a:rPr>
              <a:t>Trained on pseudo titles.</a:t>
            </a:r>
          </a:p>
        </p:txBody>
      </p:sp>
      <p:sp>
        <p:nvSpPr>
          <p:cNvPr id="28" name="readme-results-cell-4-1">
            <a:extLst>
              <a:ext uri="{FF2B5EF4-FFF2-40B4-BE49-F238E27FC236}">
                <a16:creationId xmlns:a16="http://schemas.microsoft.com/office/drawing/2014/main" id="{A1709D24-F423-4907-9AEA-197AD025826D}"/>
              </a:ext>
            </a:extLst>
          </p:cNvPr>
          <p:cNvSpPr>
            <a:spLocks noGrp="1"/>
          </p:cNvSpPr>
          <p:nvPr/>
        </p:nvSpPr>
        <p:spPr>
          <a:xfrm>
            <a:off x="990600" y="5871972"/>
            <a:ext cx="3714750" cy="952500"/>
          </a:xfrm>
          <a:prstGeom prst="rect">
            <a:avLst/>
          </a:prstGeom>
          <a:solidFill>
            <a:srgbClr val="FFF8ED"/>
          </a:solidFill>
          <a:ln w="7620">
            <a:solidFill>
              <a:srgbClr val="D7E0E5"/>
            </a:solidFill>
            <a:prstDash val="solid"/>
          </a:ln>
        </p:spPr>
        <p:txBody>
          <a:bodyPr/>
          <a:lstStyle/>
          <a:p>
            <a:endParaRPr lang="zh-CN" altLang="en-US"/>
          </a:p>
        </p:txBody>
      </p:sp>
      <p:sp>
        <p:nvSpPr>
          <p:cNvPr id="29" name="readme-results-cell-4-1-text">
            <a:extLst>
              <a:ext uri="{FF2B5EF4-FFF2-40B4-BE49-F238E27FC236}">
                <a16:creationId xmlns:a16="http://schemas.microsoft.com/office/drawing/2014/main" id="{95538402-23DD-417E-A9A0-F0324222CF8A}"/>
              </a:ext>
            </a:extLst>
          </p:cNvPr>
          <p:cNvSpPr>
            <a:spLocks noGrp="1"/>
          </p:cNvSpPr>
          <p:nvPr/>
        </p:nvSpPr>
        <p:spPr>
          <a:xfrm>
            <a:off x="1162050" y="6019800"/>
            <a:ext cx="3371850" cy="209550"/>
          </a:xfrm>
          <a:prstGeom prst="rect">
            <a:avLst/>
          </a:prstGeom>
        </p:spPr>
        <p:txBody>
          <a:bodyPr lIns="0" tIns="0" rIns="0" bIns="0"/>
          <a:lstStyle/>
          <a:p>
            <a:pPr>
              <a:defRPr sz="1260" b="1">
                <a:solidFill>
                  <a:srgbClr val="243746"/>
                </a:solidFill>
              </a:defRPr>
            </a:pPr>
            <a:r>
              <a:rPr sz="1600" b="1">
                <a:solidFill>
                  <a:srgbClr val="243746"/>
                </a:solidFill>
              </a:rPr>
              <a:t>Title generation (Flan-T5-base, tuned)</a:t>
            </a:r>
          </a:p>
        </p:txBody>
      </p:sp>
      <p:sp>
        <p:nvSpPr>
          <p:cNvPr id="30" name="readme-results-cell-4-2">
            <a:extLst>
              <a:ext uri="{FF2B5EF4-FFF2-40B4-BE49-F238E27FC236}">
                <a16:creationId xmlns:a16="http://schemas.microsoft.com/office/drawing/2014/main" id="{6AD0DA7A-6AAC-417F-83EC-956D2A5586BD}"/>
              </a:ext>
            </a:extLst>
          </p:cNvPr>
          <p:cNvSpPr>
            <a:spLocks noGrp="1"/>
          </p:cNvSpPr>
          <p:nvPr/>
        </p:nvSpPr>
        <p:spPr>
          <a:xfrm>
            <a:off x="4705350" y="5871972"/>
            <a:ext cx="7090669" cy="952500"/>
          </a:xfrm>
          <a:prstGeom prst="rect">
            <a:avLst/>
          </a:prstGeom>
          <a:solidFill>
            <a:srgbClr val="FFF8ED"/>
          </a:solidFill>
          <a:ln w="7620">
            <a:solidFill>
              <a:srgbClr val="D7E0E5"/>
            </a:solidFill>
            <a:prstDash val="solid"/>
          </a:ln>
        </p:spPr>
        <p:txBody>
          <a:bodyPr/>
          <a:lstStyle/>
          <a:p>
            <a:endParaRPr lang="zh-CN" altLang="en-US"/>
          </a:p>
        </p:txBody>
      </p:sp>
      <p:sp>
        <p:nvSpPr>
          <p:cNvPr id="31" name="readme-results-cell-4-2-text">
            <a:extLst>
              <a:ext uri="{FF2B5EF4-FFF2-40B4-BE49-F238E27FC236}">
                <a16:creationId xmlns:a16="http://schemas.microsoft.com/office/drawing/2014/main" id="{B59EAA9A-1783-43C3-8288-E12DA26EF876}"/>
              </a:ext>
            </a:extLst>
          </p:cNvPr>
          <p:cNvSpPr>
            <a:spLocks noGrp="1"/>
          </p:cNvSpPr>
          <p:nvPr/>
        </p:nvSpPr>
        <p:spPr>
          <a:xfrm>
            <a:off x="4876800" y="6019800"/>
            <a:ext cx="6743700" cy="209550"/>
          </a:xfrm>
          <a:prstGeom prst="rect">
            <a:avLst/>
          </a:prstGeom>
        </p:spPr>
        <p:txBody>
          <a:bodyPr lIns="0" tIns="0" rIns="0" bIns="0"/>
          <a:lstStyle/>
          <a:p>
            <a:pPr>
              <a:defRPr sz="1283" b="1">
                <a:solidFill>
                  <a:srgbClr val="0E5A75"/>
                </a:solidFill>
              </a:defRPr>
            </a:pPr>
            <a:r>
              <a:rPr sz="1600" b="1">
                <a:solidFill>
                  <a:srgbClr val="0E5A75"/>
                </a:solidFill>
              </a:rPr>
              <a:t>ROUGE-1/2/L: 0.399 / 0.178 / 0.373; BERTScore F1 0.830</a:t>
            </a:r>
          </a:p>
        </p:txBody>
      </p:sp>
      <p:sp>
        <p:nvSpPr>
          <p:cNvPr id="32" name="readme-results-cell-4-3">
            <a:extLst>
              <a:ext uri="{FF2B5EF4-FFF2-40B4-BE49-F238E27FC236}">
                <a16:creationId xmlns:a16="http://schemas.microsoft.com/office/drawing/2014/main" id="{F44C51F0-BC58-4B1B-A079-BD9DE814CF89}"/>
              </a:ext>
            </a:extLst>
          </p:cNvPr>
          <p:cNvSpPr>
            <a:spLocks noGrp="1"/>
          </p:cNvSpPr>
          <p:nvPr/>
        </p:nvSpPr>
        <p:spPr>
          <a:xfrm>
            <a:off x="11796019" y="5871972"/>
            <a:ext cx="5501381" cy="952500"/>
          </a:xfrm>
          <a:prstGeom prst="rect">
            <a:avLst/>
          </a:prstGeom>
          <a:solidFill>
            <a:srgbClr val="FFF8ED"/>
          </a:solidFill>
          <a:ln w="7620">
            <a:solidFill>
              <a:srgbClr val="D7E0E5"/>
            </a:solidFill>
            <a:prstDash val="solid"/>
          </a:ln>
        </p:spPr>
        <p:txBody>
          <a:bodyPr/>
          <a:lstStyle/>
          <a:p>
            <a:endParaRPr lang="zh-CN" altLang="en-US"/>
          </a:p>
        </p:txBody>
      </p:sp>
      <p:sp>
        <p:nvSpPr>
          <p:cNvPr id="33" name="readme-results-cell-4-3-text">
            <a:extLst>
              <a:ext uri="{FF2B5EF4-FFF2-40B4-BE49-F238E27FC236}">
                <a16:creationId xmlns:a16="http://schemas.microsoft.com/office/drawing/2014/main" id="{5BD13F09-B85A-453A-BFD5-B4427F672F38}"/>
              </a:ext>
            </a:extLst>
          </p:cNvPr>
          <p:cNvSpPr>
            <a:spLocks noGrp="1"/>
          </p:cNvSpPr>
          <p:nvPr/>
        </p:nvSpPr>
        <p:spPr>
          <a:xfrm>
            <a:off x="11963400" y="6019800"/>
            <a:ext cx="5162550" cy="209550"/>
          </a:xfrm>
          <a:prstGeom prst="rect">
            <a:avLst/>
          </a:prstGeom>
        </p:spPr>
        <p:txBody>
          <a:bodyPr lIns="0" tIns="0" rIns="0" bIns="0"/>
          <a:lstStyle/>
          <a:p>
            <a:pPr>
              <a:defRPr sz="1260" b="1">
                <a:solidFill>
                  <a:srgbClr val="243746"/>
                </a:solidFill>
              </a:defRPr>
            </a:pPr>
            <a:r>
              <a:rPr sz="1600" b="1">
                <a:solidFill>
                  <a:srgbClr val="243746"/>
                </a:solidFill>
              </a:rPr>
              <a:t>Best current title model.</a:t>
            </a:r>
          </a:p>
        </p:txBody>
      </p:sp>
      <p:sp>
        <p:nvSpPr>
          <p:cNvPr id="34" name="results-exp-bert">
            <a:extLst>
              <a:ext uri="{FF2B5EF4-FFF2-40B4-BE49-F238E27FC236}">
                <a16:creationId xmlns:a16="http://schemas.microsoft.com/office/drawing/2014/main" id="{5F771A86-96AF-4436-9031-3FF3D7EF64A2}"/>
              </a:ext>
            </a:extLst>
          </p:cNvPr>
          <p:cNvSpPr>
            <a:spLocks noGrp="1"/>
          </p:cNvSpPr>
          <p:nvPr/>
        </p:nvSpPr>
        <p:spPr>
          <a:xfrm>
            <a:off x="990600" y="6995922"/>
            <a:ext cx="5308600" cy="1257300"/>
          </a:xfrm>
          <a:prstGeom prst="roundRect">
            <a:avLst>
              <a:gd name="adj" fmla="val 3030"/>
            </a:avLst>
          </a:prstGeom>
          <a:solidFill>
            <a:srgbClr val="E4F1DC"/>
          </a:solidFill>
          <a:ln w="9525">
            <a:solidFill>
              <a:srgbClr val="9BBE8B"/>
            </a:solidFill>
            <a:prstDash val="solid"/>
          </a:ln>
        </p:spPr>
        <p:txBody>
          <a:bodyPr/>
          <a:lstStyle/>
          <a:p>
            <a:endParaRPr lang="zh-CN" altLang="en-US"/>
          </a:p>
        </p:txBody>
      </p:sp>
      <p:sp>
        <p:nvSpPr>
          <p:cNvPr id="35" name="results-exp-bert-title">
            <a:extLst>
              <a:ext uri="{FF2B5EF4-FFF2-40B4-BE49-F238E27FC236}">
                <a16:creationId xmlns:a16="http://schemas.microsoft.com/office/drawing/2014/main" id="{A3B80C7C-AC29-4197-95BB-8FF020329DE4}"/>
              </a:ext>
            </a:extLst>
          </p:cNvPr>
          <p:cNvSpPr>
            <a:spLocks noGrp="1"/>
          </p:cNvSpPr>
          <p:nvPr/>
        </p:nvSpPr>
        <p:spPr>
          <a:xfrm>
            <a:off x="1200150" y="7296150"/>
            <a:ext cx="4895850" cy="228600"/>
          </a:xfrm>
          <a:prstGeom prst="rect">
            <a:avLst/>
          </a:prstGeom>
        </p:spPr>
        <p:txBody>
          <a:bodyPr lIns="0" tIns="0" rIns="0" bIns="0"/>
          <a:lstStyle/>
          <a:p>
            <a:pPr>
              <a:defRPr sz="1440" b="1">
                <a:solidFill>
                  <a:srgbClr val="123D52"/>
                </a:solidFill>
              </a:defRPr>
            </a:pPr>
            <a:r>
              <a:rPr sz="1600" b="1">
                <a:solidFill>
                  <a:srgbClr val="123D52"/>
                </a:solidFill>
              </a:rPr>
              <a:t>Strongest component</a:t>
            </a:r>
          </a:p>
        </p:txBody>
      </p:sp>
      <p:sp>
        <p:nvSpPr>
          <p:cNvPr id="36" name="results-exp-bert-detail">
            <a:extLst>
              <a:ext uri="{FF2B5EF4-FFF2-40B4-BE49-F238E27FC236}">
                <a16:creationId xmlns:a16="http://schemas.microsoft.com/office/drawing/2014/main" id="{459D1CBD-F58D-4372-BDFA-85C5CFF28485}"/>
              </a:ext>
            </a:extLst>
          </p:cNvPr>
          <p:cNvSpPr>
            <a:spLocks noGrp="1"/>
          </p:cNvSpPr>
          <p:nvPr/>
        </p:nvSpPr>
        <p:spPr>
          <a:xfrm>
            <a:off x="1200150" y="7581900"/>
            <a:ext cx="4895850" cy="381000"/>
          </a:xfrm>
          <a:prstGeom prst="rect">
            <a:avLst/>
          </a:prstGeom>
        </p:spPr>
        <p:txBody>
          <a:bodyPr lIns="0" tIns="0" rIns="0" bIns="0"/>
          <a:lstStyle/>
          <a:p>
            <a:pPr>
              <a:defRPr sz="1215">
                <a:solidFill>
                  <a:srgbClr val="5B6975"/>
                </a:solidFill>
              </a:defRPr>
            </a:pPr>
            <a:r>
              <a:rPr sz="1600">
                <a:solidFill>
                  <a:srgbClr val="5B6975"/>
                </a:solidFill>
              </a:rPr>
              <a:t>BERT performs strongly on rating + VADER calibrated sentiment labels.</a:t>
            </a:r>
          </a:p>
        </p:txBody>
      </p:sp>
      <p:sp>
        <p:nvSpPr>
          <p:cNvPr id="37" name="results-exp-value">
            <a:extLst>
              <a:ext uri="{FF2B5EF4-FFF2-40B4-BE49-F238E27FC236}">
                <a16:creationId xmlns:a16="http://schemas.microsoft.com/office/drawing/2014/main" id="{AF546AEB-4E31-4B22-9DF5-809190381D52}"/>
              </a:ext>
            </a:extLst>
          </p:cNvPr>
          <p:cNvSpPr>
            <a:spLocks noGrp="1"/>
          </p:cNvSpPr>
          <p:nvPr/>
        </p:nvSpPr>
        <p:spPr>
          <a:xfrm>
            <a:off x="6489700" y="6995922"/>
            <a:ext cx="5308600" cy="1257300"/>
          </a:xfrm>
          <a:prstGeom prst="roundRect">
            <a:avLst>
              <a:gd name="adj" fmla="val 3030"/>
            </a:avLst>
          </a:prstGeom>
          <a:solidFill>
            <a:srgbClr val="FBE8D2"/>
          </a:solidFill>
          <a:ln w="9525">
            <a:solidFill>
              <a:srgbClr val="D5A065"/>
            </a:solidFill>
            <a:prstDash val="solid"/>
          </a:ln>
        </p:spPr>
        <p:txBody>
          <a:bodyPr/>
          <a:lstStyle/>
          <a:p>
            <a:endParaRPr lang="zh-CN" altLang="en-US"/>
          </a:p>
        </p:txBody>
      </p:sp>
      <p:sp>
        <p:nvSpPr>
          <p:cNvPr id="38" name="results-exp-value-title">
            <a:extLst>
              <a:ext uri="{FF2B5EF4-FFF2-40B4-BE49-F238E27FC236}">
                <a16:creationId xmlns:a16="http://schemas.microsoft.com/office/drawing/2014/main" id="{1E5B2187-F2C9-4F56-B2C6-D590602506B5}"/>
              </a:ext>
            </a:extLst>
          </p:cNvPr>
          <p:cNvSpPr>
            <a:spLocks noGrp="1"/>
          </p:cNvSpPr>
          <p:nvPr/>
        </p:nvSpPr>
        <p:spPr>
          <a:xfrm>
            <a:off x="6705600" y="7296150"/>
            <a:ext cx="4895850" cy="228600"/>
          </a:xfrm>
          <a:prstGeom prst="rect">
            <a:avLst/>
          </a:prstGeom>
        </p:spPr>
        <p:txBody>
          <a:bodyPr lIns="0" tIns="0" rIns="0" bIns="0"/>
          <a:lstStyle/>
          <a:p>
            <a:pPr>
              <a:defRPr sz="1440" b="1">
                <a:solidFill>
                  <a:srgbClr val="123D52"/>
                </a:solidFill>
              </a:defRPr>
            </a:pPr>
            <a:r>
              <a:rPr sz="1600" b="1">
                <a:solidFill>
                  <a:srgbClr val="123D52"/>
                </a:solidFill>
              </a:rPr>
              <a:t>Main limitation</a:t>
            </a:r>
          </a:p>
        </p:txBody>
      </p:sp>
      <p:sp>
        <p:nvSpPr>
          <p:cNvPr id="39" name="results-exp-value-detail">
            <a:extLst>
              <a:ext uri="{FF2B5EF4-FFF2-40B4-BE49-F238E27FC236}">
                <a16:creationId xmlns:a16="http://schemas.microsoft.com/office/drawing/2014/main" id="{D064D750-F43B-417D-A28E-560DA16FC78E}"/>
              </a:ext>
            </a:extLst>
          </p:cNvPr>
          <p:cNvSpPr>
            <a:spLocks noGrp="1"/>
          </p:cNvSpPr>
          <p:nvPr/>
        </p:nvSpPr>
        <p:spPr>
          <a:xfrm>
            <a:off x="6705600" y="7581900"/>
            <a:ext cx="4895850" cy="381000"/>
          </a:xfrm>
          <a:prstGeom prst="rect">
            <a:avLst/>
          </a:prstGeom>
        </p:spPr>
        <p:txBody>
          <a:bodyPr lIns="0" tIns="0" rIns="0" bIns="0"/>
          <a:lstStyle/>
          <a:p>
            <a:pPr>
              <a:defRPr sz="1215">
                <a:solidFill>
                  <a:srgbClr val="5B6975"/>
                </a:solidFill>
              </a:defRPr>
            </a:pPr>
            <a:r>
              <a:rPr sz="1600">
                <a:solidFill>
                  <a:srgbClr val="5B6975"/>
                </a:solidFill>
              </a:rPr>
              <a:t>Review-value detection is useful as a soft signal, but positive-class recall remains weak.</a:t>
            </a:r>
          </a:p>
        </p:txBody>
      </p:sp>
      <p:sp>
        <p:nvSpPr>
          <p:cNvPr id="40" name="results-exp-title">
            <a:extLst>
              <a:ext uri="{FF2B5EF4-FFF2-40B4-BE49-F238E27FC236}">
                <a16:creationId xmlns:a16="http://schemas.microsoft.com/office/drawing/2014/main" id="{D10B7F70-C72D-409F-8C2B-5A101C54F220}"/>
              </a:ext>
            </a:extLst>
          </p:cNvPr>
          <p:cNvSpPr>
            <a:spLocks noGrp="1"/>
          </p:cNvSpPr>
          <p:nvPr/>
        </p:nvSpPr>
        <p:spPr>
          <a:xfrm>
            <a:off x="11988800" y="6995922"/>
            <a:ext cx="5308600" cy="1257300"/>
          </a:xfrm>
          <a:prstGeom prst="roundRect">
            <a:avLst>
              <a:gd name="adj" fmla="val 3030"/>
            </a:avLst>
          </a:prstGeom>
          <a:solidFill>
            <a:srgbClr val="DDECF7"/>
          </a:solidFill>
          <a:ln w="9525">
            <a:solidFill>
              <a:srgbClr val="8BBBD1"/>
            </a:solidFill>
            <a:prstDash val="solid"/>
          </a:ln>
        </p:spPr>
        <p:txBody>
          <a:bodyPr/>
          <a:lstStyle/>
          <a:p>
            <a:endParaRPr lang="zh-CN" altLang="en-US"/>
          </a:p>
        </p:txBody>
      </p:sp>
      <p:sp>
        <p:nvSpPr>
          <p:cNvPr id="41" name="results-exp-title-title">
            <a:extLst>
              <a:ext uri="{FF2B5EF4-FFF2-40B4-BE49-F238E27FC236}">
                <a16:creationId xmlns:a16="http://schemas.microsoft.com/office/drawing/2014/main" id="{93A914AB-8F67-4666-B8DD-0EEEC8F5A4CC}"/>
              </a:ext>
            </a:extLst>
          </p:cNvPr>
          <p:cNvSpPr>
            <a:spLocks noGrp="1"/>
          </p:cNvSpPr>
          <p:nvPr/>
        </p:nvSpPr>
        <p:spPr>
          <a:xfrm>
            <a:off x="12192000" y="7391400"/>
            <a:ext cx="4895850" cy="228600"/>
          </a:xfrm>
          <a:prstGeom prst="rect">
            <a:avLst/>
          </a:prstGeom>
        </p:spPr>
        <p:txBody>
          <a:bodyPr lIns="0" tIns="0" rIns="0" bIns="0"/>
          <a:lstStyle/>
          <a:p>
            <a:pPr>
              <a:defRPr sz="1440" b="1">
                <a:solidFill>
                  <a:srgbClr val="123D52"/>
                </a:solidFill>
              </a:defRPr>
            </a:pPr>
            <a:r>
              <a:rPr sz="1600" b="1">
                <a:solidFill>
                  <a:srgbClr val="123D52"/>
                </a:solidFill>
              </a:rPr>
              <a:t>Preferred generator</a:t>
            </a:r>
          </a:p>
        </p:txBody>
      </p:sp>
      <p:sp>
        <p:nvSpPr>
          <p:cNvPr id="42" name="results-exp-title-detail">
            <a:extLst>
              <a:ext uri="{FF2B5EF4-FFF2-40B4-BE49-F238E27FC236}">
                <a16:creationId xmlns:a16="http://schemas.microsoft.com/office/drawing/2014/main" id="{F9A65467-80A7-4FC0-8731-2CD052C15E5E}"/>
              </a:ext>
            </a:extLst>
          </p:cNvPr>
          <p:cNvSpPr>
            <a:spLocks noGrp="1"/>
          </p:cNvSpPr>
          <p:nvPr/>
        </p:nvSpPr>
        <p:spPr>
          <a:xfrm>
            <a:off x="12192000" y="7677150"/>
            <a:ext cx="4895850" cy="190500"/>
          </a:xfrm>
          <a:prstGeom prst="rect">
            <a:avLst/>
          </a:prstGeom>
        </p:spPr>
        <p:txBody>
          <a:bodyPr lIns="0" tIns="0" rIns="0" bIns="0"/>
          <a:lstStyle/>
          <a:p>
            <a:pPr>
              <a:defRPr sz="1215">
                <a:solidFill>
                  <a:srgbClr val="5B6975"/>
                </a:solidFill>
              </a:defRPr>
            </a:pPr>
            <a:r>
              <a:rPr sz="1600">
                <a:solidFill>
                  <a:srgbClr val="5B6975"/>
                </a:solidFill>
              </a:rPr>
              <a:t>Flan-T5-base is the best current local complaint-title model.</a:t>
            </a:r>
          </a:p>
        </p:txBody>
      </p:sp>
      <p:sp>
        <p:nvSpPr>
          <p:cNvPr id="43" name="footer-rule">
            <a:extLst>
              <a:ext uri="{FF2B5EF4-FFF2-40B4-BE49-F238E27FC236}">
                <a16:creationId xmlns:a16="http://schemas.microsoft.com/office/drawing/2014/main" id="{10F7FE30-6B87-421E-9912-8B0A8EC6FDAA}"/>
              </a:ext>
            </a:extLst>
          </p:cNvPr>
          <p:cNvSpPr>
            <a:spLocks noGrp="1"/>
          </p:cNvSpPr>
          <p:nvPr/>
        </p:nvSpPr>
        <p:spPr>
          <a:xfrm>
            <a:off x="990600" y="9753600"/>
            <a:ext cx="914400" cy="19050"/>
          </a:xfrm>
          <a:prstGeom prst="rect">
            <a:avLst/>
          </a:prstGeom>
          <a:solidFill>
            <a:srgbClr val="A9B8B0"/>
          </a:solidFill>
          <a:ln w="0">
            <a:solidFill>
              <a:srgbClr val="A9B8B0"/>
            </a:solidFill>
            <a:prstDash val="solid"/>
          </a:ln>
        </p:spPr>
        <p:txBody>
          <a:bodyPr/>
          <a:lstStyle/>
          <a:p>
            <a:endParaRPr lang="zh-CN" altLang="en-US"/>
          </a:p>
        </p:txBody>
      </p:sp>
    </p:spTree>
    <p:extLst>
      <p:ext uri="{BB962C8B-B14F-4D97-AF65-F5344CB8AC3E}">
        <p14:creationId xmlns:p14="http://schemas.microsoft.com/office/powerpoint/2010/main" val="1977837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ooter-rule">
            <a:extLst>
              <a:ext uri="{FF2B5EF4-FFF2-40B4-BE49-F238E27FC236}">
                <a16:creationId xmlns:a16="http://schemas.microsoft.com/office/drawing/2014/main" id="{01118029-3F20-4191-88EE-6A561281D96E}"/>
              </a:ext>
            </a:extLst>
          </p:cNvPr>
          <p:cNvSpPr>
            <a:spLocks noGrp="1"/>
          </p:cNvSpPr>
          <p:nvPr/>
        </p:nvSpPr>
        <p:spPr>
          <a:xfrm>
            <a:off x="990600" y="9505950"/>
            <a:ext cx="914400" cy="19050"/>
          </a:xfrm>
          <a:prstGeom prst="rect">
            <a:avLst/>
          </a:prstGeom>
          <a:solidFill>
            <a:srgbClr val="A9B8B0"/>
          </a:solidFill>
          <a:ln w="0">
            <a:solidFill>
              <a:srgbClr val="A9B8B0"/>
            </a:solidFill>
            <a:prstDash val="solid"/>
          </a:ln>
        </p:spPr>
        <p:txBody>
          <a:bodyPr/>
          <a:lstStyle/>
          <a:p>
            <a:endParaRPr/>
          </a:p>
        </p:txBody>
      </p:sp>
      <p:sp>
        <p:nvSpPr>
          <p:cNvPr id="28" name="slide-kicker">
            <a:extLst>
              <a:ext uri="{FF2B5EF4-FFF2-40B4-BE49-F238E27FC236}">
                <a16:creationId xmlns:a16="http://schemas.microsoft.com/office/drawing/2014/main" id="{482B18C7-79B0-1A6A-7B1B-4F85DAD4817F}"/>
              </a:ext>
            </a:extLst>
          </p:cNvPr>
          <p:cNvSpPr>
            <a:spLocks noGrp="1"/>
          </p:cNvSpPr>
          <p:nvPr/>
        </p:nvSpPr>
        <p:spPr>
          <a:xfrm>
            <a:off x="990599" y="603130"/>
            <a:ext cx="5185913" cy="552450"/>
          </a:xfrm>
          <a:prstGeom prst="rect">
            <a:avLst/>
          </a:prstGeom>
        </p:spPr>
        <p:txBody>
          <a:bodyPr lIns="0" tIns="0" rIns="0" bIns="0"/>
          <a:lstStyle/>
          <a:p>
            <a:pPr algn="l">
              <a:buNone/>
              <a:defRPr sz="1350" b="1">
                <a:solidFill>
                  <a:srgbClr val="1E5B7A"/>
                </a:solidFill>
                <a:latin typeface="Verdana"/>
                <a:ea typeface="Verdana"/>
                <a:cs typeface="Verdana"/>
              </a:defRPr>
            </a:pPr>
            <a:r>
              <a:rPr sz="3200">
                <a:solidFill>
                  <a:srgbClr val="1E5B7A"/>
                </a:solidFill>
                <a:latin typeface="Verdana"/>
                <a:ea typeface="Verdana"/>
                <a:cs typeface="Verdana"/>
              </a:rPr>
              <a:t>Conclusion</a:t>
            </a:r>
          </a:p>
        </p:txBody>
      </p:sp>
      <p:sp>
        <p:nvSpPr>
          <p:cNvPr id="29" name="conclusion-thesis">
            <a:extLst>
              <a:ext uri="{FF2B5EF4-FFF2-40B4-BE49-F238E27FC236}">
                <a16:creationId xmlns:a16="http://schemas.microsoft.com/office/drawing/2014/main" id="{4E2274A7-63EB-4F1C-A6E2-DD06086A42B7}"/>
              </a:ext>
            </a:extLst>
          </p:cNvPr>
          <p:cNvSpPr>
            <a:spLocks noGrp="1"/>
          </p:cNvSpPr>
          <p:nvPr/>
        </p:nvSpPr>
        <p:spPr>
          <a:xfrm>
            <a:off x="990600" y="1333500"/>
            <a:ext cx="16306800" cy="1123950"/>
          </a:xfrm>
          <a:prstGeom prst="roundRect">
            <a:avLst>
              <a:gd name="adj" fmla="val 3390"/>
            </a:avLst>
          </a:prstGeom>
          <a:solidFill>
            <a:srgbClr val="DDECF7"/>
          </a:solidFill>
          <a:ln w="9525">
            <a:solidFill>
              <a:srgbClr val="8BBBD1"/>
            </a:solidFill>
            <a:prstDash val="solid"/>
          </a:ln>
        </p:spPr>
        <p:txBody>
          <a:bodyPr/>
          <a:lstStyle/>
          <a:p>
            <a:endParaRPr/>
          </a:p>
        </p:txBody>
      </p:sp>
      <p:sp>
        <p:nvSpPr>
          <p:cNvPr id="30" name="conclusion-thesis-text">
            <a:extLst>
              <a:ext uri="{FF2B5EF4-FFF2-40B4-BE49-F238E27FC236}">
                <a16:creationId xmlns:a16="http://schemas.microsoft.com/office/drawing/2014/main" id="{41BEDB0C-A090-4211-BBF8-9DB8FA1E29A3}"/>
              </a:ext>
            </a:extLst>
          </p:cNvPr>
          <p:cNvSpPr>
            <a:spLocks noGrp="1"/>
          </p:cNvSpPr>
          <p:nvPr/>
        </p:nvSpPr>
        <p:spPr>
          <a:xfrm>
            <a:off x="1257300" y="1600200"/>
            <a:ext cx="15773400" cy="323850"/>
          </a:xfrm>
          <a:prstGeom prst="rect">
            <a:avLst/>
          </a:prstGeom>
        </p:spPr>
        <p:txBody>
          <a:bodyPr lIns="0" tIns="0" rIns="0" bIns="0"/>
          <a:lstStyle/>
          <a:p>
            <a:pPr>
              <a:buNone/>
              <a:defRPr sz="2063" b="1">
                <a:solidFill>
                  <a:srgbClr val="123D52"/>
                </a:solidFill>
              </a:defRPr>
            </a:pPr>
            <a:r>
              <a:rPr sz="2063" b="1">
                <a:solidFill>
                  <a:srgbClr val="123D52"/>
                </a:solidFill>
              </a:rPr>
              <a:t>Review Insight System converts raw reviews into business-facing insights.</a:t>
            </a:r>
          </a:p>
        </p:txBody>
      </p:sp>
      <p:sp>
        <p:nvSpPr>
          <p:cNvPr id="31" name="conclusion-thesis-sub">
            <a:extLst>
              <a:ext uri="{FF2B5EF4-FFF2-40B4-BE49-F238E27FC236}">
                <a16:creationId xmlns:a16="http://schemas.microsoft.com/office/drawing/2014/main" id="{DC7F8756-2D99-4450-89F6-509CD46D44A4}"/>
              </a:ext>
            </a:extLst>
          </p:cNvPr>
          <p:cNvSpPr>
            <a:spLocks noGrp="1"/>
          </p:cNvSpPr>
          <p:nvPr/>
        </p:nvSpPr>
        <p:spPr>
          <a:xfrm>
            <a:off x="1257300" y="1981200"/>
            <a:ext cx="15773400" cy="209550"/>
          </a:xfrm>
          <a:prstGeom prst="rect">
            <a:avLst/>
          </a:prstGeom>
        </p:spPr>
        <p:txBody>
          <a:bodyPr lIns="0" tIns="0" rIns="0" bIns="0"/>
          <a:lstStyle/>
          <a:p>
            <a:pPr>
              <a:buNone/>
              <a:defRPr sz="1320" b="0">
                <a:solidFill>
                  <a:srgbClr val="243746"/>
                </a:solidFill>
              </a:defRPr>
            </a:pPr>
            <a:r>
              <a:rPr sz="1320" b="0">
                <a:solidFill>
                  <a:srgbClr val="243746"/>
                </a:solidFill>
              </a:rPr>
              <a:t>The final dashboard connects weak-label datasets, trained NLP models, and merchant-facing exploration.</a:t>
            </a:r>
          </a:p>
        </p:txBody>
      </p:sp>
      <p:sp>
        <p:nvSpPr>
          <p:cNvPr id="32" name="takeaway-one">
            <a:extLst>
              <a:ext uri="{FF2B5EF4-FFF2-40B4-BE49-F238E27FC236}">
                <a16:creationId xmlns:a16="http://schemas.microsoft.com/office/drawing/2014/main" id="{77499D3C-F1E3-4555-B911-B908DDE4733F}"/>
              </a:ext>
            </a:extLst>
          </p:cNvPr>
          <p:cNvSpPr>
            <a:spLocks noGrp="1"/>
          </p:cNvSpPr>
          <p:nvPr/>
        </p:nvSpPr>
        <p:spPr>
          <a:xfrm>
            <a:off x="990600" y="2667000"/>
            <a:ext cx="5295900" cy="3429000"/>
          </a:xfrm>
          <a:prstGeom prst="roundRect">
            <a:avLst>
              <a:gd name="adj" fmla="val 1111"/>
            </a:avLst>
          </a:prstGeom>
          <a:solidFill>
            <a:srgbClr val="FFFFFF"/>
          </a:solidFill>
          <a:ln w="8573">
            <a:solidFill>
              <a:srgbClr val="D7E0E5"/>
            </a:solidFill>
            <a:prstDash val="solid"/>
          </a:ln>
        </p:spPr>
        <p:txBody>
          <a:bodyPr/>
          <a:lstStyle/>
          <a:p>
            <a:endParaRPr/>
          </a:p>
        </p:txBody>
      </p:sp>
      <p:sp>
        <p:nvSpPr>
          <p:cNvPr id="33" name="takeaway-one-num">
            <a:extLst>
              <a:ext uri="{FF2B5EF4-FFF2-40B4-BE49-F238E27FC236}">
                <a16:creationId xmlns:a16="http://schemas.microsoft.com/office/drawing/2014/main" id="{42A620FC-DC0C-4BE2-BD0C-9FBBDFBCAD09}"/>
              </a:ext>
            </a:extLst>
          </p:cNvPr>
          <p:cNvSpPr>
            <a:spLocks noGrp="1"/>
          </p:cNvSpPr>
          <p:nvPr/>
        </p:nvSpPr>
        <p:spPr>
          <a:xfrm>
            <a:off x="1238250" y="3543300"/>
            <a:ext cx="4819650" cy="457200"/>
          </a:xfrm>
          <a:prstGeom prst="rect">
            <a:avLst/>
          </a:prstGeom>
        </p:spPr>
        <p:txBody>
          <a:bodyPr lIns="0" tIns="0" rIns="0" bIns="0"/>
          <a:lstStyle/>
          <a:p>
            <a:pPr>
              <a:buNone/>
              <a:defRPr sz="2925" b="1">
                <a:solidFill>
                  <a:srgbClr val="8BBBD1"/>
                </a:solidFill>
              </a:defRPr>
            </a:pPr>
            <a:r>
              <a:rPr sz="2925" b="1">
                <a:solidFill>
                  <a:srgbClr val="8BBBD1"/>
                </a:solidFill>
              </a:rPr>
              <a:t>1</a:t>
            </a:r>
          </a:p>
        </p:txBody>
      </p:sp>
      <p:sp>
        <p:nvSpPr>
          <p:cNvPr id="34" name="takeaway-one-title">
            <a:extLst>
              <a:ext uri="{FF2B5EF4-FFF2-40B4-BE49-F238E27FC236}">
                <a16:creationId xmlns:a16="http://schemas.microsoft.com/office/drawing/2014/main" id="{A9EE5D34-B050-4D5B-9E0C-457509481FD2}"/>
              </a:ext>
            </a:extLst>
          </p:cNvPr>
          <p:cNvSpPr>
            <a:spLocks noGrp="1"/>
          </p:cNvSpPr>
          <p:nvPr/>
        </p:nvSpPr>
        <p:spPr>
          <a:xfrm>
            <a:off x="1238250" y="4171950"/>
            <a:ext cx="4819650" cy="266700"/>
          </a:xfrm>
          <a:prstGeom prst="rect">
            <a:avLst/>
          </a:prstGeom>
        </p:spPr>
        <p:txBody>
          <a:bodyPr lIns="0" tIns="0" rIns="0" bIns="0"/>
          <a:lstStyle/>
          <a:p>
            <a:pPr>
              <a:buNone/>
              <a:defRPr sz="1688" b="1">
                <a:solidFill>
                  <a:srgbClr val="123D52"/>
                </a:solidFill>
              </a:defRPr>
            </a:pPr>
            <a:r>
              <a:rPr sz="1688" b="1">
                <a:solidFill>
                  <a:srgbClr val="123D52"/>
                </a:solidFill>
              </a:rPr>
              <a:t>End-to-end NLP workflow</a:t>
            </a:r>
          </a:p>
        </p:txBody>
      </p:sp>
      <p:sp>
        <p:nvSpPr>
          <p:cNvPr id="35" name="takeaway-one-rule">
            <a:extLst>
              <a:ext uri="{FF2B5EF4-FFF2-40B4-BE49-F238E27FC236}">
                <a16:creationId xmlns:a16="http://schemas.microsoft.com/office/drawing/2014/main" id="{4B2B600A-01E4-4338-9EC3-8DD299675C85}"/>
              </a:ext>
            </a:extLst>
          </p:cNvPr>
          <p:cNvSpPr>
            <a:spLocks noGrp="1"/>
          </p:cNvSpPr>
          <p:nvPr/>
        </p:nvSpPr>
        <p:spPr>
          <a:xfrm>
            <a:off x="1219200" y="4610100"/>
            <a:ext cx="685800" cy="28575"/>
          </a:xfrm>
          <a:prstGeom prst="rect">
            <a:avLst/>
          </a:prstGeom>
          <a:solidFill>
            <a:srgbClr val="8BBBD1"/>
          </a:solidFill>
          <a:ln w="0">
            <a:solidFill>
              <a:srgbClr val="8BBBD1"/>
            </a:solidFill>
            <a:prstDash val="solid"/>
          </a:ln>
        </p:spPr>
        <p:txBody>
          <a:bodyPr/>
          <a:lstStyle/>
          <a:p>
            <a:endParaRPr/>
          </a:p>
        </p:txBody>
      </p:sp>
      <p:sp>
        <p:nvSpPr>
          <p:cNvPr id="36" name="takeaway-one-detail">
            <a:extLst>
              <a:ext uri="{FF2B5EF4-FFF2-40B4-BE49-F238E27FC236}">
                <a16:creationId xmlns:a16="http://schemas.microsoft.com/office/drawing/2014/main" id="{24D83FD2-703B-4104-9A60-A33F003649E2}"/>
              </a:ext>
            </a:extLst>
          </p:cNvPr>
          <p:cNvSpPr>
            <a:spLocks noGrp="1"/>
          </p:cNvSpPr>
          <p:nvPr/>
        </p:nvSpPr>
        <p:spPr>
          <a:xfrm>
            <a:off x="1238250" y="4800600"/>
            <a:ext cx="4819650" cy="419100"/>
          </a:xfrm>
          <a:prstGeom prst="rect">
            <a:avLst/>
          </a:prstGeom>
        </p:spPr>
        <p:txBody>
          <a:bodyPr lIns="0" tIns="0" rIns="0" bIns="0"/>
          <a:lstStyle/>
          <a:p>
            <a:pPr>
              <a:buNone/>
              <a:defRPr sz="1365">
                <a:solidFill>
                  <a:srgbClr val="5B6975"/>
                </a:solidFill>
              </a:defRPr>
            </a:pPr>
            <a:r>
              <a:rPr sz="1365">
                <a:solidFill>
                  <a:srgbClr val="5B6975"/>
                </a:solidFill>
              </a:rPr>
              <a:t>Raw reviews -&gt; weak labels -&gt; trained models -&gt; Streamlit dashboard.</a:t>
            </a:r>
          </a:p>
        </p:txBody>
      </p:sp>
      <p:sp>
        <p:nvSpPr>
          <p:cNvPr id="37" name="takeaway-two">
            <a:extLst>
              <a:ext uri="{FF2B5EF4-FFF2-40B4-BE49-F238E27FC236}">
                <a16:creationId xmlns:a16="http://schemas.microsoft.com/office/drawing/2014/main" id="{15555062-AA6C-4C04-A33B-9B521C9301D7}"/>
              </a:ext>
            </a:extLst>
          </p:cNvPr>
          <p:cNvSpPr>
            <a:spLocks noGrp="1"/>
          </p:cNvSpPr>
          <p:nvPr/>
        </p:nvSpPr>
        <p:spPr>
          <a:xfrm>
            <a:off x="6496050" y="2667000"/>
            <a:ext cx="5295900" cy="3429000"/>
          </a:xfrm>
          <a:prstGeom prst="roundRect">
            <a:avLst>
              <a:gd name="adj" fmla="val 1111"/>
            </a:avLst>
          </a:prstGeom>
          <a:solidFill>
            <a:srgbClr val="FFFFFF"/>
          </a:solidFill>
          <a:ln w="8573">
            <a:solidFill>
              <a:srgbClr val="D7E0E5"/>
            </a:solidFill>
            <a:prstDash val="solid"/>
          </a:ln>
        </p:spPr>
        <p:txBody>
          <a:bodyPr/>
          <a:lstStyle/>
          <a:p>
            <a:endParaRPr/>
          </a:p>
        </p:txBody>
      </p:sp>
      <p:sp>
        <p:nvSpPr>
          <p:cNvPr id="38" name="takeaway-two-num">
            <a:extLst>
              <a:ext uri="{FF2B5EF4-FFF2-40B4-BE49-F238E27FC236}">
                <a16:creationId xmlns:a16="http://schemas.microsoft.com/office/drawing/2014/main" id="{9A9E4138-B095-4DE0-9885-508D02BF09EE}"/>
              </a:ext>
            </a:extLst>
          </p:cNvPr>
          <p:cNvSpPr>
            <a:spLocks noGrp="1"/>
          </p:cNvSpPr>
          <p:nvPr/>
        </p:nvSpPr>
        <p:spPr>
          <a:xfrm>
            <a:off x="6743700" y="3543300"/>
            <a:ext cx="4819650" cy="457200"/>
          </a:xfrm>
          <a:prstGeom prst="rect">
            <a:avLst/>
          </a:prstGeom>
        </p:spPr>
        <p:txBody>
          <a:bodyPr lIns="0" tIns="0" rIns="0" bIns="0"/>
          <a:lstStyle/>
          <a:p>
            <a:pPr>
              <a:buNone/>
              <a:defRPr sz="2925" b="1">
                <a:solidFill>
                  <a:srgbClr val="9BBE8B"/>
                </a:solidFill>
              </a:defRPr>
            </a:pPr>
            <a:r>
              <a:rPr sz="2925" b="1">
                <a:solidFill>
                  <a:srgbClr val="9BBE8B"/>
                </a:solidFill>
              </a:rPr>
              <a:t>2</a:t>
            </a:r>
          </a:p>
        </p:txBody>
      </p:sp>
      <p:sp>
        <p:nvSpPr>
          <p:cNvPr id="39" name="takeaway-two-title">
            <a:extLst>
              <a:ext uri="{FF2B5EF4-FFF2-40B4-BE49-F238E27FC236}">
                <a16:creationId xmlns:a16="http://schemas.microsoft.com/office/drawing/2014/main" id="{AD992CDB-6DC4-4E55-8AB8-E7FE7472B473}"/>
              </a:ext>
            </a:extLst>
          </p:cNvPr>
          <p:cNvSpPr>
            <a:spLocks noGrp="1"/>
          </p:cNvSpPr>
          <p:nvPr/>
        </p:nvSpPr>
        <p:spPr>
          <a:xfrm>
            <a:off x="6743700" y="4171950"/>
            <a:ext cx="4819650" cy="266700"/>
          </a:xfrm>
          <a:prstGeom prst="rect">
            <a:avLst/>
          </a:prstGeom>
        </p:spPr>
        <p:txBody>
          <a:bodyPr lIns="0" tIns="0" rIns="0" bIns="0"/>
          <a:lstStyle/>
          <a:p>
            <a:pPr>
              <a:buNone/>
              <a:defRPr sz="1688" b="1">
                <a:solidFill>
                  <a:srgbClr val="123D52"/>
                </a:solidFill>
              </a:defRPr>
            </a:pPr>
            <a:r>
              <a:rPr sz="1688" b="1">
                <a:solidFill>
                  <a:srgbClr val="123D52"/>
                </a:solidFill>
              </a:rPr>
              <a:t>Multiple language tasks</a:t>
            </a:r>
          </a:p>
        </p:txBody>
      </p:sp>
      <p:sp>
        <p:nvSpPr>
          <p:cNvPr id="40" name="takeaway-two-rule">
            <a:extLst>
              <a:ext uri="{FF2B5EF4-FFF2-40B4-BE49-F238E27FC236}">
                <a16:creationId xmlns:a16="http://schemas.microsoft.com/office/drawing/2014/main" id="{B8AD7099-9998-43E9-B999-8C124E42E4EF}"/>
              </a:ext>
            </a:extLst>
          </p:cNvPr>
          <p:cNvSpPr>
            <a:spLocks noGrp="1"/>
          </p:cNvSpPr>
          <p:nvPr/>
        </p:nvSpPr>
        <p:spPr>
          <a:xfrm>
            <a:off x="6743700" y="4610100"/>
            <a:ext cx="685800" cy="28575"/>
          </a:xfrm>
          <a:prstGeom prst="rect">
            <a:avLst/>
          </a:prstGeom>
          <a:solidFill>
            <a:srgbClr val="9BBE8B"/>
          </a:solidFill>
          <a:ln w="0">
            <a:solidFill>
              <a:srgbClr val="9BBE8B"/>
            </a:solidFill>
            <a:prstDash val="solid"/>
          </a:ln>
        </p:spPr>
        <p:txBody>
          <a:bodyPr/>
          <a:lstStyle/>
          <a:p>
            <a:endParaRPr/>
          </a:p>
        </p:txBody>
      </p:sp>
      <p:sp>
        <p:nvSpPr>
          <p:cNvPr id="41" name="takeaway-two-detail">
            <a:extLst>
              <a:ext uri="{FF2B5EF4-FFF2-40B4-BE49-F238E27FC236}">
                <a16:creationId xmlns:a16="http://schemas.microsoft.com/office/drawing/2014/main" id="{46B887EB-F6B2-45BF-A662-BD3B1BAF71D0}"/>
              </a:ext>
            </a:extLst>
          </p:cNvPr>
          <p:cNvSpPr>
            <a:spLocks noGrp="1"/>
          </p:cNvSpPr>
          <p:nvPr/>
        </p:nvSpPr>
        <p:spPr>
          <a:xfrm>
            <a:off x="6743700" y="4800600"/>
            <a:ext cx="4819650" cy="419100"/>
          </a:xfrm>
          <a:prstGeom prst="rect">
            <a:avLst/>
          </a:prstGeom>
        </p:spPr>
        <p:txBody>
          <a:bodyPr lIns="0" tIns="0" rIns="0" bIns="0"/>
          <a:lstStyle/>
          <a:p>
            <a:pPr>
              <a:buNone/>
              <a:defRPr sz="1365">
                <a:solidFill>
                  <a:srgbClr val="5B6975"/>
                </a:solidFill>
              </a:defRPr>
            </a:pPr>
            <a:r>
              <a:rPr sz="1365">
                <a:solidFill>
                  <a:srgbClr val="5B6975"/>
                </a:solidFill>
              </a:rPr>
              <a:t>Review-value classification, sentiment mining, and complaint-title generation.</a:t>
            </a:r>
          </a:p>
        </p:txBody>
      </p:sp>
      <p:sp>
        <p:nvSpPr>
          <p:cNvPr id="42" name="takeaway-three">
            <a:extLst>
              <a:ext uri="{FF2B5EF4-FFF2-40B4-BE49-F238E27FC236}">
                <a16:creationId xmlns:a16="http://schemas.microsoft.com/office/drawing/2014/main" id="{FF3B1BFA-DDCF-4940-93F5-A6D9A9E6AAA6}"/>
              </a:ext>
            </a:extLst>
          </p:cNvPr>
          <p:cNvSpPr>
            <a:spLocks noGrp="1"/>
          </p:cNvSpPr>
          <p:nvPr/>
        </p:nvSpPr>
        <p:spPr>
          <a:xfrm>
            <a:off x="12001500" y="2667000"/>
            <a:ext cx="5295900" cy="3429000"/>
          </a:xfrm>
          <a:prstGeom prst="roundRect">
            <a:avLst>
              <a:gd name="adj" fmla="val 1111"/>
            </a:avLst>
          </a:prstGeom>
          <a:solidFill>
            <a:srgbClr val="FFFFFF"/>
          </a:solidFill>
          <a:ln w="8573">
            <a:solidFill>
              <a:srgbClr val="D7E0E5"/>
            </a:solidFill>
            <a:prstDash val="solid"/>
          </a:ln>
        </p:spPr>
        <p:txBody>
          <a:bodyPr/>
          <a:lstStyle/>
          <a:p>
            <a:endParaRPr/>
          </a:p>
        </p:txBody>
      </p:sp>
      <p:sp>
        <p:nvSpPr>
          <p:cNvPr id="43" name="takeaway-three-num">
            <a:extLst>
              <a:ext uri="{FF2B5EF4-FFF2-40B4-BE49-F238E27FC236}">
                <a16:creationId xmlns:a16="http://schemas.microsoft.com/office/drawing/2014/main" id="{856A32DD-96C1-429D-B849-67E99E76DB46}"/>
              </a:ext>
            </a:extLst>
          </p:cNvPr>
          <p:cNvSpPr>
            <a:spLocks noGrp="1"/>
          </p:cNvSpPr>
          <p:nvPr/>
        </p:nvSpPr>
        <p:spPr>
          <a:xfrm>
            <a:off x="12249150" y="3543300"/>
            <a:ext cx="4819650" cy="457200"/>
          </a:xfrm>
          <a:prstGeom prst="rect">
            <a:avLst/>
          </a:prstGeom>
        </p:spPr>
        <p:txBody>
          <a:bodyPr lIns="0" tIns="0" rIns="0" bIns="0"/>
          <a:lstStyle/>
          <a:p>
            <a:pPr>
              <a:buNone/>
              <a:defRPr sz="2925" b="1">
                <a:solidFill>
                  <a:srgbClr val="D5A065"/>
                </a:solidFill>
              </a:defRPr>
            </a:pPr>
            <a:r>
              <a:rPr sz="2925" b="1">
                <a:solidFill>
                  <a:srgbClr val="D5A065"/>
                </a:solidFill>
              </a:rPr>
              <a:t>3</a:t>
            </a:r>
          </a:p>
        </p:txBody>
      </p:sp>
      <p:sp>
        <p:nvSpPr>
          <p:cNvPr id="44" name="takeaway-three-title">
            <a:extLst>
              <a:ext uri="{FF2B5EF4-FFF2-40B4-BE49-F238E27FC236}">
                <a16:creationId xmlns:a16="http://schemas.microsoft.com/office/drawing/2014/main" id="{33C2AF6A-78F0-4BDD-B59C-83F81C28569D}"/>
              </a:ext>
            </a:extLst>
          </p:cNvPr>
          <p:cNvSpPr>
            <a:spLocks noGrp="1"/>
          </p:cNvSpPr>
          <p:nvPr/>
        </p:nvSpPr>
        <p:spPr>
          <a:xfrm>
            <a:off x="12249150" y="4171950"/>
            <a:ext cx="4819650" cy="266700"/>
          </a:xfrm>
          <a:prstGeom prst="rect">
            <a:avLst/>
          </a:prstGeom>
        </p:spPr>
        <p:txBody>
          <a:bodyPr lIns="0" tIns="0" rIns="0" bIns="0"/>
          <a:lstStyle/>
          <a:p>
            <a:pPr>
              <a:buNone/>
              <a:defRPr sz="1688" b="1">
                <a:solidFill>
                  <a:srgbClr val="123D52"/>
                </a:solidFill>
              </a:defRPr>
            </a:pPr>
            <a:r>
              <a:rPr sz="1688" b="1">
                <a:solidFill>
                  <a:srgbClr val="123D52"/>
                </a:solidFill>
              </a:rPr>
              <a:t>Practical but honest prototype</a:t>
            </a:r>
          </a:p>
        </p:txBody>
      </p:sp>
      <p:sp>
        <p:nvSpPr>
          <p:cNvPr id="45" name="takeaway-three-rule">
            <a:extLst>
              <a:ext uri="{FF2B5EF4-FFF2-40B4-BE49-F238E27FC236}">
                <a16:creationId xmlns:a16="http://schemas.microsoft.com/office/drawing/2014/main" id="{7463A804-5090-4D3A-A677-EE7862D47277}"/>
              </a:ext>
            </a:extLst>
          </p:cNvPr>
          <p:cNvSpPr>
            <a:spLocks noGrp="1"/>
          </p:cNvSpPr>
          <p:nvPr/>
        </p:nvSpPr>
        <p:spPr>
          <a:xfrm>
            <a:off x="12230100" y="4610100"/>
            <a:ext cx="685800" cy="28575"/>
          </a:xfrm>
          <a:prstGeom prst="rect">
            <a:avLst/>
          </a:prstGeom>
          <a:solidFill>
            <a:srgbClr val="D5A065"/>
          </a:solidFill>
          <a:ln w="0">
            <a:solidFill>
              <a:srgbClr val="D5A065"/>
            </a:solidFill>
            <a:prstDash val="solid"/>
          </a:ln>
        </p:spPr>
        <p:txBody>
          <a:bodyPr/>
          <a:lstStyle/>
          <a:p>
            <a:endParaRPr/>
          </a:p>
        </p:txBody>
      </p:sp>
      <p:sp>
        <p:nvSpPr>
          <p:cNvPr id="46" name="takeaway-three-detail">
            <a:extLst>
              <a:ext uri="{FF2B5EF4-FFF2-40B4-BE49-F238E27FC236}">
                <a16:creationId xmlns:a16="http://schemas.microsoft.com/office/drawing/2014/main" id="{28BE3786-570D-4574-A724-E66F7759DEDA}"/>
              </a:ext>
            </a:extLst>
          </p:cNvPr>
          <p:cNvSpPr>
            <a:spLocks noGrp="1"/>
          </p:cNvSpPr>
          <p:nvPr/>
        </p:nvSpPr>
        <p:spPr>
          <a:xfrm>
            <a:off x="12249150" y="4800600"/>
            <a:ext cx="4819650" cy="419100"/>
          </a:xfrm>
          <a:prstGeom prst="rect">
            <a:avLst/>
          </a:prstGeom>
        </p:spPr>
        <p:txBody>
          <a:bodyPr lIns="0" tIns="0" rIns="0" bIns="0"/>
          <a:lstStyle/>
          <a:p>
            <a:pPr>
              <a:buNone/>
              <a:defRPr sz="1365">
                <a:solidFill>
                  <a:srgbClr val="5B6975"/>
                </a:solidFill>
              </a:defRPr>
            </a:pPr>
            <a:r>
              <a:rPr sz="1365">
                <a:solidFill>
                  <a:srgbClr val="5B6975"/>
                </a:solidFill>
              </a:rPr>
              <a:t>The dashboard is usable, but labels are proxy or pseudo labels.</a:t>
            </a:r>
          </a:p>
        </p:txBody>
      </p:sp>
      <p:sp>
        <p:nvSpPr>
          <p:cNvPr id="47" name="future-work-strip">
            <a:extLst>
              <a:ext uri="{FF2B5EF4-FFF2-40B4-BE49-F238E27FC236}">
                <a16:creationId xmlns:a16="http://schemas.microsoft.com/office/drawing/2014/main" id="{847D277D-C4CB-4F4D-A166-184919DF7BDF}"/>
              </a:ext>
            </a:extLst>
          </p:cNvPr>
          <p:cNvSpPr>
            <a:spLocks noGrp="1"/>
          </p:cNvSpPr>
          <p:nvPr/>
        </p:nvSpPr>
        <p:spPr>
          <a:xfrm>
            <a:off x="990600" y="6438900"/>
            <a:ext cx="16306800" cy="990600"/>
          </a:xfrm>
          <a:prstGeom prst="roundRect">
            <a:avLst>
              <a:gd name="adj" fmla="val 3846"/>
            </a:avLst>
          </a:prstGeom>
          <a:solidFill>
            <a:srgbClr val="F7FAFC"/>
          </a:solidFill>
          <a:ln w="8573">
            <a:solidFill>
              <a:srgbClr val="D7E0E5"/>
            </a:solidFill>
            <a:prstDash val="solid"/>
          </a:ln>
        </p:spPr>
        <p:txBody>
          <a:bodyPr/>
          <a:lstStyle/>
          <a:p>
            <a:endParaRPr/>
          </a:p>
        </p:txBody>
      </p:sp>
      <p:sp>
        <p:nvSpPr>
          <p:cNvPr id="48" name="future-work-label">
            <a:extLst>
              <a:ext uri="{FF2B5EF4-FFF2-40B4-BE49-F238E27FC236}">
                <a16:creationId xmlns:a16="http://schemas.microsoft.com/office/drawing/2014/main" id="{E6864ADE-E4D5-44CD-BED1-831C78F061CF}"/>
              </a:ext>
            </a:extLst>
          </p:cNvPr>
          <p:cNvSpPr>
            <a:spLocks noGrp="1"/>
          </p:cNvSpPr>
          <p:nvPr/>
        </p:nvSpPr>
        <p:spPr>
          <a:xfrm>
            <a:off x="1219200" y="6819900"/>
            <a:ext cx="1524000" cy="228600"/>
          </a:xfrm>
          <a:prstGeom prst="rect">
            <a:avLst/>
          </a:prstGeom>
        </p:spPr>
        <p:txBody>
          <a:bodyPr lIns="0" tIns="0" rIns="0" bIns="0"/>
          <a:lstStyle/>
          <a:p>
            <a:pPr>
              <a:buNone/>
              <a:defRPr sz="1575" b="1">
                <a:solidFill>
                  <a:srgbClr val="0E5A75"/>
                </a:solidFill>
              </a:defRPr>
            </a:pPr>
            <a:r>
              <a:rPr sz="1600" b="1" dirty="0">
                <a:solidFill>
                  <a:srgbClr val="0E5A75"/>
                </a:solidFill>
              </a:rPr>
              <a:t>Future work</a:t>
            </a:r>
          </a:p>
        </p:txBody>
      </p:sp>
      <p:sp>
        <p:nvSpPr>
          <p:cNvPr id="49" name="future-work-text">
            <a:extLst>
              <a:ext uri="{FF2B5EF4-FFF2-40B4-BE49-F238E27FC236}">
                <a16:creationId xmlns:a16="http://schemas.microsoft.com/office/drawing/2014/main" id="{906195F5-B4C5-4E06-9B01-D8AF8B74CCEA}"/>
              </a:ext>
            </a:extLst>
          </p:cNvPr>
          <p:cNvSpPr>
            <a:spLocks noGrp="1"/>
          </p:cNvSpPr>
          <p:nvPr/>
        </p:nvSpPr>
        <p:spPr>
          <a:xfrm>
            <a:off x="2914650" y="6838950"/>
            <a:ext cx="14154150" cy="190500"/>
          </a:xfrm>
          <a:prstGeom prst="rect">
            <a:avLst/>
          </a:prstGeom>
        </p:spPr>
        <p:txBody>
          <a:bodyPr lIns="0" tIns="0" rIns="0" bIns="0"/>
          <a:lstStyle/>
          <a:p>
            <a:pPr>
              <a:buNone/>
              <a:defRPr sz="1365">
                <a:solidFill>
                  <a:srgbClr val="243746"/>
                </a:solidFill>
              </a:defRPr>
            </a:pPr>
            <a:r>
              <a:rPr sz="1600" dirty="0">
                <a:solidFill>
                  <a:srgbClr val="243746"/>
                </a:solidFill>
              </a:rPr>
              <a:t>human-annotated evaluation set | stronger high-value detection | dashboard usability testing | better Copilot grounding</a:t>
            </a:r>
          </a:p>
        </p:txBody>
      </p:sp>
    </p:spTree>
    <p:extLst>
      <p:ext uri="{BB962C8B-B14F-4D97-AF65-F5344CB8AC3E}">
        <p14:creationId xmlns:p14="http://schemas.microsoft.com/office/powerpoint/2010/main" val="1673484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demo-title">
            <a:extLst>
              <a:ext uri="{FF2B5EF4-FFF2-40B4-BE49-F238E27FC236}">
                <a16:creationId xmlns:a16="http://schemas.microsoft.com/office/drawing/2014/main" id="{5265E150-B55F-4EA3-B821-8E3D24CBF22C}"/>
              </a:ext>
            </a:extLst>
          </p:cNvPr>
          <p:cNvSpPr>
            <a:spLocks noGrp="1"/>
          </p:cNvSpPr>
          <p:nvPr/>
        </p:nvSpPr>
        <p:spPr>
          <a:xfrm>
            <a:off x="990600" y="685800"/>
            <a:ext cx="16306800" cy="514350"/>
          </a:xfrm>
          <a:prstGeom prst="rect">
            <a:avLst/>
          </a:prstGeom>
        </p:spPr>
        <p:txBody>
          <a:bodyPr lIns="0" tIns="0" rIns="0" bIns="0"/>
          <a:lstStyle/>
          <a:p>
            <a:pPr>
              <a:buNone/>
              <a:defRPr sz="3375" b="1">
                <a:solidFill>
                  <a:srgbClr val="0E5A75"/>
                </a:solidFill>
              </a:defRPr>
            </a:pPr>
            <a:r>
              <a:rPr sz="3375" b="1">
                <a:solidFill>
                  <a:srgbClr val="0E5A75"/>
                </a:solidFill>
              </a:rPr>
              <a:t>System Demo</a:t>
            </a:r>
          </a:p>
        </p:txBody>
      </p:sp>
      <p:pic>
        <p:nvPicPr>
          <p:cNvPr id="33" name="图片 32"/>
          <p:cNvPicPr>
            <a:picLocks noChangeAspect="1"/>
          </p:cNvPicPr>
          <p:nvPr/>
        </p:nvPicPr>
        <p:blipFill>
          <a:blip r:embed="rId3"/>
          <a:stretch>
            <a:fillRect/>
          </a:stretch>
        </p:blipFill>
        <p:spPr>
          <a:xfrm>
            <a:off x="974360" y="1475576"/>
            <a:ext cx="16323040" cy="8125624"/>
          </a:xfrm>
          <a:prstGeom prst="rect">
            <a:avLst/>
          </a:prstGeom>
        </p:spPr>
      </p:pic>
    </p:spTree>
    <p:extLst>
      <p:ext uri="{BB962C8B-B14F-4D97-AF65-F5344CB8AC3E}">
        <p14:creationId xmlns:p14="http://schemas.microsoft.com/office/powerpoint/2010/main" val="1929834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9E54BF5-45BC-71F7-0E29-FB576760F61F}"/>
              </a:ext>
            </a:extLst>
          </p:cNvPr>
          <p:cNvSpPr>
            <a:spLocks noGrp="1"/>
          </p:cNvSpPr>
          <p:nvPr/>
        </p:nvSpPr>
        <p:spPr>
          <a:xfrm>
            <a:off x="6055744" y="4502988"/>
            <a:ext cx="5052986" cy="1015663"/>
          </a:xfrm>
          <a:prstGeom prst="rect">
            <a:avLst/>
          </a:prstGeom>
          <a:noFill/>
        </p:spPr>
        <p:txBody>
          <a:bodyPr wrap="none">
            <a:spAutoFit/>
          </a:bodyPr>
          <a:lstStyle/>
          <a:p>
            <a:pPr>
              <a:buNone/>
              <a:defRPr sz="1350" b="1">
                <a:solidFill>
                  <a:srgbClr val="1E5B7A"/>
                </a:solidFill>
                <a:latin typeface="Verdana"/>
                <a:ea typeface="Verdana"/>
                <a:cs typeface="Verdana"/>
              </a:defRPr>
            </a:pPr>
            <a:r>
              <a:rPr sz="6000">
                <a:solidFill>
                  <a:srgbClr val="1E5B7A"/>
                </a:solidFill>
                <a:latin typeface="Verdana"/>
                <a:ea typeface="Verdana"/>
                <a:cs typeface="Verdana"/>
              </a:rPr>
              <a:t>Thank You!</a:t>
            </a:r>
          </a:p>
        </p:txBody>
      </p:sp>
      <p:sp>
        <p:nvSpPr>
          <p:cNvPr id="3" name="cover-left-field">
            <a:extLst>
              <a:ext uri="{FF2B5EF4-FFF2-40B4-BE49-F238E27FC236}">
                <a16:creationId xmlns:a16="http://schemas.microsoft.com/office/drawing/2014/main" id="{2E66EA81-FEB7-0BD1-3AA2-C602ECBC5DC1}"/>
              </a:ext>
            </a:extLst>
          </p:cNvPr>
          <p:cNvSpPr>
            <a:spLocks noGrp="1"/>
          </p:cNvSpPr>
          <p:nvPr/>
        </p:nvSpPr>
        <p:spPr>
          <a:xfrm>
            <a:off x="0" y="0"/>
            <a:ext cx="3143250" cy="10287000"/>
          </a:xfrm>
          <a:prstGeom prst="rect">
            <a:avLst/>
          </a:prstGeom>
          <a:solidFill>
            <a:srgbClr val="D9EAF1"/>
          </a:solidFill>
          <a:ln w="0">
            <a:solidFill>
              <a:srgbClr val="D9EAF1"/>
            </a:solidFill>
            <a:prstDash val="solid"/>
          </a:ln>
        </p:spPr>
        <p:txBody>
          <a:bodyPr/>
          <a:lstStyle/>
          <a:p>
            <a:endParaRPr/>
          </a:p>
        </p:txBody>
      </p:sp>
      <p:sp>
        <p:nvSpPr>
          <p:cNvPr id="4" name="cover-left-accent">
            <a:extLst>
              <a:ext uri="{FF2B5EF4-FFF2-40B4-BE49-F238E27FC236}">
                <a16:creationId xmlns:a16="http://schemas.microsoft.com/office/drawing/2014/main" id="{18E7C904-C221-CD45-BE7F-AA64E634D30B}"/>
              </a:ext>
            </a:extLst>
          </p:cNvPr>
          <p:cNvSpPr>
            <a:spLocks noGrp="1"/>
          </p:cNvSpPr>
          <p:nvPr/>
        </p:nvSpPr>
        <p:spPr>
          <a:xfrm>
            <a:off x="0" y="0"/>
            <a:ext cx="285750" cy="10287000"/>
          </a:xfrm>
          <a:prstGeom prst="rect">
            <a:avLst/>
          </a:prstGeom>
          <a:solidFill>
            <a:srgbClr val="1E5B7A"/>
          </a:solidFill>
          <a:ln w="0">
            <a:solidFill>
              <a:srgbClr val="1E5B7A"/>
            </a:solidFill>
            <a:prstDash val="solid"/>
          </a:ln>
        </p:spPr>
        <p:txBody>
          <a:bodyPr/>
          <a:lstStyle/>
          <a:p>
            <a:endParaRPr/>
          </a:p>
        </p:txBody>
      </p:sp>
    </p:spTree>
    <p:extLst>
      <p:ext uri="{BB962C8B-B14F-4D97-AF65-F5344CB8AC3E}">
        <p14:creationId xmlns:p14="http://schemas.microsoft.com/office/powerpoint/2010/main" val="281659352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948</Words>
  <Application>Microsoft Macintosh PowerPoint</Application>
  <DocSecurity>0</DocSecurity>
  <PresentationFormat>自定义</PresentationFormat>
  <Paragraphs>193</Paragraphs>
  <Slides>13</Slides>
  <Notes>13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13</vt:i4>
      </vt:variant>
    </vt:vector>
  </HeadingPairs>
  <TitlesOfParts>
    <vt:vector size="18" baseType="lpstr">
      <vt:lpstr>Arial</vt:lpstr>
      <vt:lpstr>Calibri</vt:lpstr>
      <vt:lpstr>Georgia</vt:lpstr>
      <vt:lpstr>Verdana</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奕森 赵</cp:lastModifiedBy>
  <cp:revision>2</cp:revision>
  <dcterms:created xsi:type="dcterms:W3CDTF">2026-04-29T15:25:18Z</dcterms:created>
  <dcterms:modified xsi:type="dcterms:W3CDTF">2026-04-29T15:36:46Z</dcterms:modified>
</cp:coreProperties>
</file>